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looks at Bioverse One through the people who use it: patients, a caregiver, a clinician, a pharmacist, the front desk, administrators and a medical student. For each: who they are, what Bioverse gives them, and their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personas share one platform and one record. What each sees is set by role, team and patient consent.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additions since the last version of this deck. Sign-in with the organization's Microsoft Entra ID, Okta or Google account. Patient invites: a single-use link, a date-of-birth check, then Google or an emailed code. Clinician availability: weekly hours and time off generate bookable slots. Bulk onboarding: spreadsheet import and directory-group rules. Duplicate-record matching with a review queue. And an installable phone app with push notifications.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each persona is onboarded. Patients join from an invite link, confirm their date of birth, and sign in with Google or an emailed code; a matching existing record is linked rather than duplicated. Staff and clinicians come from an administrator, a spreadsheet import, or a directory-group rule, and sign in with the organization's account. Clinicians appear in the consult directory once their license is verified, and become bookable once they set their hours. Students are admitted by their university's Google domain and never see patient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 is our main patient persona: 54, high blood pressure, recently started a statin, prefers Spanish, allergic to penicillin. She wants plain answers, to know when a reading matters, and to stay on track with medicines. She joined from her clinic's invite link: she confirmed her date of birth, signed in with her Google account, and her existing record was linked rather than duplicated. She installed Bioverse One on her phone, so reminders arrive as push notifications that never show clinical detail on the lock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Maya's journey starts with a critical home reading. Bioverse gives fixed safety guidance and alerts her care team. She asks what to do, gets routed to an online consult, receives her medicine, and the companion keeps her on track. Her lipid results are explained only after her cardiologist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Rana represents older patients. Senior mode, voice and read-aloud make the same features usable without help, and safety checks protect her when she orders on her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is a caregiver. Access is granted and limited by Maya, every view is audited, and she can revoke it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Okafor is our clinician persona. Her biggest costs are preparation time, a noisy inbox and no visibility between visits. Bioverse brings context to her, ranks what needs her by urgency, and turns writing into approving. She controls her own schedule: weekly hours and time off become bookable slots 28 days ahead, and she edits her consult fee, consult types and whether she takes new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day starts with pre-visit briefs, then the review queue where Maya's alert sits at the top. She sets a monitoring plan, runs a video consult with an intake summary ready, approves an AI-drafted explanation, and follows up through the between-visit panels.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Lena is our pharmacist persona. Automated checks and a complete medication and allergy picture mean she reviews, rather than hunts, and her counseling reaches the patient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order is flagged because a decongestant can raise blood pressure in a patient on amlodipine. Lena reviews everything on one screen, decides, packs and dispatches, and delivery is recorded with proof. The companion then starts dose reminders.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 desk now onboards patients by invite link instead of typing registrations, resolves duplicate records in a review queue (merging keeps one history and never deletes data), sees coverage problems days ahead, verifies cards by QR, and books follow-ups into slots generated from each clinician's weekly hours. The self-sorting inbox and claims worklist are still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administrator persona runs flow, access, compliance and AI oversight. Bioverse puts them in one console, backed by single sign-on and an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Onboarding is now bulk and automatic: import the staff list from a spreadsheet with a trial run first, or map directory groups (Entra, Okta, a Google domain) to roles and teams so people are set up on first sign-in. Licenses are verified before clinicians take consults. The same console shows capacity and escalations, lets them close a corridor or elevator so routes update, and shows how every AI agent is performing.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Priya is a medical student. She learns from de-identified cases with a tutor and quizzes, and is blocked from every identifiable patient route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event moves every persona forward without phone calls: the patient, the clinician, the pharmacist, the front desk, the caregiver and administrators each see their part, and it is all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benefit comes with a measure you can track in a pilot. We recommend capturing a baseline before go-live and comparing after 60 to 90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guardrails apply to every persona and every journey, whatever AI model is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pilot: one clinic, three core personas, single sign-on and MedGemma on, staff imported with directory-group rules, clinicians' hours set, first patients invited to the installed app, baselines captured, 60 to 90 days, then a data-driven rollout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F3C"/>
        </a:solidFill>
      </p:bgPr>
    </p:bg>
    <p:spTree>
      <p:nvGrpSpPr>
        <p:cNvPr id="1" name=""/>
        <p:cNvGrpSpPr/>
        <p:nvPr/>
      </p:nvGrpSpPr>
      <p:grpSpPr>
        <a:xfrm>
          <a:off x="0" y="0"/>
          <a:ext cx="0" cy="0"/>
          <a:chOff x="0" y="0"/>
          <a:chExt cx="0" cy="0"/>
        </a:xfrm>
      </p:grpSpPr>
      <p:sp>
        <p:nvSpPr>
          <p:cNvPr id="2" name="Shape 0"/>
          <p:cNvSpPr/>
          <p:nvPr/>
        </p:nvSpPr>
        <p:spPr>
          <a:xfrm>
            <a:off x="457200" y="548640"/>
            <a:ext cx="731520" cy="731520"/>
          </a:xfrm>
          <a:prstGeom prst="ellipse">
            <a:avLst/>
          </a:prstGeom>
          <a:solidFill>
            <a:srgbClr val="2A9D8F"/>
          </a:solidFill>
          <a:ln w="12700">
            <a:solidFill>
              <a:srgbClr val="2A9D8F"/>
            </a:solidFill>
            <a:prstDash val="solid"/>
          </a:ln>
        </p:spPr>
      </p:sp>
      <p:pic>
        <p:nvPicPr>
          <p:cNvPr id="3" name="Image 0" descr="preencoded.png">    </p:cNvPr>
          <p:cNvPicPr>
            <a:picLocks noChangeAspect="1"/>
          </p:cNvPicPr>
          <p:nvPr/>
        </p:nvPicPr>
        <p:blipFill>
          <a:blip r:embed="rId1"/>
          <a:stretch>
            <a:fillRect/>
          </a:stretch>
        </p:blipFill>
        <p:spPr>
          <a:xfrm>
            <a:off x="640080" y="731520"/>
            <a:ext cx="365760" cy="365760"/>
          </a:xfrm>
          <a:prstGeom prst="rect">
            <a:avLst/>
          </a:prstGeom>
        </p:spPr>
      </p:pic>
      <p:sp>
        <p:nvSpPr>
          <p:cNvPr id="4" name="Text 1"/>
          <p:cNvSpPr txBox="1"/>
          <p:nvPr/>
        </p:nvSpPr>
        <p:spPr>
          <a:xfrm>
            <a:off x="457200" y="1463040"/>
            <a:ext cx="8229600" cy="7315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Bioverse One</a:t>
            </a:r>
            <a:endParaRPr lang="en-US" sz="4400" dirty="0"/>
          </a:p>
        </p:txBody>
      </p:sp>
      <p:sp>
        <p:nvSpPr>
          <p:cNvPr id="5" name="Text 2"/>
          <p:cNvSpPr txBox="1"/>
          <p:nvPr/>
        </p:nvSpPr>
        <p:spPr>
          <a:xfrm>
            <a:off x="457200" y="2194560"/>
            <a:ext cx="8229600" cy="457200"/>
          </a:xfrm>
          <a:prstGeom prst="rect">
            <a:avLst/>
          </a:prstGeom>
          <a:noFill/>
          <a:ln/>
        </p:spPr>
        <p:txBody>
          <a:bodyPr wrap="square" lIns="0" tIns="0" rIns="0" bIns="0" rtlCol="0" anchor="t"/>
          <a:lstStyle/>
          <a:p>
            <a:pPr indent="0" marL="0">
              <a:buNone/>
            </a:pPr>
            <a:r>
              <a:rPr lang="en-US" sz="2000" dirty="0">
                <a:solidFill>
                  <a:srgbClr val="CFE9E3"/>
                </a:solidFill>
                <a:latin typeface="Calibri" pitchFamily="34" charset="0"/>
                <a:ea typeface="Calibri" pitchFamily="34" charset="-122"/>
                <a:cs typeface="Calibri" pitchFamily="34" charset="-120"/>
              </a:rPr>
              <a:t>Who it's for, what it gives them, and how their day changes</a:t>
            </a:r>
            <a:endParaRPr lang="en-US" sz="2000" dirty="0"/>
          </a:p>
        </p:txBody>
      </p:sp>
      <p:sp>
        <p:nvSpPr>
          <p:cNvPr id="6" name="Text 3"/>
          <p:cNvSpPr txBox="1"/>
          <p:nvPr/>
        </p:nvSpPr>
        <p:spPr>
          <a:xfrm>
            <a:off x="457200" y="2743200"/>
            <a:ext cx="8229600" cy="365760"/>
          </a:xfrm>
          <a:prstGeom prst="rect">
            <a:avLst/>
          </a:prstGeom>
          <a:noFill/>
          <a:ln/>
        </p:spPr>
        <p:txBody>
          <a:bodyPr wrap="square" lIns="0" tIns="0" rIns="0" bIns="0" rtlCol="0" anchor="t"/>
          <a:lstStyle/>
          <a:p>
            <a:pPr indent="0" marL="0">
              <a:buNone/>
            </a:pPr>
            <a:r>
              <a:rPr lang="en-US" sz="1400" dirty="0">
                <a:solidFill>
                  <a:srgbClr val="CFEAE3"/>
                </a:solidFill>
                <a:latin typeface="Calibri" pitchFamily="34" charset="0"/>
                <a:ea typeface="Calibri" pitchFamily="34" charset="-122"/>
                <a:cs typeface="Calibri" pitchFamily="34" charset="-120"/>
              </a:rPr>
              <a:t>Eight personas · value and benefits · end-to-end user journeys</a:t>
            </a:r>
            <a:endParaRPr lang="en-US" sz="1400" dirty="0"/>
          </a:p>
        </p:txBody>
      </p:sp>
      <p:sp>
        <p:nvSpPr>
          <p:cNvPr id="7" name="Text 4"/>
          <p:cNvSpPr txBox="1"/>
          <p:nvPr/>
        </p:nvSpPr>
        <p:spPr>
          <a:xfrm>
            <a:off x="457200" y="3108960"/>
            <a:ext cx="8229600" cy="320040"/>
          </a:xfrm>
          <a:prstGeom prst="rect">
            <a:avLst/>
          </a:prstGeom>
          <a:noFill/>
          <a:ln/>
        </p:spPr>
        <p:txBody>
          <a:bodyPr wrap="square" lIns="0" tIns="0" rIns="0" bIns="0" rtlCol="0" anchor="t"/>
          <a:lstStyle/>
          <a:p>
            <a:pPr indent="0" marL="0">
              <a:buNone/>
            </a:pPr>
            <a:r>
              <a:rPr lang="en-US" sz="1150" dirty="0">
                <a:solidFill>
                  <a:srgbClr val="CFE9E3"/>
                </a:solidFill>
                <a:latin typeface="Calibri" pitchFamily="34" charset="0"/>
                <a:ea typeface="Calibri" pitchFamily="34" charset="-122"/>
                <a:cs typeface="Calibri" pitchFamily="34" charset="-120"/>
              </a:rPr>
              <a:t>Updated September 2026: sign-in and onboarding for every persona, clinician availability, phone app and push</a:t>
            </a:r>
            <a:endParaRPr lang="en-US" sz="1150" dirty="0"/>
          </a:p>
        </p:txBody>
      </p:sp>
      <p:sp>
        <p:nvSpPr>
          <p:cNvPr id="8" name="Shape 5"/>
          <p:cNvSpPr/>
          <p:nvPr/>
        </p:nvSpPr>
        <p:spPr>
          <a:xfrm>
            <a:off x="457200" y="3840480"/>
            <a:ext cx="475488" cy="475488"/>
          </a:xfrm>
          <a:prstGeom prst="ellipse">
            <a:avLst/>
          </a:prstGeom>
          <a:solidFill>
            <a:srgbClr val="1B6B63"/>
          </a:solidFill>
          <a:ln w="25400">
            <a:solidFill>
              <a:srgbClr val="FFFFFF"/>
            </a:solidFill>
            <a:prstDash val="solid"/>
          </a:ln>
        </p:spPr>
      </p:sp>
      <p:sp>
        <p:nvSpPr>
          <p:cNvPr id="9" name="Text 6"/>
          <p:cNvSpPr txBox="1"/>
          <p:nvPr/>
        </p:nvSpPr>
        <p:spPr>
          <a:xfrm>
            <a:off x="457200" y="3840480"/>
            <a:ext cx="475488" cy="475488"/>
          </a:xfrm>
          <a:prstGeom prst="rect">
            <a:avLst/>
          </a:prstGeom>
          <a:noFill/>
          <a:ln/>
        </p:spPr>
        <p:txBody>
          <a:bodyPr wrap="square" lIns="0" tIns="0" rIns="0" bIns="0" rtlCol="0" anchor="ctr"/>
          <a:lstStyle/>
          <a:p>
            <a:pPr algn="ctr" indent="0" marL="0">
              <a:buNone/>
            </a:pPr>
            <a:r>
              <a:rPr lang="en-US" sz="1144" b="1" dirty="0">
                <a:solidFill>
                  <a:srgbClr val="FFFFFF"/>
                </a:solidFill>
                <a:latin typeface="Calibri" pitchFamily="34" charset="0"/>
                <a:ea typeface="Calibri" pitchFamily="34" charset="-122"/>
                <a:cs typeface="Calibri" pitchFamily="34" charset="-120"/>
              </a:rPr>
              <a:t>MT</a:t>
            </a:r>
            <a:endParaRPr lang="en-US" sz="1144" dirty="0"/>
          </a:p>
        </p:txBody>
      </p:sp>
      <p:sp>
        <p:nvSpPr>
          <p:cNvPr id="10" name="Shape 7"/>
          <p:cNvSpPr/>
          <p:nvPr/>
        </p:nvSpPr>
        <p:spPr>
          <a:xfrm>
            <a:off x="1024128" y="3840480"/>
            <a:ext cx="475488" cy="475488"/>
          </a:xfrm>
          <a:prstGeom prst="ellipse">
            <a:avLst/>
          </a:prstGeom>
          <a:solidFill>
            <a:srgbClr val="7C3AED"/>
          </a:solidFill>
          <a:ln w="25400">
            <a:solidFill>
              <a:srgbClr val="FFFFFF"/>
            </a:solidFill>
            <a:prstDash val="solid"/>
          </a:ln>
        </p:spPr>
      </p:sp>
      <p:sp>
        <p:nvSpPr>
          <p:cNvPr id="11" name="Text 8"/>
          <p:cNvSpPr txBox="1"/>
          <p:nvPr/>
        </p:nvSpPr>
        <p:spPr>
          <a:xfrm>
            <a:off x="1024128" y="3840480"/>
            <a:ext cx="475488" cy="475488"/>
          </a:xfrm>
          <a:prstGeom prst="rect">
            <a:avLst/>
          </a:prstGeom>
          <a:noFill/>
          <a:ln/>
        </p:spPr>
        <p:txBody>
          <a:bodyPr wrap="square" lIns="0" tIns="0" rIns="0" bIns="0" rtlCol="0" anchor="ctr"/>
          <a:lstStyle/>
          <a:p>
            <a:pPr algn="ctr" indent="0" marL="0">
              <a:buNone/>
            </a:pPr>
            <a:r>
              <a:rPr lang="en-US" sz="1144" b="1" dirty="0">
                <a:solidFill>
                  <a:srgbClr val="FFFFFF"/>
                </a:solidFill>
                <a:latin typeface="Calibri" pitchFamily="34" charset="0"/>
                <a:ea typeface="Calibri" pitchFamily="34" charset="-122"/>
                <a:cs typeface="Calibri" pitchFamily="34" charset="-120"/>
              </a:rPr>
              <a:t>RH</a:t>
            </a:r>
            <a:endParaRPr lang="en-US" sz="1144" dirty="0"/>
          </a:p>
        </p:txBody>
      </p:sp>
      <p:sp>
        <p:nvSpPr>
          <p:cNvPr id="12" name="Shape 9"/>
          <p:cNvSpPr/>
          <p:nvPr/>
        </p:nvSpPr>
        <p:spPr>
          <a:xfrm>
            <a:off x="1591056" y="3840480"/>
            <a:ext cx="475488" cy="475488"/>
          </a:xfrm>
          <a:prstGeom prst="ellipse">
            <a:avLst/>
          </a:prstGeom>
          <a:solidFill>
            <a:srgbClr val="0369A1"/>
          </a:solidFill>
          <a:ln w="25400">
            <a:solidFill>
              <a:srgbClr val="FFFFFF"/>
            </a:solidFill>
            <a:prstDash val="solid"/>
          </a:ln>
        </p:spPr>
      </p:sp>
      <p:sp>
        <p:nvSpPr>
          <p:cNvPr id="13" name="Text 10"/>
          <p:cNvSpPr txBox="1"/>
          <p:nvPr/>
        </p:nvSpPr>
        <p:spPr>
          <a:xfrm>
            <a:off x="1591056" y="3840480"/>
            <a:ext cx="475488" cy="475488"/>
          </a:xfrm>
          <a:prstGeom prst="rect">
            <a:avLst/>
          </a:prstGeom>
          <a:noFill/>
          <a:ln/>
        </p:spPr>
        <p:txBody>
          <a:bodyPr wrap="square" lIns="0" tIns="0" rIns="0" bIns="0" rtlCol="0" anchor="ctr"/>
          <a:lstStyle/>
          <a:p>
            <a:pPr algn="ctr" indent="0" marL="0">
              <a:buNone/>
            </a:pPr>
            <a:r>
              <a:rPr lang="en-US" sz="1144" b="1" dirty="0">
                <a:solidFill>
                  <a:srgbClr val="FFFFFF"/>
                </a:solidFill>
                <a:latin typeface="Calibri" pitchFamily="34" charset="0"/>
                <a:ea typeface="Calibri" pitchFamily="34" charset="-122"/>
                <a:cs typeface="Calibri" pitchFamily="34" charset="-120"/>
              </a:rPr>
              <a:t>DT</a:t>
            </a:r>
            <a:endParaRPr lang="en-US" sz="1144" dirty="0"/>
          </a:p>
        </p:txBody>
      </p:sp>
      <p:sp>
        <p:nvSpPr>
          <p:cNvPr id="14" name="Shape 11"/>
          <p:cNvSpPr/>
          <p:nvPr/>
        </p:nvSpPr>
        <p:spPr>
          <a:xfrm>
            <a:off x="2157984" y="3840480"/>
            <a:ext cx="475488" cy="475488"/>
          </a:xfrm>
          <a:prstGeom prst="ellipse">
            <a:avLst/>
          </a:prstGeom>
          <a:solidFill>
            <a:srgbClr val="134E4A"/>
          </a:solidFill>
          <a:ln w="25400">
            <a:solidFill>
              <a:srgbClr val="FFFFFF"/>
            </a:solidFill>
            <a:prstDash val="solid"/>
          </a:ln>
        </p:spPr>
      </p:sp>
      <p:sp>
        <p:nvSpPr>
          <p:cNvPr id="15" name="Text 12"/>
          <p:cNvSpPr txBox="1"/>
          <p:nvPr/>
        </p:nvSpPr>
        <p:spPr>
          <a:xfrm>
            <a:off x="2157984" y="3840480"/>
            <a:ext cx="475488" cy="475488"/>
          </a:xfrm>
          <a:prstGeom prst="rect">
            <a:avLst/>
          </a:prstGeom>
          <a:noFill/>
          <a:ln/>
        </p:spPr>
        <p:txBody>
          <a:bodyPr wrap="square" lIns="0" tIns="0" rIns="0" bIns="0" rtlCol="0" anchor="ctr"/>
          <a:lstStyle/>
          <a:p>
            <a:pPr algn="ctr" indent="0" marL="0">
              <a:buNone/>
            </a:pPr>
            <a:r>
              <a:rPr lang="en-US" sz="1144" b="1" dirty="0">
                <a:solidFill>
                  <a:srgbClr val="FFFFFF"/>
                </a:solidFill>
                <a:latin typeface="Calibri" pitchFamily="34" charset="0"/>
                <a:ea typeface="Calibri" pitchFamily="34" charset="-122"/>
                <a:cs typeface="Calibri" pitchFamily="34" charset="-120"/>
              </a:rPr>
              <a:t>AO</a:t>
            </a:r>
            <a:endParaRPr lang="en-US" sz="1144" dirty="0"/>
          </a:p>
        </p:txBody>
      </p:sp>
      <p:sp>
        <p:nvSpPr>
          <p:cNvPr id="16" name="Shape 13"/>
          <p:cNvSpPr/>
          <p:nvPr/>
        </p:nvSpPr>
        <p:spPr>
          <a:xfrm>
            <a:off x="2724912" y="3840480"/>
            <a:ext cx="475488" cy="475488"/>
          </a:xfrm>
          <a:prstGeom prst="ellipse">
            <a:avLst/>
          </a:prstGeom>
          <a:solidFill>
            <a:srgbClr val="0F766E"/>
          </a:solidFill>
          <a:ln w="25400">
            <a:solidFill>
              <a:srgbClr val="FFFFFF"/>
            </a:solidFill>
            <a:prstDash val="solid"/>
          </a:ln>
        </p:spPr>
      </p:sp>
      <p:sp>
        <p:nvSpPr>
          <p:cNvPr id="17" name="Text 14"/>
          <p:cNvSpPr txBox="1"/>
          <p:nvPr/>
        </p:nvSpPr>
        <p:spPr>
          <a:xfrm>
            <a:off x="2724912" y="3840480"/>
            <a:ext cx="475488" cy="475488"/>
          </a:xfrm>
          <a:prstGeom prst="rect">
            <a:avLst/>
          </a:prstGeom>
          <a:noFill/>
          <a:ln/>
        </p:spPr>
        <p:txBody>
          <a:bodyPr wrap="square" lIns="0" tIns="0" rIns="0" bIns="0" rtlCol="0" anchor="ctr"/>
          <a:lstStyle/>
          <a:p>
            <a:pPr algn="ctr" indent="0" marL="0">
              <a:buNone/>
            </a:pPr>
            <a:r>
              <a:rPr lang="en-US" sz="1144" b="1" dirty="0">
                <a:solidFill>
                  <a:srgbClr val="FFFFFF"/>
                </a:solidFill>
                <a:latin typeface="Calibri" pitchFamily="34" charset="0"/>
                <a:ea typeface="Calibri" pitchFamily="34" charset="-122"/>
                <a:cs typeface="Calibri" pitchFamily="34" charset="-120"/>
              </a:rPr>
              <a:t>LM</a:t>
            </a:r>
            <a:endParaRPr lang="en-US" sz="1144" dirty="0"/>
          </a:p>
        </p:txBody>
      </p:sp>
      <p:sp>
        <p:nvSpPr>
          <p:cNvPr id="18" name="Shape 15"/>
          <p:cNvSpPr/>
          <p:nvPr/>
        </p:nvSpPr>
        <p:spPr>
          <a:xfrm>
            <a:off x="3291840" y="3840480"/>
            <a:ext cx="475488" cy="475488"/>
          </a:xfrm>
          <a:prstGeom prst="ellipse">
            <a:avLst/>
          </a:prstGeom>
          <a:solidFill>
            <a:srgbClr val="B45309"/>
          </a:solidFill>
          <a:ln w="25400">
            <a:solidFill>
              <a:srgbClr val="FFFFFF"/>
            </a:solidFill>
            <a:prstDash val="solid"/>
          </a:ln>
        </p:spPr>
      </p:sp>
      <p:sp>
        <p:nvSpPr>
          <p:cNvPr id="19" name="Text 16"/>
          <p:cNvSpPr txBox="1"/>
          <p:nvPr/>
        </p:nvSpPr>
        <p:spPr>
          <a:xfrm>
            <a:off x="3291840" y="3840480"/>
            <a:ext cx="475488" cy="475488"/>
          </a:xfrm>
          <a:prstGeom prst="rect">
            <a:avLst/>
          </a:prstGeom>
          <a:noFill/>
          <a:ln/>
        </p:spPr>
        <p:txBody>
          <a:bodyPr wrap="square" lIns="0" tIns="0" rIns="0" bIns="0" rtlCol="0" anchor="ctr"/>
          <a:lstStyle/>
          <a:p>
            <a:pPr algn="ctr" indent="0" marL="0">
              <a:buNone/>
            </a:pPr>
            <a:r>
              <a:rPr lang="en-US" sz="1144" b="1" dirty="0">
                <a:solidFill>
                  <a:srgbClr val="FFFFFF"/>
                </a:solidFill>
                <a:latin typeface="Calibri" pitchFamily="34" charset="0"/>
                <a:ea typeface="Calibri" pitchFamily="34" charset="-122"/>
                <a:cs typeface="Calibri" pitchFamily="34" charset="-120"/>
              </a:rPr>
              <a:t>FD</a:t>
            </a:r>
            <a:endParaRPr lang="en-US" sz="1144" dirty="0"/>
          </a:p>
        </p:txBody>
      </p:sp>
      <p:sp>
        <p:nvSpPr>
          <p:cNvPr id="20" name="Shape 17"/>
          <p:cNvSpPr/>
          <p:nvPr/>
        </p:nvSpPr>
        <p:spPr>
          <a:xfrm>
            <a:off x="3858768" y="3840480"/>
            <a:ext cx="475488" cy="475488"/>
          </a:xfrm>
          <a:prstGeom prst="ellipse">
            <a:avLst/>
          </a:prstGeom>
          <a:solidFill>
            <a:srgbClr val="374151"/>
          </a:solidFill>
          <a:ln w="25400">
            <a:solidFill>
              <a:srgbClr val="FFFFFF"/>
            </a:solidFill>
            <a:prstDash val="solid"/>
          </a:ln>
        </p:spPr>
      </p:sp>
      <p:sp>
        <p:nvSpPr>
          <p:cNvPr id="21" name="Text 18"/>
          <p:cNvSpPr txBox="1"/>
          <p:nvPr/>
        </p:nvSpPr>
        <p:spPr>
          <a:xfrm>
            <a:off x="3858768" y="3840480"/>
            <a:ext cx="475488" cy="475488"/>
          </a:xfrm>
          <a:prstGeom prst="rect">
            <a:avLst/>
          </a:prstGeom>
          <a:noFill/>
          <a:ln/>
        </p:spPr>
        <p:txBody>
          <a:bodyPr wrap="square" lIns="0" tIns="0" rIns="0" bIns="0" rtlCol="0" anchor="ctr"/>
          <a:lstStyle/>
          <a:p>
            <a:pPr algn="ctr" indent="0" marL="0">
              <a:buNone/>
            </a:pPr>
            <a:r>
              <a:rPr lang="en-US" sz="1144" b="1" dirty="0">
                <a:solidFill>
                  <a:srgbClr val="FFFFFF"/>
                </a:solidFill>
                <a:latin typeface="Calibri" pitchFamily="34" charset="0"/>
                <a:ea typeface="Calibri" pitchFamily="34" charset="-122"/>
                <a:cs typeface="Calibri" pitchFamily="34" charset="-120"/>
              </a:rPr>
              <a:t>NO</a:t>
            </a:r>
            <a:endParaRPr lang="en-US" sz="1144" dirty="0"/>
          </a:p>
        </p:txBody>
      </p:sp>
      <p:sp>
        <p:nvSpPr>
          <p:cNvPr id="22" name="Shape 19"/>
          <p:cNvSpPr/>
          <p:nvPr/>
        </p:nvSpPr>
        <p:spPr>
          <a:xfrm>
            <a:off x="4425696" y="3840480"/>
            <a:ext cx="475488" cy="475488"/>
          </a:xfrm>
          <a:prstGeom prst="ellipse">
            <a:avLst/>
          </a:prstGeom>
          <a:solidFill>
            <a:srgbClr val="BE185D"/>
          </a:solidFill>
          <a:ln w="25400">
            <a:solidFill>
              <a:srgbClr val="FFFFFF"/>
            </a:solidFill>
            <a:prstDash val="solid"/>
          </a:ln>
        </p:spPr>
      </p:sp>
      <p:sp>
        <p:nvSpPr>
          <p:cNvPr id="23" name="Text 20"/>
          <p:cNvSpPr txBox="1"/>
          <p:nvPr/>
        </p:nvSpPr>
        <p:spPr>
          <a:xfrm>
            <a:off x="4425696" y="3840480"/>
            <a:ext cx="475488" cy="475488"/>
          </a:xfrm>
          <a:prstGeom prst="rect">
            <a:avLst/>
          </a:prstGeom>
          <a:noFill/>
          <a:ln/>
        </p:spPr>
        <p:txBody>
          <a:bodyPr wrap="square" lIns="0" tIns="0" rIns="0" bIns="0" rtlCol="0" anchor="ctr"/>
          <a:lstStyle/>
          <a:p>
            <a:pPr algn="ctr" indent="0" marL="0">
              <a:buNone/>
            </a:pPr>
            <a:r>
              <a:rPr lang="en-US" sz="1144" b="1" dirty="0">
                <a:solidFill>
                  <a:srgbClr val="FFFFFF"/>
                </a:solidFill>
                <a:latin typeface="Calibri" pitchFamily="34" charset="0"/>
                <a:ea typeface="Calibri" pitchFamily="34" charset="-122"/>
                <a:cs typeface="Calibri" pitchFamily="34" charset="-120"/>
              </a:rPr>
              <a:t>PR</a:t>
            </a:r>
            <a:endParaRPr lang="en-US" sz="114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Eight personas, one platform</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Everyone works from the same record, with access set by role and consent</a:t>
            </a:r>
            <a:endParaRPr lang="en-US" sz="1300" dirty="0"/>
          </a:p>
        </p:txBody>
      </p:sp>
      <p:sp>
        <p:nvSpPr>
          <p:cNvPr id="4" name="Shape 2"/>
          <p:cNvSpPr/>
          <p:nvPr/>
        </p:nvSpPr>
        <p:spPr>
          <a:xfrm>
            <a:off x="457200" y="1325880"/>
            <a:ext cx="1920240" cy="1554480"/>
          </a:xfrm>
          <a:prstGeom prst="roundRect">
            <a:avLst>
              <a:gd name="adj" fmla="val 7059"/>
            </a:avLst>
          </a:prstGeom>
          <a:solidFill>
            <a:srgbClr val="F5F7F8"/>
          </a:solidFill>
          <a:ln w="9525">
            <a:solidFill>
              <a:srgbClr val="F5F7F8"/>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594360" y="1463040"/>
            <a:ext cx="502920" cy="502920"/>
          </a:xfrm>
          <a:prstGeom prst="ellipse">
            <a:avLst/>
          </a:prstGeom>
          <a:solidFill>
            <a:srgbClr val="1B6B63"/>
          </a:solidFill>
          <a:ln w="25400">
            <a:solidFill>
              <a:srgbClr val="FFFFFF"/>
            </a:solidFill>
            <a:prstDash val="solid"/>
          </a:ln>
        </p:spPr>
      </p:sp>
      <p:sp>
        <p:nvSpPr>
          <p:cNvPr id="6" name="Text 4"/>
          <p:cNvSpPr txBox="1"/>
          <p:nvPr/>
        </p:nvSpPr>
        <p:spPr>
          <a:xfrm>
            <a:off x="594360" y="1463040"/>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MT</a:t>
            </a:r>
            <a:endParaRPr lang="en-US" sz="1210" dirty="0"/>
          </a:p>
        </p:txBody>
      </p:sp>
      <p:sp>
        <p:nvSpPr>
          <p:cNvPr id="7" name="Text 5"/>
          <p:cNvSpPr txBox="1"/>
          <p:nvPr/>
        </p:nvSpPr>
        <p:spPr>
          <a:xfrm>
            <a:off x="1170432" y="1463040"/>
            <a:ext cx="1161288" cy="50292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Maya · patient</a:t>
            </a:r>
            <a:endParaRPr lang="en-US" sz="1150" dirty="0"/>
          </a:p>
        </p:txBody>
      </p:sp>
      <p:sp>
        <p:nvSpPr>
          <p:cNvPr id="8" name="Text 6"/>
          <p:cNvSpPr txBox="1"/>
          <p:nvPr/>
        </p:nvSpPr>
        <p:spPr>
          <a:xfrm>
            <a:off x="594360" y="2057400"/>
            <a:ext cx="1691640" cy="777240"/>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Joins by invite; plain answers, safe monitoring, on her phone</a:t>
            </a:r>
            <a:endParaRPr lang="en-US" sz="1000" dirty="0"/>
          </a:p>
        </p:txBody>
      </p:sp>
      <p:sp>
        <p:nvSpPr>
          <p:cNvPr id="9" name="Shape 7"/>
          <p:cNvSpPr/>
          <p:nvPr/>
        </p:nvSpPr>
        <p:spPr>
          <a:xfrm>
            <a:off x="2560320" y="1325880"/>
            <a:ext cx="1920240" cy="1554480"/>
          </a:xfrm>
          <a:prstGeom prst="roundRect">
            <a:avLst>
              <a:gd name="adj" fmla="val 7059"/>
            </a:avLst>
          </a:prstGeom>
          <a:solidFill>
            <a:srgbClr val="F5F7F8"/>
          </a:solidFill>
          <a:ln w="9525">
            <a:solidFill>
              <a:srgbClr val="F5F7F8"/>
            </a:solidFill>
            <a:prstDash val="solid"/>
          </a:ln>
          <a:effectLst>
            <a:outerShdw sx="100000" sy="100000" kx="0" ky="0" algn="bl" rotWithShape="0" blurRad="76200" dist="19050" dir="5400000">
              <a:srgbClr val="000000">
                <a:alpha val="8000"/>
              </a:srgbClr>
            </a:outerShdw>
          </a:effectLst>
        </p:spPr>
      </p:sp>
      <p:sp>
        <p:nvSpPr>
          <p:cNvPr id="10" name="Shape 8"/>
          <p:cNvSpPr/>
          <p:nvPr/>
        </p:nvSpPr>
        <p:spPr>
          <a:xfrm>
            <a:off x="2697480" y="1463040"/>
            <a:ext cx="502920" cy="502920"/>
          </a:xfrm>
          <a:prstGeom prst="ellipse">
            <a:avLst/>
          </a:prstGeom>
          <a:solidFill>
            <a:srgbClr val="7C3AED"/>
          </a:solidFill>
          <a:ln w="25400">
            <a:solidFill>
              <a:srgbClr val="FFFFFF"/>
            </a:solidFill>
            <a:prstDash val="solid"/>
          </a:ln>
        </p:spPr>
      </p:sp>
      <p:sp>
        <p:nvSpPr>
          <p:cNvPr id="11" name="Text 9"/>
          <p:cNvSpPr txBox="1"/>
          <p:nvPr/>
        </p:nvSpPr>
        <p:spPr>
          <a:xfrm>
            <a:off x="2697480" y="1463040"/>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RH</a:t>
            </a:r>
            <a:endParaRPr lang="en-US" sz="1210" dirty="0"/>
          </a:p>
        </p:txBody>
      </p:sp>
      <p:sp>
        <p:nvSpPr>
          <p:cNvPr id="12" name="Text 10"/>
          <p:cNvSpPr txBox="1"/>
          <p:nvPr/>
        </p:nvSpPr>
        <p:spPr>
          <a:xfrm>
            <a:off x="3273552" y="1463040"/>
            <a:ext cx="1161288" cy="50292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Rana · older patient</a:t>
            </a:r>
            <a:endParaRPr lang="en-US" sz="1150" dirty="0"/>
          </a:p>
        </p:txBody>
      </p:sp>
      <p:sp>
        <p:nvSpPr>
          <p:cNvPr id="13" name="Text 11"/>
          <p:cNvSpPr txBox="1"/>
          <p:nvPr/>
        </p:nvSpPr>
        <p:spPr>
          <a:xfrm>
            <a:off x="2697480" y="2057400"/>
            <a:ext cx="1691640" cy="777240"/>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Big, spoken, simple: independence with safety checks</a:t>
            </a:r>
            <a:endParaRPr lang="en-US" sz="1000" dirty="0"/>
          </a:p>
        </p:txBody>
      </p:sp>
      <p:sp>
        <p:nvSpPr>
          <p:cNvPr id="14" name="Shape 12"/>
          <p:cNvSpPr/>
          <p:nvPr/>
        </p:nvSpPr>
        <p:spPr>
          <a:xfrm>
            <a:off x="4663440" y="1325880"/>
            <a:ext cx="1920240" cy="1554480"/>
          </a:xfrm>
          <a:prstGeom prst="roundRect">
            <a:avLst>
              <a:gd name="adj" fmla="val 7059"/>
            </a:avLst>
          </a:prstGeom>
          <a:solidFill>
            <a:srgbClr val="F5F7F8"/>
          </a:solidFill>
          <a:ln w="9525">
            <a:solidFill>
              <a:srgbClr val="F5F7F8"/>
            </a:solidFill>
            <a:prstDash val="solid"/>
          </a:ln>
          <a:effectLst>
            <a:outerShdw sx="100000" sy="100000" kx="0" ky="0" algn="bl" rotWithShape="0" blurRad="76200" dist="19050" dir="5400000">
              <a:srgbClr val="000000">
                <a:alpha val="8000"/>
              </a:srgbClr>
            </a:outerShdw>
          </a:effectLst>
        </p:spPr>
      </p:sp>
      <p:sp>
        <p:nvSpPr>
          <p:cNvPr id="15" name="Shape 13"/>
          <p:cNvSpPr/>
          <p:nvPr/>
        </p:nvSpPr>
        <p:spPr>
          <a:xfrm>
            <a:off x="4800600" y="1463040"/>
            <a:ext cx="502920" cy="502920"/>
          </a:xfrm>
          <a:prstGeom prst="ellipse">
            <a:avLst/>
          </a:prstGeom>
          <a:solidFill>
            <a:srgbClr val="0369A1"/>
          </a:solidFill>
          <a:ln w="25400">
            <a:solidFill>
              <a:srgbClr val="FFFFFF"/>
            </a:solidFill>
            <a:prstDash val="solid"/>
          </a:ln>
        </p:spPr>
      </p:sp>
      <p:sp>
        <p:nvSpPr>
          <p:cNvPr id="16" name="Text 14"/>
          <p:cNvSpPr txBox="1"/>
          <p:nvPr/>
        </p:nvSpPr>
        <p:spPr>
          <a:xfrm>
            <a:off x="4800600" y="1463040"/>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DT</a:t>
            </a:r>
            <a:endParaRPr lang="en-US" sz="1210" dirty="0"/>
          </a:p>
        </p:txBody>
      </p:sp>
      <p:sp>
        <p:nvSpPr>
          <p:cNvPr id="17" name="Text 15"/>
          <p:cNvSpPr txBox="1"/>
          <p:nvPr/>
        </p:nvSpPr>
        <p:spPr>
          <a:xfrm>
            <a:off x="5376672" y="1463040"/>
            <a:ext cx="1161288" cy="50292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David · caregiver</a:t>
            </a:r>
            <a:endParaRPr lang="en-US" sz="1150" dirty="0"/>
          </a:p>
        </p:txBody>
      </p:sp>
      <p:sp>
        <p:nvSpPr>
          <p:cNvPr id="18" name="Text 16"/>
          <p:cNvSpPr txBox="1"/>
          <p:nvPr/>
        </p:nvSpPr>
        <p:spPr>
          <a:xfrm>
            <a:off x="4800600" y="2057400"/>
            <a:ext cx="1691640" cy="777240"/>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Helps Maya with the access she grants</a:t>
            </a:r>
            <a:endParaRPr lang="en-US" sz="1000" dirty="0"/>
          </a:p>
        </p:txBody>
      </p:sp>
      <p:sp>
        <p:nvSpPr>
          <p:cNvPr id="19" name="Shape 17"/>
          <p:cNvSpPr/>
          <p:nvPr/>
        </p:nvSpPr>
        <p:spPr>
          <a:xfrm>
            <a:off x="6766560" y="1325880"/>
            <a:ext cx="1920240" cy="1554480"/>
          </a:xfrm>
          <a:prstGeom prst="roundRect">
            <a:avLst>
              <a:gd name="adj" fmla="val 7059"/>
            </a:avLst>
          </a:prstGeom>
          <a:solidFill>
            <a:srgbClr val="F5F7F8"/>
          </a:solidFill>
          <a:ln w="9525">
            <a:solidFill>
              <a:srgbClr val="F5F7F8"/>
            </a:solidFill>
            <a:prstDash val="solid"/>
          </a:ln>
          <a:effectLst>
            <a:outerShdw sx="100000" sy="100000" kx="0" ky="0" algn="bl" rotWithShape="0" blurRad="76200" dist="19050" dir="5400000">
              <a:srgbClr val="000000">
                <a:alpha val="8000"/>
              </a:srgbClr>
            </a:outerShdw>
          </a:effectLst>
        </p:spPr>
      </p:sp>
      <p:sp>
        <p:nvSpPr>
          <p:cNvPr id="20" name="Shape 18"/>
          <p:cNvSpPr/>
          <p:nvPr/>
        </p:nvSpPr>
        <p:spPr>
          <a:xfrm>
            <a:off x="6903720" y="1463040"/>
            <a:ext cx="502920" cy="502920"/>
          </a:xfrm>
          <a:prstGeom prst="ellipse">
            <a:avLst/>
          </a:prstGeom>
          <a:solidFill>
            <a:srgbClr val="134E4A"/>
          </a:solidFill>
          <a:ln w="25400">
            <a:solidFill>
              <a:srgbClr val="FFFFFF"/>
            </a:solidFill>
            <a:prstDash val="solid"/>
          </a:ln>
        </p:spPr>
      </p:sp>
      <p:sp>
        <p:nvSpPr>
          <p:cNvPr id="21" name="Text 19"/>
          <p:cNvSpPr txBox="1"/>
          <p:nvPr/>
        </p:nvSpPr>
        <p:spPr>
          <a:xfrm>
            <a:off x="6903720" y="1463040"/>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AO</a:t>
            </a:r>
            <a:endParaRPr lang="en-US" sz="1210" dirty="0"/>
          </a:p>
        </p:txBody>
      </p:sp>
      <p:sp>
        <p:nvSpPr>
          <p:cNvPr id="22" name="Text 20"/>
          <p:cNvSpPr txBox="1"/>
          <p:nvPr/>
        </p:nvSpPr>
        <p:spPr>
          <a:xfrm>
            <a:off x="7479792" y="1463040"/>
            <a:ext cx="1161288" cy="50292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Dr. Okafor · clinician</a:t>
            </a:r>
            <a:endParaRPr lang="en-US" sz="1150" dirty="0"/>
          </a:p>
        </p:txBody>
      </p:sp>
      <p:sp>
        <p:nvSpPr>
          <p:cNvPr id="23" name="Text 21"/>
          <p:cNvSpPr txBox="1"/>
          <p:nvPr/>
        </p:nvSpPr>
        <p:spPr>
          <a:xfrm>
            <a:off x="6903720" y="2057400"/>
            <a:ext cx="1691640" cy="777240"/>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Context first, urgent first, approve not draft, her own hours</a:t>
            </a:r>
            <a:endParaRPr lang="en-US" sz="1000" dirty="0"/>
          </a:p>
        </p:txBody>
      </p:sp>
      <p:sp>
        <p:nvSpPr>
          <p:cNvPr id="24" name="Shape 22"/>
          <p:cNvSpPr/>
          <p:nvPr/>
        </p:nvSpPr>
        <p:spPr>
          <a:xfrm>
            <a:off x="457200" y="3063240"/>
            <a:ext cx="1920240" cy="1554480"/>
          </a:xfrm>
          <a:prstGeom prst="roundRect">
            <a:avLst>
              <a:gd name="adj" fmla="val 7059"/>
            </a:avLst>
          </a:prstGeom>
          <a:solidFill>
            <a:srgbClr val="F5F7F8"/>
          </a:solidFill>
          <a:ln w="9525">
            <a:solidFill>
              <a:srgbClr val="F5F7F8"/>
            </a:solidFill>
            <a:prstDash val="solid"/>
          </a:ln>
          <a:effectLst>
            <a:outerShdw sx="100000" sy="100000" kx="0" ky="0" algn="bl" rotWithShape="0" blurRad="76200" dist="19050" dir="5400000">
              <a:srgbClr val="000000">
                <a:alpha val="8000"/>
              </a:srgbClr>
            </a:outerShdw>
          </a:effectLst>
        </p:spPr>
      </p:sp>
      <p:sp>
        <p:nvSpPr>
          <p:cNvPr id="25" name="Shape 23"/>
          <p:cNvSpPr/>
          <p:nvPr/>
        </p:nvSpPr>
        <p:spPr>
          <a:xfrm>
            <a:off x="594360" y="3200400"/>
            <a:ext cx="502920" cy="502920"/>
          </a:xfrm>
          <a:prstGeom prst="ellipse">
            <a:avLst/>
          </a:prstGeom>
          <a:solidFill>
            <a:srgbClr val="0F766E"/>
          </a:solidFill>
          <a:ln w="25400">
            <a:solidFill>
              <a:srgbClr val="FFFFFF"/>
            </a:solidFill>
            <a:prstDash val="solid"/>
          </a:ln>
        </p:spPr>
      </p:sp>
      <p:sp>
        <p:nvSpPr>
          <p:cNvPr id="26" name="Text 24"/>
          <p:cNvSpPr txBox="1"/>
          <p:nvPr/>
        </p:nvSpPr>
        <p:spPr>
          <a:xfrm>
            <a:off x="594360" y="3200400"/>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LM</a:t>
            </a:r>
            <a:endParaRPr lang="en-US" sz="1210" dirty="0"/>
          </a:p>
        </p:txBody>
      </p:sp>
      <p:sp>
        <p:nvSpPr>
          <p:cNvPr id="27" name="Text 25"/>
          <p:cNvSpPr txBox="1"/>
          <p:nvPr/>
        </p:nvSpPr>
        <p:spPr>
          <a:xfrm>
            <a:off x="1170432" y="3200400"/>
            <a:ext cx="1161288" cy="50292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Lena · pharmacist</a:t>
            </a:r>
            <a:endParaRPr lang="en-US" sz="1150" dirty="0"/>
          </a:p>
        </p:txBody>
      </p:sp>
      <p:sp>
        <p:nvSpPr>
          <p:cNvPr id="28" name="Text 26"/>
          <p:cNvSpPr txBox="1"/>
          <p:nvPr/>
        </p:nvSpPr>
        <p:spPr>
          <a:xfrm>
            <a:off x="594360" y="3794760"/>
            <a:ext cx="1691640" cy="777240"/>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Checks done for her, traceable delivery</a:t>
            </a:r>
            <a:endParaRPr lang="en-US" sz="1000" dirty="0"/>
          </a:p>
        </p:txBody>
      </p:sp>
      <p:sp>
        <p:nvSpPr>
          <p:cNvPr id="29" name="Shape 27"/>
          <p:cNvSpPr/>
          <p:nvPr/>
        </p:nvSpPr>
        <p:spPr>
          <a:xfrm>
            <a:off x="2560320" y="3063240"/>
            <a:ext cx="1920240" cy="1554480"/>
          </a:xfrm>
          <a:prstGeom prst="roundRect">
            <a:avLst>
              <a:gd name="adj" fmla="val 7059"/>
            </a:avLst>
          </a:prstGeom>
          <a:solidFill>
            <a:srgbClr val="F5F7F8"/>
          </a:solidFill>
          <a:ln w="9525">
            <a:solidFill>
              <a:srgbClr val="F5F7F8"/>
            </a:solidFill>
            <a:prstDash val="solid"/>
          </a:ln>
          <a:effectLst>
            <a:outerShdw sx="100000" sy="100000" kx="0" ky="0" algn="bl" rotWithShape="0" blurRad="76200" dist="19050" dir="5400000">
              <a:srgbClr val="000000">
                <a:alpha val="8000"/>
              </a:srgbClr>
            </a:outerShdw>
          </a:effectLst>
        </p:spPr>
      </p:sp>
      <p:sp>
        <p:nvSpPr>
          <p:cNvPr id="30" name="Shape 28"/>
          <p:cNvSpPr/>
          <p:nvPr/>
        </p:nvSpPr>
        <p:spPr>
          <a:xfrm>
            <a:off x="2697480" y="3200400"/>
            <a:ext cx="502920" cy="502920"/>
          </a:xfrm>
          <a:prstGeom prst="ellipse">
            <a:avLst/>
          </a:prstGeom>
          <a:solidFill>
            <a:srgbClr val="B45309"/>
          </a:solidFill>
          <a:ln w="25400">
            <a:solidFill>
              <a:srgbClr val="FFFFFF"/>
            </a:solidFill>
            <a:prstDash val="solid"/>
          </a:ln>
        </p:spPr>
      </p:sp>
      <p:sp>
        <p:nvSpPr>
          <p:cNvPr id="31" name="Text 29"/>
          <p:cNvSpPr txBox="1"/>
          <p:nvPr/>
        </p:nvSpPr>
        <p:spPr>
          <a:xfrm>
            <a:off x="2697480" y="3200400"/>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FD</a:t>
            </a:r>
            <a:endParaRPr lang="en-US" sz="1210" dirty="0"/>
          </a:p>
        </p:txBody>
      </p:sp>
      <p:sp>
        <p:nvSpPr>
          <p:cNvPr id="32" name="Text 30"/>
          <p:cNvSpPr txBox="1"/>
          <p:nvPr/>
        </p:nvSpPr>
        <p:spPr>
          <a:xfrm>
            <a:off x="3273552" y="3200400"/>
            <a:ext cx="1161288" cy="50292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Front desk</a:t>
            </a:r>
            <a:endParaRPr lang="en-US" sz="1150" dirty="0"/>
          </a:p>
        </p:txBody>
      </p:sp>
      <p:sp>
        <p:nvSpPr>
          <p:cNvPr id="33" name="Text 31"/>
          <p:cNvSpPr txBox="1"/>
          <p:nvPr/>
        </p:nvSpPr>
        <p:spPr>
          <a:xfrm>
            <a:off x="2697480" y="3794760"/>
            <a:ext cx="1691640" cy="777240"/>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Invites patients, one record each, coverage verified early</a:t>
            </a:r>
            <a:endParaRPr lang="en-US" sz="1000" dirty="0"/>
          </a:p>
        </p:txBody>
      </p:sp>
      <p:sp>
        <p:nvSpPr>
          <p:cNvPr id="34" name="Shape 32"/>
          <p:cNvSpPr/>
          <p:nvPr/>
        </p:nvSpPr>
        <p:spPr>
          <a:xfrm>
            <a:off x="4663440" y="3063240"/>
            <a:ext cx="1920240" cy="1554480"/>
          </a:xfrm>
          <a:prstGeom prst="roundRect">
            <a:avLst>
              <a:gd name="adj" fmla="val 7059"/>
            </a:avLst>
          </a:prstGeom>
          <a:solidFill>
            <a:srgbClr val="F5F7F8"/>
          </a:solidFill>
          <a:ln w="9525">
            <a:solidFill>
              <a:srgbClr val="F5F7F8"/>
            </a:solidFill>
            <a:prstDash val="solid"/>
          </a:ln>
          <a:effectLst>
            <a:outerShdw sx="100000" sy="100000" kx="0" ky="0" algn="bl" rotWithShape="0" blurRad="76200" dist="19050" dir="5400000">
              <a:srgbClr val="000000">
                <a:alpha val="8000"/>
              </a:srgbClr>
            </a:outerShdw>
          </a:effectLst>
        </p:spPr>
      </p:sp>
      <p:sp>
        <p:nvSpPr>
          <p:cNvPr id="35" name="Shape 33"/>
          <p:cNvSpPr/>
          <p:nvPr/>
        </p:nvSpPr>
        <p:spPr>
          <a:xfrm>
            <a:off x="4800600" y="3200400"/>
            <a:ext cx="502920" cy="502920"/>
          </a:xfrm>
          <a:prstGeom prst="ellipse">
            <a:avLst/>
          </a:prstGeom>
          <a:solidFill>
            <a:srgbClr val="374151"/>
          </a:solidFill>
          <a:ln w="25400">
            <a:solidFill>
              <a:srgbClr val="FFFFFF"/>
            </a:solidFill>
            <a:prstDash val="solid"/>
          </a:ln>
        </p:spPr>
      </p:sp>
      <p:sp>
        <p:nvSpPr>
          <p:cNvPr id="36" name="Text 34"/>
          <p:cNvSpPr txBox="1"/>
          <p:nvPr/>
        </p:nvSpPr>
        <p:spPr>
          <a:xfrm>
            <a:off x="4800600" y="3200400"/>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NO</a:t>
            </a:r>
            <a:endParaRPr lang="en-US" sz="1210" dirty="0"/>
          </a:p>
        </p:txBody>
      </p:sp>
      <p:sp>
        <p:nvSpPr>
          <p:cNvPr id="37" name="Text 35"/>
          <p:cNvSpPr txBox="1"/>
          <p:nvPr/>
        </p:nvSpPr>
        <p:spPr>
          <a:xfrm>
            <a:off x="5376672" y="3200400"/>
            <a:ext cx="1161288" cy="50292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Hospital admins</a:t>
            </a:r>
            <a:endParaRPr lang="en-US" sz="1150" dirty="0"/>
          </a:p>
        </p:txBody>
      </p:sp>
      <p:sp>
        <p:nvSpPr>
          <p:cNvPr id="38" name="Text 36"/>
          <p:cNvSpPr txBox="1"/>
          <p:nvPr/>
        </p:nvSpPr>
        <p:spPr>
          <a:xfrm>
            <a:off x="4800600" y="3794760"/>
            <a:ext cx="1691640" cy="777240"/>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Bulk onboarding, access, operations and AI oversight</a:t>
            </a:r>
            <a:endParaRPr lang="en-US" sz="1000" dirty="0"/>
          </a:p>
        </p:txBody>
      </p:sp>
      <p:sp>
        <p:nvSpPr>
          <p:cNvPr id="39" name="Shape 37"/>
          <p:cNvSpPr/>
          <p:nvPr/>
        </p:nvSpPr>
        <p:spPr>
          <a:xfrm>
            <a:off x="6766560" y="3063240"/>
            <a:ext cx="1920240" cy="1554480"/>
          </a:xfrm>
          <a:prstGeom prst="roundRect">
            <a:avLst>
              <a:gd name="adj" fmla="val 7059"/>
            </a:avLst>
          </a:prstGeom>
          <a:solidFill>
            <a:srgbClr val="F5F7F8"/>
          </a:solidFill>
          <a:ln w="9525">
            <a:solidFill>
              <a:srgbClr val="F5F7F8"/>
            </a:solidFill>
            <a:prstDash val="solid"/>
          </a:ln>
          <a:effectLst>
            <a:outerShdw sx="100000" sy="100000" kx="0" ky="0" algn="bl" rotWithShape="0" blurRad="76200" dist="19050" dir="5400000">
              <a:srgbClr val="000000">
                <a:alpha val="8000"/>
              </a:srgbClr>
            </a:outerShdw>
          </a:effectLst>
        </p:spPr>
      </p:sp>
      <p:sp>
        <p:nvSpPr>
          <p:cNvPr id="40" name="Shape 38"/>
          <p:cNvSpPr/>
          <p:nvPr/>
        </p:nvSpPr>
        <p:spPr>
          <a:xfrm>
            <a:off x="6903720" y="3200400"/>
            <a:ext cx="502920" cy="502920"/>
          </a:xfrm>
          <a:prstGeom prst="ellipse">
            <a:avLst/>
          </a:prstGeom>
          <a:solidFill>
            <a:srgbClr val="BE185D"/>
          </a:solidFill>
          <a:ln w="25400">
            <a:solidFill>
              <a:srgbClr val="FFFFFF"/>
            </a:solidFill>
            <a:prstDash val="solid"/>
          </a:ln>
        </p:spPr>
      </p:sp>
      <p:sp>
        <p:nvSpPr>
          <p:cNvPr id="41" name="Text 39"/>
          <p:cNvSpPr txBox="1"/>
          <p:nvPr/>
        </p:nvSpPr>
        <p:spPr>
          <a:xfrm>
            <a:off x="6903720" y="3200400"/>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PR</a:t>
            </a:r>
            <a:endParaRPr lang="en-US" sz="1210" dirty="0"/>
          </a:p>
        </p:txBody>
      </p:sp>
      <p:sp>
        <p:nvSpPr>
          <p:cNvPr id="42" name="Text 40"/>
          <p:cNvSpPr txBox="1"/>
          <p:nvPr/>
        </p:nvSpPr>
        <p:spPr>
          <a:xfrm>
            <a:off x="7479792" y="3200400"/>
            <a:ext cx="1161288" cy="50292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Priya · student</a:t>
            </a:r>
            <a:endParaRPr lang="en-US" sz="1150" dirty="0"/>
          </a:p>
        </p:txBody>
      </p:sp>
      <p:sp>
        <p:nvSpPr>
          <p:cNvPr id="43" name="Text 41"/>
          <p:cNvSpPr txBox="1"/>
          <p:nvPr/>
        </p:nvSpPr>
        <p:spPr>
          <a:xfrm>
            <a:off x="6903720" y="3794760"/>
            <a:ext cx="1691640" cy="777240"/>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Real cases, safely de-identified, with a tutor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What's new</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Every persona can now be onboarded, scheduled and reached on their phone</a:t>
            </a:r>
            <a:endParaRPr lang="en-US" sz="1300" dirty="0"/>
          </a:p>
        </p:txBody>
      </p:sp>
      <p:sp>
        <p:nvSpPr>
          <p:cNvPr id="4" name="Shape 2"/>
          <p:cNvSpPr/>
          <p:nvPr/>
        </p:nvSpPr>
        <p:spPr>
          <a:xfrm>
            <a:off x="457200" y="1280160"/>
            <a:ext cx="2651760" cy="1609344"/>
          </a:xfrm>
          <a:prstGeom prst="roundRect">
            <a:avLst>
              <a:gd name="adj" fmla="val 6818"/>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603504" y="1426464"/>
            <a:ext cx="457200" cy="457200"/>
          </a:xfrm>
          <a:prstGeom prst="ellipse">
            <a:avLst/>
          </a:prstGeom>
          <a:solidFill>
            <a:srgbClr val="1B6B63"/>
          </a:solidFill>
          <a:ln w="12700">
            <a:solidFill>
              <a:srgbClr val="1B6B63"/>
            </a:solidFill>
            <a:prstDash val="solid"/>
          </a:ln>
        </p:spPr>
      </p:sp>
      <p:pic>
        <p:nvPicPr>
          <p:cNvPr id="6" name="Image 0" descr="preencoded.png">    </p:cNvPr>
          <p:cNvPicPr>
            <a:picLocks noChangeAspect="1"/>
          </p:cNvPicPr>
          <p:nvPr/>
        </p:nvPicPr>
        <p:blipFill>
          <a:blip r:embed="rId1"/>
          <a:stretch>
            <a:fillRect/>
          </a:stretch>
        </p:blipFill>
        <p:spPr>
          <a:xfrm>
            <a:off x="717804" y="1540764"/>
            <a:ext cx="228600" cy="228600"/>
          </a:xfrm>
          <a:prstGeom prst="rect">
            <a:avLst/>
          </a:prstGeom>
        </p:spPr>
      </p:pic>
      <p:sp>
        <p:nvSpPr>
          <p:cNvPr id="7" name="Text 4"/>
          <p:cNvSpPr txBox="1"/>
          <p:nvPr/>
        </p:nvSpPr>
        <p:spPr>
          <a:xfrm>
            <a:off x="1152144" y="1426464"/>
            <a:ext cx="1883664" cy="457200"/>
          </a:xfrm>
          <a:prstGeom prst="rect">
            <a:avLst/>
          </a:prstGeom>
          <a:noFill/>
          <a:ln/>
        </p:spPr>
        <p:txBody>
          <a:bodyPr wrap="square" lIns="0" tIns="0" rIns="0" bIns="0" rtlCol="0" anchor="ctr"/>
          <a:lstStyle/>
          <a:p>
            <a:pPr indent="0" marL="0">
              <a:buNone/>
            </a:pPr>
            <a:r>
              <a:rPr lang="en-US" sz="1250" b="1" dirty="0">
                <a:solidFill>
                  <a:srgbClr val="111827"/>
                </a:solidFill>
                <a:latin typeface="Calibri" pitchFamily="34" charset="0"/>
                <a:ea typeface="Calibri" pitchFamily="34" charset="-122"/>
                <a:cs typeface="Calibri" pitchFamily="34" charset="-120"/>
              </a:rPr>
              <a:t>Single sign-on</a:t>
            </a:r>
            <a:endParaRPr lang="en-US" sz="1250" dirty="0"/>
          </a:p>
        </p:txBody>
      </p:sp>
      <p:sp>
        <p:nvSpPr>
          <p:cNvPr id="8" name="Text 5"/>
          <p:cNvSpPr txBox="1"/>
          <p:nvPr/>
        </p:nvSpPr>
        <p:spPr>
          <a:xfrm>
            <a:off x="603504" y="1956816"/>
            <a:ext cx="2395728" cy="566928"/>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Microsoft Entra ID, Okta and Google, with sessions, sign-out and turn-off</a:t>
            </a:r>
            <a:endParaRPr lang="en-US" sz="1000" dirty="0"/>
          </a:p>
        </p:txBody>
      </p:sp>
      <p:sp>
        <p:nvSpPr>
          <p:cNvPr id="9" name="Shape 6"/>
          <p:cNvSpPr/>
          <p:nvPr/>
        </p:nvSpPr>
        <p:spPr>
          <a:xfrm>
            <a:off x="603504" y="2560320"/>
            <a:ext cx="687629" cy="237744"/>
          </a:xfrm>
          <a:prstGeom prst="roundRect">
            <a:avLst>
              <a:gd name="adj" fmla="val 50000"/>
            </a:avLst>
          </a:prstGeom>
          <a:solidFill>
            <a:srgbClr val="E6F4F1"/>
          </a:solidFill>
          <a:ln w="12700">
            <a:solidFill>
              <a:srgbClr val="E6F4F1"/>
            </a:solidFill>
            <a:prstDash val="solid"/>
          </a:ln>
        </p:spPr>
      </p:sp>
      <p:sp>
        <p:nvSpPr>
          <p:cNvPr id="10" name="Text 7"/>
          <p:cNvSpPr txBox="1"/>
          <p:nvPr/>
        </p:nvSpPr>
        <p:spPr>
          <a:xfrm>
            <a:off x="603504" y="2560320"/>
            <a:ext cx="687629"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Everyone</a:t>
            </a:r>
            <a:endParaRPr lang="en-US" sz="850" dirty="0"/>
          </a:p>
        </p:txBody>
      </p:sp>
      <p:sp>
        <p:nvSpPr>
          <p:cNvPr id="11" name="Shape 8"/>
          <p:cNvSpPr/>
          <p:nvPr/>
        </p:nvSpPr>
        <p:spPr>
          <a:xfrm>
            <a:off x="3246120" y="1280160"/>
            <a:ext cx="2651760" cy="1609344"/>
          </a:xfrm>
          <a:prstGeom prst="roundRect">
            <a:avLst>
              <a:gd name="adj" fmla="val 6818"/>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2" name="Shape 9"/>
          <p:cNvSpPr/>
          <p:nvPr/>
        </p:nvSpPr>
        <p:spPr>
          <a:xfrm>
            <a:off x="3392424" y="1426464"/>
            <a:ext cx="457200" cy="457200"/>
          </a:xfrm>
          <a:prstGeom prst="ellipse">
            <a:avLst/>
          </a:prstGeom>
          <a:solidFill>
            <a:srgbClr val="1B6B63"/>
          </a:solidFill>
          <a:ln w="12700">
            <a:solidFill>
              <a:srgbClr val="1B6B63"/>
            </a:solidFill>
            <a:prstDash val="solid"/>
          </a:ln>
        </p:spPr>
      </p:sp>
      <p:pic>
        <p:nvPicPr>
          <p:cNvPr id="13" name="Image 1" descr="preencoded.png">    </p:cNvPr>
          <p:cNvPicPr>
            <a:picLocks noChangeAspect="1"/>
          </p:cNvPicPr>
          <p:nvPr/>
        </p:nvPicPr>
        <p:blipFill>
          <a:blip r:embed="rId2"/>
          <a:stretch>
            <a:fillRect/>
          </a:stretch>
        </p:blipFill>
        <p:spPr>
          <a:xfrm>
            <a:off x="3506724" y="1540764"/>
            <a:ext cx="228600" cy="228600"/>
          </a:xfrm>
          <a:prstGeom prst="rect">
            <a:avLst/>
          </a:prstGeom>
        </p:spPr>
      </p:pic>
      <p:sp>
        <p:nvSpPr>
          <p:cNvPr id="14" name="Text 10"/>
          <p:cNvSpPr txBox="1"/>
          <p:nvPr/>
        </p:nvSpPr>
        <p:spPr>
          <a:xfrm>
            <a:off x="3941064" y="1426464"/>
            <a:ext cx="1883664" cy="457200"/>
          </a:xfrm>
          <a:prstGeom prst="rect">
            <a:avLst/>
          </a:prstGeom>
          <a:noFill/>
          <a:ln/>
        </p:spPr>
        <p:txBody>
          <a:bodyPr wrap="square" lIns="0" tIns="0" rIns="0" bIns="0" rtlCol="0" anchor="ctr"/>
          <a:lstStyle/>
          <a:p>
            <a:pPr indent="0" marL="0">
              <a:buNone/>
            </a:pPr>
            <a:r>
              <a:rPr lang="en-US" sz="1250" b="1" dirty="0">
                <a:solidFill>
                  <a:srgbClr val="111827"/>
                </a:solidFill>
                <a:latin typeface="Calibri" pitchFamily="34" charset="0"/>
                <a:ea typeface="Calibri" pitchFamily="34" charset="-122"/>
                <a:cs typeface="Calibri" pitchFamily="34" charset="-120"/>
              </a:rPr>
              <a:t>Patient invites</a:t>
            </a:r>
            <a:endParaRPr lang="en-US" sz="1250" dirty="0"/>
          </a:p>
        </p:txBody>
      </p:sp>
      <p:sp>
        <p:nvSpPr>
          <p:cNvPr id="15" name="Text 11"/>
          <p:cNvSpPr txBox="1"/>
          <p:nvPr/>
        </p:nvSpPr>
        <p:spPr>
          <a:xfrm>
            <a:off x="3392424" y="1956816"/>
            <a:ext cx="2395728" cy="566928"/>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Join link, birth-date check, then Google or a 6-digit email code</a:t>
            </a:r>
            <a:endParaRPr lang="en-US" sz="1000" dirty="0"/>
          </a:p>
        </p:txBody>
      </p:sp>
      <p:sp>
        <p:nvSpPr>
          <p:cNvPr id="16" name="Shape 12"/>
          <p:cNvSpPr/>
          <p:nvPr/>
        </p:nvSpPr>
        <p:spPr>
          <a:xfrm>
            <a:off x="3392424" y="2560320"/>
            <a:ext cx="1448410" cy="237744"/>
          </a:xfrm>
          <a:prstGeom prst="roundRect">
            <a:avLst>
              <a:gd name="adj" fmla="val 50000"/>
            </a:avLst>
          </a:prstGeom>
          <a:solidFill>
            <a:srgbClr val="E6F4F1"/>
          </a:solidFill>
          <a:ln w="12700">
            <a:solidFill>
              <a:srgbClr val="E6F4F1"/>
            </a:solidFill>
            <a:prstDash val="solid"/>
          </a:ln>
        </p:spPr>
      </p:sp>
      <p:sp>
        <p:nvSpPr>
          <p:cNvPr id="17" name="Text 13"/>
          <p:cNvSpPr txBox="1"/>
          <p:nvPr/>
        </p:nvSpPr>
        <p:spPr>
          <a:xfrm>
            <a:off x="3392424" y="2560320"/>
            <a:ext cx="1448410"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Patients · front desk</a:t>
            </a:r>
            <a:endParaRPr lang="en-US" sz="850" dirty="0"/>
          </a:p>
        </p:txBody>
      </p:sp>
      <p:sp>
        <p:nvSpPr>
          <p:cNvPr id="18" name="Shape 14"/>
          <p:cNvSpPr/>
          <p:nvPr/>
        </p:nvSpPr>
        <p:spPr>
          <a:xfrm>
            <a:off x="6035040" y="1280160"/>
            <a:ext cx="2651760" cy="1609344"/>
          </a:xfrm>
          <a:prstGeom prst="roundRect">
            <a:avLst>
              <a:gd name="adj" fmla="val 6818"/>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9" name="Shape 15"/>
          <p:cNvSpPr/>
          <p:nvPr/>
        </p:nvSpPr>
        <p:spPr>
          <a:xfrm>
            <a:off x="6181344" y="1426464"/>
            <a:ext cx="457200" cy="457200"/>
          </a:xfrm>
          <a:prstGeom prst="ellipse">
            <a:avLst/>
          </a:prstGeom>
          <a:solidFill>
            <a:srgbClr val="1B6B63"/>
          </a:solidFill>
          <a:ln w="12700">
            <a:solidFill>
              <a:srgbClr val="1B6B63"/>
            </a:solidFill>
            <a:prstDash val="solid"/>
          </a:ln>
        </p:spPr>
      </p:sp>
      <p:pic>
        <p:nvPicPr>
          <p:cNvPr id="20" name="Image 2" descr="preencoded.png">    </p:cNvPr>
          <p:cNvPicPr>
            <a:picLocks noChangeAspect="1"/>
          </p:cNvPicPr>
          <p:nvPr/>
        </p:nvPicPr>
        <p:blipFill>
          <a:blip r:embed="rId3"/>
          <a:stretch>
            <a:fillRect/>
          </a:stretch>
        </p:blipFill>
        <p:spPr>
          <a:xfrm>
            <a:off x="6295644" y="1540764"/>
            <a:ext cx="228600" cy="228600"/>
          </a:xfrm>
          <a:prstGeom prst="rect">
            <a:avLst/>
          </a:prstGeom>
        </p:spPr>
      </p:pic>
      <p:sp>
        <p:nvSpPr>
          <p:cNvPr id="21" name="Text 16"/>
          <p:cNvSpPr txBox="1"/>
          <p:nvPr/>
        </p:nvSpPr>
        <p:spPr>
          <a:xfrm>
            <a:off x="6729984" y="1426464"/>
            <a:ext cx="1883664" cy="457200"/>
          </a:xfrm>
          <a:prstGeom prst="rect">
            <a:avLst/>
          </a:prstGeom>
          <a:noFill/>
          <a:ln/>
        </p:spPr>
        <p:txBody>
          <a:bodyPr wrap="square" lIns="0" tIns="0" rIns="0" bIns="0" rtlCol="0" anchor="ctr"/>
          <a:lstStyle/>
          <a:p>
            <a:pPr indent="0" marL="0">
              <a:buNone/>
            </a:pPr>
            <a:r>
              <a:rPr lang="en-US" sz="1250" b="1" dirty="0">
                <a:solidFill>
                  <a:srgbClr val="111827"/>
                </a:solidFill>
                <a:latin typeface="Calibri" pitchFamily="34" charset="0"/>
                <a:ea typeface="Calibri" pitchFamily="34" charset="-122"/>
                <a:cs typeface="Calibri" pitchFamily="34" charset="-120"/>
              </a:rPr>
              <a:t>Clinician availability</a:t>
            </a:r>
            <a:endParaRPr lang="en-US" sz="1250" dirty="0"/>
          </a:p>
        </p:txBody>
      </p:sp>
      <p:sp>
        <p:nvSpPr>
          <p:cNvPr id="22" name="Text 17"/>
          <p:cNvSpPr txBox="1"/>
          <p:nvPr/>
        </p:nvSpPr>
        <p:spPr>
          <a:xfrm>
            <a:off x="6181344" y="1956816"/>
            <a:ext cx="2395728" cy="566928"/>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Weekly hours and time off become bookable slots; own fee and consult types</a:t>
            </a:r>
            <a:endParaRPr lang="en-US" sz="1000" dirty="0"/>
          </a:p>
        </p:txBody>
      </p:sp>
      <p:sp>
        <p:nvSpPr>
          <p:cNvPr id="23" name="Shape 18"/>
          <p:cNvSpPr/>
          <p:nvPr/>
        </p:nvSpPr>
        <p:spPr>
          <a:xfrm>
            <a:off x="6181344" y="2560320"/>
            <a:ext cx="1565453" cy="237744"/>
          </a:xfrm>
          <a:prstGeom prst="roundRect">
            <a:avLst>
              <a:gd name="adj" fmla="val 50000"/>
            </a:avLst>
          </a:prstGeom>
          <a:solidFill>
            <a:srgbClr val="E6F4F1"/>
          </a:solidFill>
          <a:ln w="12700">
            <a:solidFill>
              <a:srgbClr val="E6F4F1"/>
            </a:solidFill>
            <a:prstDash val="solid"/>
          </a:ln>
        </p:spPr>
      </p:sp>
      <p:sp>
        <p:nvSpPr>
          <p:cNvPr id="24" name="Text 19"/>
          <p:cNvSpPr txBox="1"/>
          <p:nvPr/>
        </p:nvSpPr>
        <p:spPr>
          <a:xfrm>
            <a:off x="6181344" y="2560320"/>
            <a:ext cx="1565453"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Clinicians · front desk</a:t>
            </a:r>
            <a:endParaRPr lang="en-US" sz="850" dirty="0"/>
          </a:p>
        </p:txBody>
      </p:sp>
      <p:sp>
        <p:nvSpPr>
          <p:cNvPr id="25" name="Shape 20"/>
          <p:cNvSpPr/>
          <p:nvPr/>
        </p:nvSpPr>
        <p:spPr>
          <a:xfrm>
            <a:off x="457200" y="3035808"/>
            <a:ext cx="2651760" cy="1609344"/>
          </a:xfrm>
          <a:prstGeom prst="roundRect">
            <a:avLst>
              <a:gd name="adj" fmla="val 6818"/>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6" name="Shape 21"/>
          <p:cNvSpPr/>
          <p:nvPr/>
        </p:nvSpPr>
        <p:spPr>
          <a:xfrm>
            <a:off x="603504" y="3182112"/>
            <a:ext cx="457200" cy="457200"/>
          </a:xfrm>
          <a:prstGeom prst="ellipse">
            <a:avLst/>
          </a:prstGeom>
          <a:solidFill>
            <a:srgbClr val="1B6B63"/>
          </a:solidFill>
          <a:ln w="12700">
            <a:solidFill>
              <a:srgbClr val="1B6B63"/>
            </a:solidFill>
            <a:prstDash val="solid"/>
          </a:ln>
        </p:spPr>
      </p:sp>
      <p:pic>
        <p:nvPicPr>
          <p:cNvPr id="27" name="Image 3" descr="preencoded.png">    </p:cNvPr>
          <p:cNvPicPr>
            <a:picLocks noChangeAspect="1"/>
          </p:cNvPicPr>
          <p:nvPr/>
        </p:nvPicPr>
        <p:blipFill>
          <a:blip r:embed="rId4"/>
          <a:stretch>
            <a:fillRect/>
          </a:stretch>
        </p:blipFill>
        <p:spPr>
          <a:xfrm>
            <a:off x="717804" y="3296412"/>
            <a:ext cx="228600" cy="228600"/>
          </a:xfrm>
          <a:prstGeom prst="rect">
            <a:avLst/>
          </a:prstGeom>
        </p:spPr>
      </p:pic>
      <p:sp>
        <p:nvSpPr>
          <p:cNvPr id="28" name="Text 22"/>
          <p:cNvSpPr txBox="1"/>
          <p:nvPr/>
        </p:nvSpPr>
        <p:spPr>
          <a:xfrm>
            <a:off x="1152144" y="3182112"/>
            <a:ext cx="1883664" cy="457200"/>
          </a:xfrm>
          <a:prstGeom prst="rect">
            <a:avLst/>
          </a:prstGeom>
          <a:noFill/>
          <a:ln/>
        </p:spPr>
        <p:txBody>
          <a:bodyPr wrap="square" lIns="0" tIns="0" rIns="0" bIns="0" rtlCol="0" anchor="ctr"/>
          <a:lstStyle/>
          <a:p>
            <a:pPr indent="0" marL="0">
              <a:buNone/>
            </a:pPr>
            <a:r>
              <a:rPr lang="en-US" sz="1250" b="1" dirty="0">
                <a:solidFill>
                  <a:srgbClr val="111827"/>
                </a:solidFill>
                <a:latin typeface="Calibri" pitchFamily="34" charset="0"/>
                <a:ea typeface="Calibri" pitchFamily="34" charset="-122"/>
                <a:cs typeface="Calibri" pitchFamily="34" charset="-120"/>
              </a:rPr>
              <a:t>Bulk onboarding</a:t>
            </a:r>
            <a:endParaRPr lang="en-US" sz="1250" dirty="0"/>
          </a:p>
        </p:txBody>
      </p:sp>
      <p:sp>
        <p:nvSpPr>
          <p:cNvPr id="29" name="Text 23"/>
          <p:cNvSpPr txBox="1"/>
          <p:nvPr/>
        </p:nvSpPr>
        <p:spPr>
          <a:xfrm>
            <a:off x="603504" y="3712464"/>
            <a:ext cx="2395728" cy="566928"/>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CSV import with a trial run; directory groups mapped to roles and teams</a:t>
            </a:r>
            <a:endParaRPr lang="en-US" sz="1000" dirty="0"/>
          </a:p>
        </p:txBody>
      </p:sp>
      <p:sp>
        <p:nvSpPr>
          <p:cNvPr id="30" name="Shape 24"/>
          <p:cNvSpPr/>
          <p:nvPr/>
        </p:nvSpPr>
        <p:spPr>
          <a:xfrm>
            <a:off x="603504" y="4315968"/>
            <a:ext cx="1038758" cy="237744"/>
          </a:xfrm>
          <a:prstGeom prst="roundRect">
            <a:avLst>
              <a:gd name="adj" fmla="val 50000"/>
            </a:avLst>
          </a:prstGeom>
          <a:solidFill>
            <a:srgbClr val="E6F4F1"/>
          </a:solidFill>
          <a:ln w="12700">
            <a:solidFill>
              <a:srgbClr val="E6F4F1"/>
            </a:solidFill>
            <a:prstDash val="solid"/>
          </a:ln>
        </p:spPr>
      </p:sp>
      <p:sp>
        <p:nvSpPr>
          <p:cNvPr id="31" name="Text 25"/>
          <p:cNvSpPr txBox="1"/>
          <p:nvPr/>
        </p:nvSpPr>
        <p:spPr>
          <a:xfrm>
            <a:off x="603504" y="4315968"/>
            <a:ext cx="1038758"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Administrators</a:t>
            </a:r>
            <a:endParaRPr lang="en-US" sz="850" dirty="0"/>
          </a:p>
        </p:txBody>
      </p:sp>
      <p:sp>
        <p:nvSpPr>
          <p:cNvPr id="32" name="Shape 26"/>
          <p:cNvSpPr/>
          <p:nvPr/>
        </p:nvSpPr>
        <p:spPr>
          <a:xfrm>
            <a:off x="3246120" y="3035808"/>
            <a:ext cx="2651760" cy="1609344"/>
          </a:xfrm>
          <a:prstGeom prst="roundRect">
            <a:avLst>
              <a:gd name="adj" fmla="val 6818"/>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3" name="Shape 27"/>
          <p:cNvSpPr/>
          <p:nvPr/>
        </p:nvSpPr>
        <p:spPr>
          <a:xfrm>
            <a:off x="3392424" y="3182112"/>
            <a:ext cx="457200" cy="457200"/>
          </a:xfrm>
          <a:prstGeom prst="ellipse">
            <a:avLst/>
          </a:prstGeom>
          <a:solidFill>
            <a:srgbClr val="1B6B63"/>
          </a:solidFill>
          <a:ln w="12700">
            <a:solidFill>
              <a:srgbClr val="1B6B63"/>
            </a:solidFill>
            <a:prstDash val="solid"/>
          </a:ln>
        </p:spPr>
      </p:sp>
      <p:pic>
        <p:nvPicPr>
          <p:cNvPr id="34" name="Image 4" descr="preencoded.png">    </p:cNvPr>
          <p:cNvPicPr>
            <a:picLocks noChangeAspect="1"/>
          </p:cNvPicPr>
          <p:nvPr/>
        </p:nvPicPr>
        <p:blipFill>
          <a:blip r:embed="rId5"/>
          <a:stretch>
            <a:fillRect/>
          </a:stretch>
        </p:blipFill>
        <p:spPr>
          <a:xfrm>
            <a:off x="3506724" y="3296412"/>
            <a:ext cx="228600" cy="228600"/>
          </a:xfrm>
          <a:prstGeom prst="rect">
            <a:avLst/>
          </a:prstGeom>
        </p:spPr>
      </p:pic>
      <p:sp>
        <p:nvSpPr>
          <p:cNvPr id="35" name="Text 28"/>
          <p:cNvSpPr txBox="1"/>
          <p:nvPr/>
        </p:nvSpPr>
        <p:spPr>
          <a:xfrm>
            <a:off x="3941064" y="3182112"/>
            <a:ext cx="1883664" cy="457200"/>
          </a:xfrm>
          <a:prstGeom prst="rect">
            <a:avLst/>
          </a:prstGeom>
          <a:noFill/>
          <a:ln/>
        </p:spPr>
        <p:txBody>
          <a:bodyPr wrap="square" lIns="0" tIns="0" rIns="0" bIns="0" rtlCol="0" anchor="ctr"/>
          <a:lstStyle/>
          <a:p>
            <a:pPr indent="0" marL="0">
              <a:buNone/>
            </a:pPr>
            <a:r>
              <a:rPr lang="en-US" sz="1250" b="1" dirty="0">
                <a:solidFill>
                  <a:srgbClr val="111827"/>
                </a:solidFill>
                <a:latin typeface="Calibri" pitchFamily="34" charset="0"/>
                <a:ea typeface="Calibri" pitchFamily="34" charset="-122"/>
                <a:cs typeface="Calibri" pitchFamily="34" charset="-120"/>
              </a:rPr>
              <a:t>One record per patient</a:t>
            </a:r>
            <a:endParaRPr lang="en-US" sz="1250" dirty="0"/>
          </a:p>
        </p:txBody>
      </p:sp>
      <p:sp>
        <p:nvSpPr>
          <p:cNvPr id="36" name="Text 29"/>
          <p:cNvSpPr txBox="1"/>
          <p:nvPr/>
        </p:nvSpPr>
        <p:spPr>
          <a:xfrm>
            <a:off x="3392424" y="3712464"/>
            <a:ext cx="2395728" cy="566928"/>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Duplicates matched on identifiers, names, birth date; review and merge</a:t>
            </a:r>
            <a:endParaRPr lang="en-US" sz="1000" dirty="0"/>
          </a:p>
        </p:txBody>
      </p:sp>
      <p:sp>
        <p:nvSpPr>
          <p:cNvPr id="37" name="Shape 30"/>
          <p:cNvSpPr/>
          <p:nvPr/>
        </p:nvSpPr>
        <p:spPr>
          <a:xfrm>
            <a:off x="3392424" y="4315968"/>
            <a:ext cx="1331366" cy="237744"/>
          </a:xfrm>
          <a:prstGeom prst="roundRect">
            <a:avLst>
              <a:gd name="adj" fmla="val 50000"/>
            </a:avLst>
          </a:prstGeom>
          <a:solidFill>
            <a:srgbClr val="E6F4F1"/>
          </a:solidFill>
          <a:ln w="12700">
            <a:solidFill>
              <a:srgbClr val="E6F4F1"/>
            </a:solidFill>
            <a:prstDash val="solid"/>
          </a:ln>
        </p:spPr>
      </p:sp>
      <p:sp>
        <p:nvSpPr>
          <p:cNvPr id="38" name="Text 31"/>
          <p:cNvSpPr txBox="1"/>
          <p:nvPr/>
        </p:nvSpPr>
        <p:spPr>
          <a:xfrm>
            <a:off x="3392424" y="4315968"/>
            <a:ext cx="1331366"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Front desk · admins</a:t>
            </a:r>
            <a:endParaRPr lang="en-US" sz="850" dirty="0"/>
          </a:p>
        </p:txBody>
      </p:sp>
      <p:sp>
        <p:nvSpPr>
          <p:cNvPr id="39" name="Shape 32"/>
          <p:cNvSpPr/>
          <p:nvPr/>
        </p:nvSpPr>
        <p:spPr>
          <a:xfrm>
            <a:off x="6035040" y="3035808"/>
            <a:ext cx="2651760" cy="1609344"/>
          </a:xfrm>
          <a:prstGeom prst="roundRect">
            <a:avLst>
              <a:gd name="adj" fmla="val 6818"/>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40" name="Shape 33"/>
          <p:cNvSpPr/>
          <p:nvPr/>
        </p:nvSpPr>
        <p:spPr>
          <a:xfrm>
            <a:off x="6181344" y="3182112"/>
            <a:ext cx="457200" cy="457200"/>
          </a:xfrm>
          <a:prstGeom prst="ellipse">
            <a:avLst/>
          </a:prstGeom>
          <a:solidFill>
            <a:srgbClr val="1B6B63"/>
          </a:solidFill>
          <a:ln w="12700">
            <a:solidFill>
              <a:srgbClr val="1B6B63"/>
            </a:solidFill>
            <a:prstDash val="solid"/>
          </a:ln>
        </p:spPr>
      </p:sp>
      <p:pic>
        <p:nvPicPr>
          <p:cNvPr id="41" name="Image 5" descr="preencoded.png">    </p:cNvPr>
          <p:cNvPicPr>
            <a:picLocks noChangeAspect="1"/>
          </p:cNvPicPr>
          <p:nvPr/>
        </p:nvPicPr>
        <p:blipFill>
          <a:blip r:embed="rId6"/>
          <a:stretch>
            <a:fillRect/>
          </a:stretch>
        </p:blipFill>
        <p:spPr>
          <a:xfrm>
            <a:off x="6295644" y="3296412"/>
            <a:ext cx="228600" cy="228600"/>
          </a:xfrm>
          <a:prstGeom prst="rect">
            <a:avLst/>
          </a:prstGeom>
        </p:spPr>
      </p:pic>
      <p:sp>
        <p:nvSpPr>
          <p:cNvPr id="42" name="Text 34"/>
          <p:cNvSpPr txBox="1"/>
          <p:nvPr/>
        </p:nvSpPr>
        <p:spPr>
          <a:xfrm>
            <a:off x="6729984" y="3182112"/>
            <a:ext cx="1883664" cy="457200"/>
          </a:xfrm>
          <a:prstGeom prst="rect">
            <a:avLst/>
          </a:prstGeom>
          <a:noFill/>
          <a:ln/>
        </p:spPr>
        <p:txBody>
          <a:bodyPr wrap="square" lIns="0" tIns="0" rIns="0" bIns="0" rtlCol="0" anchor="ctr"/>
          <a:lstStyle/>
          <a:p>
            <a:pPr indent="0" marL="0">
              <a:buNone/>
            </a:pPr>
            <a:r>
              <a:rPr lang="en-US" sz="1250" b="1" dirty="0">
                <a:solidFill>
                  <a:srgbClr val="111827"/>
                </a:solidFill>
                <a:latin typeface="Calibri" pitchFamily="34" charset="0"/>
                <a:ea typeface="Calibri" pitchFamily="34" charset="-122"/>
                <a:cs typeface="Calibri" pitchFamily="34" charset="-120"/>
              </a:rPr>
              <a:t>Phone app and push</a:t>
            </a:r>
            <a:endParaRPr lang="en-US" sz="1250" dirty="0"/>
          </a:p>
        </p:txBody>
      </p:sp>
      <p:sp>
        <p:nvSpPr>
          <p:cNvPr id="43" name="Text 35"/>
          <p:cNvSpPr txBox="1"/>
          <p:nvPr/>
        </p:nvSpPr>
        <p:spPr>
          <a:xfrm>
            <a:off x="6181344" y="3712464"/>
            <a:ext cx="2395728" cy="566928"/>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Installs to the home screen on iPhone and Android; lock-screen reminders</a:t>
            </a:r>
            <a:endParaRPr lang="en-US" sz="1000" dirty="0"/>
          </a:p>
        </p:txBody>
      </p:sp>
      <p:sp>
        <p:nvSpPr>
          <p:cNvPr id="44" name="Shape 36"/>
          <p:cNvSpPr/>
          <p:nvPr/>
        </p:nvSpPr>
        <p:spPr>
          <a:xfrm>
            <a:off x="6181344" y="4315968"/>
            <a:ext cx="1448410" cy="237744"/>
          </a:xfrm>
          <a:prstGeom prst="roundRect">
            <a:avLst>
              <a:gd name="adj" fmla="val 50000"/>
            </a:avLst>
          </a:prstGeom>
          <a:solidFill>
            <a:srgbClr val="E6F4F1"/>
          </a:solidFill>
          <a:ln w="12700">
            <a:solidFill>
              <a:srgbClr val="E6F4F1"/>
            </a:solidFill>
            <a:prstDash val="solid"/>
          </a:ln>
        </p:spPr>
      </p:sp>
      <p:sp>
        <p:nvSpPr>
          <p:cNvPr id="45" name="Text 37"/>
          <p:cNvSpPr txBox="1"/>
          <p:nvPr/>
        </p:nvSpPr>
        <p:spPr>
          <a:xfrm>
            <a:off x="6181344" y="4315968"/>
            <a:ext cx="1448410"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Patients · caregivers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Day one: how each persona gets in</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No tickets, no shared passwords, and each role ready to work on first sign-in</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325880"/>
                <a:gridCol w="3657600"/>
                <a:gridCol w="3246120"/>
              </a:tblGrid>
              <a:tr h="4114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Persona</a:t>
                      </a:r>
                      <a:endParaRPr lang="en-US" sz="11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6B6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How they join</a:t>
                      </a:r>
                      <a:endParaRPr lang="en-US" sz="11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6B6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Ready on first sign-in</a:t>
                      </a:r>
                      <a:endParaRPr lang="en-US" sz="11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6B63"/>
                    </a:solidFill>
                  </a:tcPr>
                </a:tc>
              </a:tr>
              <a:tr h="411480">
                <a:tc>
                  <a:txBody>
                    <a:bodyPr/>
                    <a:lstStyle/>
                    <a:p>
                      <a:pPr indent="0" marL="0">
                        <a:buNone/>
                      </a:pPr>
                      <a:r>
                        <a:rPr lang="en-US" sz="1000" b="1" dirty="0">
                          <a:solidFill>
                            <a:srgbClr val="134E4A"/>
                          </a:solidFill>
                          <a:latin typeface="Calibri" pitchFamily="34" charset="0"/>
                          <a:ea typeface="Calibri" pitchFamily="34" charset="-122"/>
                          <a:cs typeface="Calibri" pitchFamily="34" charset="-120"/>
                        </a:rPr>
                        <a:t>Patients</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Invite link from the clinic, birth-date check, then Google or an email code</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Their record, linked to any existing one; app on their phone</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11480">
                <a:tc>
                  <a:txBody>
                    <a:bodyPr/>
                    <a:lstStyle/>
                    <a:p>
                      <a:pPr indent="0" marL="0">
                        <a:buNone/>
                      </a:pPr>
                      <a:r>
                        <a:rPr lang="en-US" sz="1000" b="1" dirty="0">
                          <a:solidFill>
                            <a:srgbClr val="134E4A"/>
                          </a:solidFill>
                          <a:latin typeface="Calibri" pitchFamily="34" charset="0"/>
                          <a:ea typeface="Calibri" pitchFamily="34" charset="-122"/>
                          <a:cs typeface="Calibri" pitchFamily="34" charset="-120"/>
                        </a:rPr>
                        <a:t>Caregivers</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Their own patient account; the patient grants access</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Only what the patient shares, revocable in one click</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r>
              <a:tr h="411480">
                <a:tc>
                  <a:txBody>
                    <a:bodyPr/>
                    <a:lstStyle/>
                    <a:p>
                      <a:pPr indent="0" marL="0">
                        <a:buNone/>
                      </a:pPr>
                      <a:r>
                        <a:rPr lang="en-US" sz="1000" b="1" dirty="0">
                          <a:solidFill>
                            <a:srgbClr val="134E4A"/>
                          </a:solidFill>
                          <a:latin typeface="Calibri" pitchFamily="34" charset="0"/>
                          <a:ea typeface="Calibri" pitchFamily="34" charset="-122"/>
                          <a:cs typeface="Calibri" pitchFamily="34" charset="-120"/>
                        </a:rPr>
                        <a:t>Clinicians</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Added by an admin, CSV import or a directory group; license verified</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Workspace and queue; bookable once they set their hours</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11480">
                <a:tc>
                  <a:txBody>
                    <a:bodyPr/>
                    <a:lstStyle/>
                    <a:p>
                      <a:pPr indent="0" marL="0">
                        <a:buNone/>
                      </a:pPr>
                      <a:r>
                        <a:rPr lang="en-US" sz="1000" b="1" dirty="0">
                          <a:solidFill>
                            <a:srgbClr val="134E4A"/>
                          </a:solidFill>
                          <a:latin typeface="Calibri" pitchFamily="34" charset="0"/>
                          <a:ea typeface="Calibri" pitchFamily="34" charset="-122"/>
                          <a:cs typeface="Calibri" pitchFamily="34" charset="-120"/>
                        </a:rPr>
                        <a:t>Pharmacists</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Staff on the pharmacy team, by admin, CSV or group rule</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Verification queue for their pharmacy</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r>
              <a:tr h="411480">
                <a:tc>
                  <a:txBody>
                    <a:bodyPr/>
                    <a:lstStyle/>
                    <a:p>
                      <a:pPr indent="0" marL="0">
                        <a:buNone/>
                      </a:pPr>
                      <a:r>
                        <a:rPr lang="en-US" sz="1000" b="1" dirty="0">
                          <a:solidFill>
                            <a:srgbClr val="134E4A"/>
                          </a:solidFill>
                          <a:latin typeface="Calibri" pitchFamily="34" charset="0"/>
                          <a:ea typeface="Calibri" pitchFamily="34" charset="-122"/>
                          <a:cs typeface="Calibri" pitchFamily="34" charset="-120"/>
                        </a:rPr>
                        <a:t>Front desk</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Staff on the front-desk team, by admin, CSV or group rule</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Eligibility, invites, duplicates, clinician schedules</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11480">
                <a:tc>
                  <a:txBody>
                    <a:bodyPr/>
                    <a:lstStyle/>
                    <a:p>
                      <a:pPr indent="0" marL="0">
                        <a:buNone/>
                      </a:pPr>
                      <a:r>
                        <a:rPr lang="en-US" sz="1000" b="1" dirty="0">
                          <a:solidFill>
                            <a:srgbClr val="134E4A"/>
                          </a:solidFill>
                          <a:latin typeface="Calibri" pitchFamily="34" charset="0"/>
                          <a:ea typeface="Calibri" pitchFamily="34" charset="-122"/>
                          <a:cs typeface="Calibri" pitchFamily="34" charset="-120"/>
                        </a:rPr>
                        <a:t>Administrators</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First one set at deployment; others promoted in People &amp; sign-in</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People, sign-in rules, operations, AI governance</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r>
              <a:tr h="411480">
                <a:tc>
                  <a:txBody>
                    <a:bodyPr/>
                    <a:lstStyle/>
                    <a:p>
                      <a:pPr indent="0" marL="0">
                        <a:buNone/>
                      </a:pPr>
                      <a:r>
                        <a:rPr lang="en-US" sz="1000" b="1" dirty="0">
                          <a:solidFill>
                            <a:srgbClr val="134E4A"/>
                          </a:solidFill>
                          <a:latin typeface="Calibri" pitchFamily="34" charset="0"/>
                          <a:ea typeface="Calibri" pitchFamily="34" charset="-122"/>
                          <a:cs typeface="Calibri" pitchFamily="34" charset="-120"/>
                        </a:rPr>
                        <a:t>Students</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Google domain rule, e.g. every university account</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Case library and tutor; never patient records</a:t>
                      </a:r>
                      <a:endParaRPr lang="en-US" sz="100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Meet Maya Thornton</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54, managing high blood pressure and a new cholesterol medicine; prefers Spanish</a:t>
            </a:r>
            <a:endParaRPr lang="en-US" sz="1300" dirty="0"/>
          </a:p>
        </p:txBody>
      </p:sp>
      <p:sp>
        <p:nvSpPr>
          <p:cNvPr id="4" name="Shape 2"/>
          <p:cNvSpPr/>
          <p:nvPr/>
        </p:nvSpPr>
        <p:spPr>
          <a:xfrm>
            <a:off x="457200" y="1325880"/>
            <a:ext cx="3063240" cy="3429000"/>
          </a:xfrm>
          <a:prstGeom prst="roundRect">
            <a:avLst>
              <a:gd name="adj" fmla="val 358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658368" y="1481328"/>
            <a:ext cx="658368" cy="658368"/>
          </a:xfrm>
          <a:prstGeom prst="ellipse">
            <a:avLst/>
          </a:prstGeom>
          <a:solidFill>
            <a:srgbClr val="1B6B63"/>
          </a:solidFill>
          <a:ln w="25400">
            <a:solidFill>
              <a:srgbClr val="FFFFFF"/>
            </a:solidFill>
            <a:prstDash val="solid"/>
          </a:ln>
        </p:spPr>
      </p:sp>
      <p:sp>
        <p:nvSpPr>
          <p:cNvPr id="6" name="Text 4"/>
          <p:cNvSpPr txBox="1"/>
          <p:nvPr/>
        </p:nvSpPr>
        <p:spPr>
          <a:xfrm>
            <a:off x="658368" y="1481328"/>
            <a:ext cx="658368" cy="658368"/>
          </a:xfrm>
          <a:prstGeom prst="rect">
            <a:avLst/>
          </a:prstGeom>
          <a:noFill/>
          <a:ln/>
        </p:spPr>
        <p:txBody>
          <a:bodyPr wrap="square" lIns="0" tIns="0" rIns="0" bIns="0" rtlCol="0" anchor="ctr"/>
          <a:lstStyle/>
          <a:p>
            <a:pPr algn="ctr" indent="0" marL="0">
              <a:buNone/>
            </a:pPr>
            <a:r>
              <a:rPr lang="en-US" sz="1584" b="1" dirty="0">
                <a:solidFill>
                  <a:srgbClr val="FFFFFF"/>
                </a:solidFill>
                <a:latin typeface="Calibri" pitchFamily="34" charset="0"/>
                <a:ea typeface="Calibri" pitchFamily="34" charset="-122"/>
                <a:cs typeface="Calibri" pitchFamily="34" charset="-120"/>
              </a:rPr>
              <a:t>MT</a:t>
            </a:r>
            <a:endParaRPr lang="en-US" sz="1584" dirty="0"/>
          </a:p>
        </p:txBody>
      </p:sp>
      <p:sp>
        <p:nvSpPr>
          <p:cNvPr id="7" name="Text 5"/>
          <p:cNvSpPr txBox="1"/>
          <p:nvPr/>
        </p:nvSpPr>
        <p:spPr>
          <a:xfrm>
            <a:off x="1444752" y="1481328"/>
            <a:ext cx="2011680" cy="658368"/>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Maya Thornton</a:t>
            </a:r>
            <a:endParaRPr lang="en-US" sz="1400" dirty="0"/>
          </a:p>
        </p:txBody>
      </p:sp>
      <p:sp>
        <p:nvSpPr>
          <p:cNvPr id="8" name="Text 6"/>
          <p:cNvSpPr txBox="1"/>
          <p:nvPr/>
        </p:nvSpPr>
        <p:spPr>
          <a:xfrm>
            <a:off x="658368" y="2212848"/>
            <a:ext cx="2743200" cy="384048"/>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Patient · allergic to penicillin · sees a cardiologist</a:t>
            </a:r>
            <a:endParaRPr lang="en-US" sz="1000" dirty="0"/>
          </a:p>
        </p:txBody>
      </p:sp>
      <p:sp>
        <p:nvSpPr>
          <p:cNvPr id="9" name="Text 7"/>
          <p:cNvSpPr txBox="1"/>
          <p:nvPr/>
        </p:nvSpPr>
        <p:spPr>
          <a:xfrm>
            <a:off x="658368" y="2651760"/>
            <a:ext cx="2743200" cy="237744"/>
          </a:xfrm>
          <a:prstGeom prst="rect">
            <a:avLst/>
          </a:prstGeom>
          <a:noFill/>
          <a:ln/>
        </p:spPr>
        <p:txBody>
          <a:bodyPr wrap="square" lIns="0" tIns="0" rIns="0" bIns="0" rtlCol="0" anchor="t"/>
          <a:lstStyle/>
          <a:p>
            <a:pPr indent="0" marL="0">
              <a:buNone/>
            </a:pPr>
            <a:r>
              <a:rPr lang="en-US" sz="1150" b="1" dirty="0">
                <a:solidFill>
                  <a:srgbClr val="134E4A"/>
                </a:solidFill>
                <a:latin typeface="Calibri" pitchFamily="34" charset="0"/>
                <a:ea typeface="Calibri" pitchFamily="34" charset="-122"/>
                <a:cs typeface="Calibri" pitchFamily="34" charset="-120"/>
              </a:rPr>
              <a:t>Goals</a:t>
            </a:r>
            <a:endParaRPr lang="en-US" sz="1150" dirty="0"/>
          </a:p>
        </p:txBody>
      </p:sp>
      <p:sp>
        <p:nvSpPr>
          <p:cNvPr id="10" name="Text 8"/>
          <p:cNvSpPr txBox="1"/>
          <p:nvPr/>
        </p:nvSpPr>
        <p:spPr>
          <a:xfrm>
            <a:off x="658368" y="2889504"/>
            <a:ext cx="2697480" cy="822960"/>
          </a:xfrm>
          <a:prstGeom prst="rect">
            <a:avLst/>
          </a:prstGeom>
          <a:noFill/>
          <a:ln/>
        </p:spPr>
        <p:txBody>
          <a:bodyPr wrap="square" lIns="0" tIns="0" rIns="0" bIns="0" rtlCol="0" anchor="t"/>
          <a:lstStyle/>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Understand results without the jargon</a:t>
            </a:r>
            <a:endParaRPr lang="en-US" sz="1000" dirty="0"/>
          </a:p>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Keep blood pressure and cholesterol in check</a:t>
            </a:r>
            <a:endParaRPr lang="en-US" sz="1000" dirty="0"/>
          </a:p>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Get answers without phone tag</a:t>
            </a:r>
            <a:endParaRPr lang="en-US" sz="1000" dirty="0"/>
          </a:p>
        </p:txBody>
      </p:sp>
      <p:sp>
        <p:nvSpPr>
          <p:cNvPr id="11" name="Text 9"/>
          <p:cNvSpPr txBox="1"/>
          <p:nvPr/>
        </p:nvSpPr>
        <p:spPr>
          <a:xfrm>
            <a:off x="658368" y="3730752"/>
            <a:ext cx="2743200" cy="237744"/>
          </a:xfrm>
          <a:prstGeom prst="rect">
            <a:avLst/>
          </a:prstGeom>
          <a:noFill/>
          <a:ln/>
        </p:spPr>
        <p:txBody>
          <a:bodyPr wrap="square" lIns="0" tIns="0" rIns="0" bIns="0" rtlCol="0" anchor="t"/>
          <a:lstStyle/>
          <a:p>
            <a:pPr indent="0" marL="0">
              <a:buNone/>
            </a:pPr>
            <a:r>
              <a:rPr lang="en-US" sz="1150" b="1" dirty="0">
                <a:solidFill>
                  <a:srgbClr val="DC2626"/>
                </a:solidFill>
                <a:latin typeface="Calibri" pitchFamily="34" charset="0"/>
                <a:ea typeface="Calibri" pitchFamily="34" charset="-122"/>
                <a:cs typeface="Calibri" pitchFamily="34" charset="-120"/>
              </a:rPr>
              <a:t>Frustrations today</a:t>
            </a:r>
            <a:endParaRPr lang="en-US" sz="1150" dirty="0"/>
          </a:p>
        </p:txBody>
      </p:sp>
      <p:sp>
        <p:nvSpPr>
          <p:cNvPr id="12" name="Text 10"/>
          <p:cNvSpPr txBox="1"/>
          <p:nvPr/>
        </p:nvSpPr>
        <p:spPr>
          <a:xfrm>
            <a:off x="658368" y="3968496"/>
            <a:ext cx="2697480" cy="749808"/>
          </a:xfrm>
          <a:prstGeom prst="rect">
            <a:avLst/>
          </a:prstGeom>
          <a:noFill/>
          <a:ln/>
        </p:spPr>
        <p:txBody>
          <a:bodyPr wrap="square" lIns="0" tIns="0" rIns="0" bIns="0" rtlCol="0" anchor="t"/>
          <a:lstStyle/>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Results arrive with no explanation</a:t>
            </a:r>
            <a:endParaRPr lang="en-US" sz="1000" dirty="0"/>
          </a:p>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Doesn't know if a reading is dangerous</a:t>
            </a:r>
            <a:endParaRPr lang="en-US" sz="1000" dirty="0"/>
          </a:p>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Forgets evening doses</a:t>
            </a:r>
            <a:endParaRPr lang="en-US" sz="1000" dirty="0"/>
          </a:p>
        </p:txBody>
      </p:sp>
      <p:sp>
        <p:nvSpPr>
          <p:cNvPr id="13" name="Text 11"/>
          <p:cNvSpPr txBox="1"/>
          <p:nvPr/>
        </p:nvSpPr>
        <p:spPr>
          <a:xfrm>
            <a:off x="3794760" y="1325880"/>
            <a:ext cx="4892040" cy="320040"/>
          </a:xfrm>
          <a:prstGeom prst="rect">
            <a:avLst/>
          </a:prstGeom>
          <a:noFill/>
          <a:ln/>
        </p:spPr>
        <p:txBody>
          <a:bodyPr wrap="square" lIns="0" tIns="0" rIns="0" bIns="0" rtlCol="0" anchor="t"/>
          <a:lstStyle/>
          <a:p>
            <a:pPr indent="0" marL="0">
              <a:buNone/>
            </a:pPr>
            <a:r>
              <a:rPr lang="en-US" sz="1400" b="1" dirty="0">
                <a:solidFill>
                  <a:srgbClr val="134E4A"/>
                </a:solidFill>
                <a:latin typeface="Calibri" pitchFamily="34" charset="0"/>
                <a:ea typeface="Calibri" pitchFamily="34" charset="-122"/>
                <a:cs typeface="Calibri" pitchFamily="34" charset="-120"/>
              </a:rPr>
              <a:t>What Bioverse One gives her</a:t>
            </a:r>
            <a:endParaRPr lang="en-US" sz="1400" dirty="0"/>
          </a:p>
        </p:txBody>
      </p:sp>
      <p:sp>
        <p:nvSpPr>
          <p:cNvPr id="14" name="Shape 12"/>
          <p:cNvSpPr/>
          <p:nvPr/>
        </p:nvSpPr>
        <p:spPr>
          <a:xfrm>
            <a:off x="3794760" y="1737360"/>
            <a:ext cx="4892040" cy="530352"/>
          </a:xfrm>
          <a:prstGeom prst="roundRect">
            <a:avLst>
              <a:gd name="adj" fmla="val 2069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5" name="Shape 13"/>
          <p:cNvSpPr/>
          <p:nvPr/>
        </p:nvSpPr>
        <p:spPr>
          <a:xfrm>
            <a:off x="3904488" y="1792224"/>
            <a:ext cx="420624" cy="420624"/>
          </a:xfrm>
          <a:prstGeom prst="ellipse">
            <a:avLst/>
          </a:prstGeom>
          <a:solidFill>
            <a:srgbClr val="1B6B63"/>
          </a:solidFill>
          <a:ln w="12700">
            <a:solidFill>
              <a:srgbClr val="1B6B63"/>
            </a:solidFill>
            <a:prstDash val="solid"/>
          </a:ln>
        </p:spPr>
      </p:sp>
      <p:pic>
        <p:nvPicPr>
          <p:cNvPr id="16" name="Image 0" descr="preencoded.png">    </p:cNvPr>
          <p:cNvPicPr>
            <a:picLocks noChangeAspect="1"/>
          </p:cNvPicPr>
          <p:nvPr/>
        </p:nvPicPr>
        <p:blipFill>
          <a:blip r:embed="rId1"/>
          <a:stretch>
            <a:fillRect/>
          </a:stretch>
        </p:blipFill>
        <p:spPr>
          <a:xfrm>
            <a:off x="4009644" y="1897380"/>
            <a:ext cx="210312" cy="210312"/>
          </a:xfrm>
          <a:prstGeom prst="rect">
            <a:avLst/>
          </a:prstGeom>
        </p:spPr>
      </p:pic>
      <p:sp>
        <p:nvSpPr>
          <p:cNvPr id="17" name="Text 14"/>
          <p:cNvSpPr txBox="1"/>
          <p:nvPr/>
        </p:nvSpPr>
        <p:spPr>
          <a:xfrm>
            <a:off x="4434840" y="1792224"/>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Ask anything, any time</a:t>
            </a:r>
            <a:endParaRPr lang="en-US" sz="1200" dirty="0"/>
          </a:p>
        </p:txBody>
      </p:sp>
      <p:sp>
        <p:nvSpPr>
          <p:cNvPr id="18" name="Text 15"/>
          <p:cNvSpPr txBox="1"/>
          <p:nvPr/>
        </p:nvSpPr>
        <p:spPr>
          <a:xfrm>
            <a:off x="4434840" y="2029968"/>
            <a:ext cx="4160520" cy="21945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By text, voice or photo; emergencies are always caught first</a:t>
            </a:r>
            <a:endParaRPr lang="en-US" sz="950" dirty="0"/>
          </a:p>
        </p:txBody>
      </p:sp>
      <p:sp>
        <p:nvSpPr>
          <p:cNvPr id="19" name="Shape 16"/>
          <p:cNvSpPr/>
          <p:nvPr/>
        </p:nvSpPr>
        <p:spPr>
          <a:xfrm>
            <a:off x="3794760" y="2359152"/>
            <a:ext cx="4892040" cy="530352"/>
          </a:xfrm>
          <a:prstGeom prst="roundRect">
            <a:avLst>
              <a:gd name="adj" fmla="val 2069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0" name="Shape 17"/>
          <p:cNvSpPr/>
          <p:nvPr/>
        </p:nvSpPr>
        <p:spPr>
          <a:xfrm>
            <a:off x="3904488" y="2414016"/>
            <a:ext cx="420624" cy="420624"/>
          </a:xfrm>
          <a:prstGeom prst="ellipse">
            <a:avLst/>
          </a:prstGeom>
          <a:solidFill>
            <a:srgbClr val="1B6B63"/>
          </a:solidFill>
          <a:ln w="12700">
            <a:solidFill>
              <a:srgbClr val="1B6B63"/>
            </a:solidFill>
            <a:prstDash val="solid"/>
          </a:ln>
        </p:spPr>
      </p:sp>
      <p:pic>
        <p:nvPicPr>
          <p:cNvPr id="21" name="Image 1" descr="preencoded.png">    </p:cNvPr>
          <p:cNvPicPr>
            <a:picLocks noChangeAspect="1"/>
          </p:cNvPicPr>
          <p:nvPr/>
        </p:nvPicPr>
        <p:blipFill>
          <a:blip r:embed="rId2"/>
          <a:stretch>
            <a:fillRect/>
          </a:stretch>
        </p:blipFill>
        <p:spPr>
          <a:xfrm>
            <a:off x="4009644" y="2519172"/>
            <a:ext cx="210312" cy="210312"/>
          </a:xfrm>
          <a:prstGeom prst="rect">
            <a:avLst/>
          </a:prstGeom>
        </p:spPr>
      </p:pic>
      <p:sp>
        <p:nvSpPr>
          <p:cNvPr id="22" name="Text 18"/>
          <p:cNvSpPr txBox="1"/>
          <p:nvPr/>
        </p:nvSpPr>
        <p:spPr>
          <a:xfrm>
            <a:off x="4434840" y="2414016"/>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Know when a reading matters</a:t>
            </a:r>
            <a:endParaRPr lang="en-US" sz="1200" dirty="0"/>
          </a:p>
        </p:txBody>
      </p:sp>
      <p:sp>
        <p:nvSpPr>
          <p:cNvPr id="23" name="Text 19"/>
          <p:cNvSpPr txBox="1"/>
          <p:nvPr/>
        </p:nvSpPr>
        <p:spPr>
          <a:xfrm>
            <a:off x="4434840" y="2651760"/>
            <a:ext cx="4160520" cy="21945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Instant guidance on home readings; her care team is alerted</a:t>
            </a:r>
            <a:endParaRPr lang="en-US" sz="950" dirty="0"/>
          </a:p>
        </p:txBody>
      </p:sp>
      <p:sp>
        <p:nvSpPr>
          <p:cNvPr id="24" name="Shape 20"/>
          <p:cNvSpPr/>
          <p:nvPr/>
        </p:nvSpPr>
        <p:spPr>
          <a:xfrm>
            <a:off x="3794760" y="2980944"/>
            <a:ext cx="4892040" cy="530352"/>
          </a:xfrm>
          <a:prstGeom prst="roundRect">
            <a:avLst>
              <a:gd name="adj" fmla="val 2069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5" name="Shape 21"/>
          <p:cNvSpPr/>
          <p:nvPr/>
        </p:nvSpPr>
        <p:spPr>
          <a:xfrm>
            <a:off x="3904488" y="3035808"/>
            <a:ext cx="420624" cy="420624"/>
          </a:xfrm>
          <a:prstGeom prst="ellipse">
            <a:avLst/>
          </a:prstGeom>
          <a:solidFill>
            <a:srgbClr val="1B6B63"/>
          </a:solidFill>
          <a:ln w="12700">
            <a:solidFill>
              <a:srgbClr val="1B6B63"/>
            </a:solidFill>
            <a:prstDash val="solid"/>
          </a:ln>
        </p:spPr>
      </p:sp>
      <p:pic>
        <p:nvPicPr>
          <p:cNvPr id="26" name="Image 2" descr="preencoded.png">    </p:cNvPr>
          <p:cNvPicPr>
            <a:picLocks noChangeAspect="1"/>
          </p:cNvPicPr>
          <p:nvPr/>
        </p:nvPicPr>
        <p:blipFill>
          <a:blip r:embed="rId3"/>
          <a:stretch>
            <a:fillRect/>
          </a:stretch>
        </p:blipFill>
        <p:spPr>
          <a:xfrm>
            <a:off x="4009644" y="3140964"/>
            <a:ext cx="210312" cy="210312"/>
          </a:xfrm>
          <a:prstGeom prst="rect">
            <a:avLst/>
          </a:prstGeom>
        </p:spPr>
      </p:pic>
      <p:sp>
        <p:nvSpPr>
          <p:cNvPr id="27" name="Text 22"/>
          <p:cNvSpPr txBox="1"/>
          <p:nvPr/>
        </p:nvSpPr>
        <p:spPr>
          <a:xfrm>
            <a:off x="4434840" y="3035808"/>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Results she understands</a:t>
            </a:r>
            <a:endParaRPr lang="en-US" sz="1200" dirty="0"/>
          </a:p>
        </p:txBody>
      </p:sp>
      <p:sp>
        <p:nvSpPr>
          <p:cNvPr id="28" name="Text 23"/>
          <p:cNvSpPr txBox="1"/>
          <p:nvPr/>
        </p:nvSpPr>
        <p:spPr>
          <a:xfrm>
            <a:off x="4434840" y="3273552"/>
            <a:ext cx="4160520" cy="21945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Plain-language explanations, released after her doctor approves</a:t>
            </a:r>
            <a:endParaRPr lang="en-US" sz="950" dirty="0"/>
          </a:p>
        </p:txBody>
      </p:sp>
      <p:sp>
        <p:nvSpPr>
          <p:cNvPr id="29" name="Shape 24"/>
          <p:cNvSpPr/>
          <p:nvPr/>
        </p:nvSpPr>
        <p:spPr>
          <a:xfrm>
            <a:off x="3794760" y="3602736"/>
            <a:ext cx="4892040" cy="530352"/>
          </a:xfrm>
          <a:prstGeom prst="roundRect">
            <a:avLst>
              <a:gd name="adj" fmla="val 2069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0" name="Shape 25"/>
          <p:cNvSpPr/>
          <p:nvPr/>
        </p:nvSpPr>
        <p:spPr>
          <a:xfrm>
            <a:off x="3904488" y="3657600"/>
            <a:ext cx="420624" cy="420624"/>
          </a:xfrm>
          <a:prstGeom prst="ellipse">
            <a:avLst/>
          </a:prstGeom>
          <a:solidFill>
            <a:srgbClr val="1B6B63"/>
          </a:solidFill>
          <a:ln w="12700">
            <a:solidFill>
              <a:srgbClr val="1B6B63"/>
            </a:solidFill>
            <a:prstDash val="solid"/>
          </a:ln>
        </p:spPr>
      </p:sp>
      <p:pic>
        <p:nvPicPr>
          <p:cNvPr id="31" name="Image 3" descr="preencoded.png">    </p:cNvPr>
          <p:cNvPicPr>
            <a:picLocks noChangeAspect="1"/>
          </p:cNvPicPr>
          <p:nvPr/>
        </p:nvPicPr>
        <p:blipFill>
          <a:blip r:embed="rId4"/>
          <a:stretch>
            <a:fillRect/>
          </a:stretch>
        </p:blipFill>
        <p:spPr>
          <a:xfrm>
            <a:off x="4009644" y="3762756"/>
            <a:ext cx="210312" cy="210312"/>
          </a:xfrm>
          <a:prstGeom prst="rect">
            <a:avLst/>
          </a:prstGeom>
        </p:spPr>
      </p:pic>
      <p:sp>
        <p:nvSpPr>
          <p:cNvPr id="32" name="Text 26"/>
          <p:cNvSpPr txBox="1"/>
          <p:nvPr/>
        </p:nvSpPr>
        <p:spPr>
          <a:xfrm>
            <a:off x="4434840" y="3657600"/>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Care without the trip</a:t>
            </a:r>
            <a:endParaRPr lang="en-US" sz="1200" dirty="0"/>
          </a:p>
        </p:txBody>
      </p:sp>
      <p:sp>
        <p:nvSpPr>
          <p:cNvPr id="33" name="Text 27"/>
          <p:cNvSpPr txBox="1"/>
          <p:nvPr/>
        </p:nvSpPr>
        <p:spPr>
          <a:xfrm>
            <a:off x="4434840" y="3895344"/>
            <a:ext cx="4160520" cy="21945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Online consults, medicines delivered, digital insurance card</a:t>
            </a:r>
            <a:endParaRPr lang="en-US" sz="950" dirty="0"/>
          </a:p>
        </p:txBody>
      </p:sp>
      <p:sp>
        <p:nvSpPr>
          <p:cNvPr id="34" name="Shape 28"/>
          <p:cNvSpPr/>
          <p:nvPr/>
        </p:nvSpPr>
        <p:spPr>
          <a:xfrm>
            <a:off x="3794760" y="4224528"/>
            <a:ext cx="4892040" cy="530352"/>
          </a:xfrm>
          <a:prstGeom prst="roundRect">
            <a:avLst>
              <a:gd name="adj" fmla="val 2069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5" name="Shape 29"/>
          <p:cNvSpPr/>
          <p:nvPr/>
        </p:nvSpPr>
        <p:spPr>
          <a:xfrm>
            <a:off x="3904488" y="4279392"/>
            <a:ext cx="420624" cy="420624"/>
          </a:xfrm>
          <a:prstGeom prst="ellipse">
            <a:avLst/>
          </a:prstGeom>
          <a:solidFill>
            <a:srgbClr val="1B6B63"/>
          </a:solidFill>
          <a:ln w="12700">
            <a:solidFill>
              <a:srgbClr val="1B6B63"/>
            </a:solidFill>
            <a:prstDash val="solid"/>
          </a:ln>
        </p:spPr>
      </p:sp>
      <p:pic>
        <p:nvPicPr>
          <p:cNvPr id="36" name="Image 4" descr="preencoded.png">    </p:cNvPr>
          <p:cNvPicPr>
            <a:picLocks noChangeAspect="1"/>
          </p:cNvPicPr>
          <p:nvPr/>
        </p:nvPicPr>
        <p:blipFill>
          <a:blip r:embed="rId5"/>
          <a:stretch>
            <a:fillRect/>
          </a:stretch>
        </p:blipFill>
        <p:spPr>
          <a:xfrm>
            <a:off x="4009644" y="4384548"/>
            <a:ext cx="210312" cy="210312"/>
          </a:xfrm>
          <a:prstGeom prst="rect">
            <a:avLst/>
          </a:prstGeom>
        </p:spPr>
      </p:pic>
      <p:sp>
        <p:nvSpPr>
          <p:cNvPr id="37" name="Text 30"/>
          <p:cNvSpPr txBox="1"/>
          <p:nvPr/>
        </p:nvSpPr>
        <p:spPr>
          <a:xfrm>
            <a:off x="4434840" y="4279392"/>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Joins in minutes, lives on her phone</a:t>
            </a:r>
            <a:endParaRPr lang="en-US" sz="1200" dirty="0"/>
          </a:p>
        </p:txBody>
      </p:sp>
      <p:sp>
        <p:nvSpPr>
          <p:cNvPr id="38" name="Text 31"/>
          <p:cNvSpPr txBox="1"/>
          <p:nvPr/>
        </p:nvSpPr>
        <p:spPr>
          <a:xfrm>
            <a:off x="4434840" y="4517136"/>
            <a:ext cx="4160520" cy="21945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Invite link, birthday check, Google or email code; installed app with push reminders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Maya's journey</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From a worrying number to a plan, in one day</a:t>
            </a:r>
            <a:endParaRPr lang="en-US" sz="1300" dirty="0"/>
          </a:p>
        </p:txBody>
      </p:sp>
      <p:sp>
        <p:nvSpPr>
          <p:cNvPr id="4" name="Shape 2"/>
          <p:cNvSpPr/>
          <p:nvPr/>
        </p:nvSpPr>
        <p:spPr>
          <a:xfrm>
            <a:off x="457200" y="1325880"/>
            <a:ext cx="1203960" cy="2514600"/>
          </a:xfrm>
          <a:prstGeom prst="roundRect">
            <a:avLst>
              <a:gd name="adj" fmla="val 9114"/>
            </a:avLst>
          </a:prstGeom>
          <a:solidFill>
            <a:srgbClr val="FEF2F2"/>
          </a:solidFill>
          <a:ln w="9525">
            <a:solidFill>
              <a:srgbClr val="FEF2F2"/>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566928" y="1453896"/>
            <a:ext cx="420624" cy="420624"/>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672084" y="1559052"/>
            <a:ext cx="210312" cy="210312"/>
          </a:xfrm>
          <a:prstGeom prst="rect">
            <a:avLst/>
          </a:prstGeom>
        </p:spPr>
      </p:pic>
      <p:sp>
        <p:nvSpPr>
          <p:cNvPr id="7" name="Text 4"/>
          <p:cNvSpPr txBox="1"/>
          <p:nvPr/>
        </p:nvSpPr>
        <p:spPr>
          <a:xfrm>
            <a:off x="1331976"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566928" y="1965960"/>
            <a:ext cx="1021080" cy="475488"/>
          </a:xfrm>
          <a:prstGeom prst="rect">
            <a:avLst/>
          </a:prstGeom>
          <a:noFill/>
          <a:ln/>
        </p:spPr>
        <p:txBody>
          <a:bodyPr wrap="square" lIns="0" tIns="0" rIns="0" bIns="0" rtlCol="0" anchor="t"/>
          <a:lstStyle/>
          <a:p>
            <a:pPr indent="0" marL="0">
              <a:buNone/>
            </a:pPr>
            <a:r>
              <a:rPr lang="en-US" sz="1150" b="1" dirty="0">
                <a:solidFill>
                  <a:srgbClr val="DC2626"/>
                </a:solidFill>
                <a:latin typeface="Calibri" pitchFamily="34" charset="0"/>
                <a:ea typeface="Calibri" pitchFamily="34" charset="-122"/>
                <a:cs typeface="Calibri" pitchFamily="34" charset="-120"/>
              </a:rPr>
              <a:t>Snaps her meter</a:t>
            </a:r>
            <a:endParaRPr lang="en-US" sz="1150" dirty="0"/>
          </a:p>
        </p:txBody>
      </p:sp>
      <p:sp>
        <p:nvSpPr>
          <p:cNvPr id="9" name="Shape 6"/>
          <p:cNvSpPr/>
          <p:nvPr/>
        </p:nvSpPr>
        <p:spPr>
          <a:xfrm>
            <a:off x="566928" y="2468880"/>
            <a:ext cx="570586" cy="237744"/>
          </a:xfrm>
          <a:prstGeom prst="roundRect">
            <a:avLst>
              <a:gd name="adj" fmla="val 50000"/>
            </a:avLst>
          </a:prstGeom>
          <a:solidFill>
            <a:srgbClr val="E6F4F1"/>
          </a:solidFill>
          <a:ln w="12700">
            <a:solidFill>
              <a:srgbClr val="E6F4F1"/>
            </a:solidFill>
            <a:prstDash val="solid"/>
          </a:ln>
        </p:spPr>
      </p:sp>
      <p:sp>
        <p:nvSpPr>
          <p:cNvPr id="10" name="Text 7"/>
          <p:cNvSpPr txBox="1"/>
          <p:nvPr/>
        </p:nvSpPr>
        <p:spPr>
          <a:xfrm>
            <a:off x="566928" y="2468880"/>
            <a:ext cx="570586"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Vitals</a:t>
            </a:r>
            <a:endParaRPr lang="en-US" sz="850" dirty="0"/>
          </a:p>
        </p:txBody>
      </p:sp>
      <p:sp>
        <p:nvSpPr>
          <p:cNvPr id="11" name="Text 8"/>
          <p:cNvSpPr txBox="1"/>
          <p:nvPr/>
        </p:nvSpPr>
        <p:spPr>
          <a:xfrm>
            <a:off x="566928" y="2788920"/>
            <a:ext cx="1021080"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186/121. Sees fixed safety guidance at once; her care team is alerted</a:t>
            </a:r>
            <a:endParaRPr lang="en-US" sz="950" dirty="0"/>
          </a:p>
        </p:txBody>
      </p:sp>
      <p:sp>
        <p:nvSpPr>
          <p:cNvPr id="12" name="Shape 9"/>
          <p:cNvSpPr/>
          <p:nvPr/>
        </p:nvSpPr>
        <p:spPr>
          <a:xfrm>
            <a:off x="1679448" y="2464308"/>
            <a:ext cx="164592" cy="237744"/>
          </a:xfrm>
          <a:prstGeom prst="rightArrow">
            <a:avLst/>
          </a:prstGeom>
          <a:solidFill>
            <a:srgbClr val="2A9D8F"/>
          </a:solidFill>
          <a:ln w="12700">
            <a:solidFill>
              <a:srgbClr val="2A9D8F"/>
            </a:solidFill>
            <a:prstDash val="solid"/>
          </a:ln>
        </p:spPr>
      </p:sp>
      <p:sp>
        <p:nvSpPr>
          <p:cNvPr id="13" name="Shape 10"/>
          <p:cNvSpPr/>
          <p:nvPr/>
        </p:nvSpPr>
        <p:spPr>
          <a:xfrm>
            <a:off x="1862328" y="1325880"/>
            <a:ext cx="1203960" cy="251460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4" name="Shape 11"/>
          <p:cNvSpPr/>
          <p:nvPr/>
        </p:nvSpPr>
        <p:spPr>
          <a:xfrm>
            <a:off x="1972056" y="1453896"/>
            <a:ext cx="420624" cy="420624"/>
          </a:xfrm>
          <a:prstGeom prst="ellipse">
            <a:avLst/>
          </a:prstGeom>
          <a:solidFill>
            <a:srgbClr val="1B6B63"/>
          </a:solidFill>
          <a:ln w="12700">
            <a:solidFill>
              <a:srgbClr val="1B6B63"/>
            </a:solidFill>
            <a:prstDash val="solid"/>
          </a:ln>
        </p:spPr>
      </p:sp>
      <p:pic>
        <p:nvPicPr>
          <p:cNvPr id="15" name="Image 1" descr="preencoded.png">    </p:cNvPr>
          <p:cNvPicPr>
            <a:picLocks noChangeAspect="1"/>
          </p:cNvPicPr>
          <p:nvPr/>
        </p:nvPicPr>
        <p:blipFill>
          <a:blip r:embed="rId2"/>
          <a:stretch>
            <a:fillRect/>
          </a:stretch>
        </p:blipFill>
        <p:spPr>
          <a:xfrm>
            <a:off x="2077212" y="1559052"/>
            <a:ext cx="210312" cy="210312"/>
          </a:xfrm>
          <a:prstGeom prst="rect">
            <a:avLst/>
          </a:prstGeom>
        </p:spPr>
      </p:pic>
      <p:sp>
        <p:nvSpPr>
          <p:cNvPr id="16" name="Text 12"/>
          <p:cNvSpPr txBox="1"/>
          <p:nvPr/>
        </p:nvSpPr>
        <p:spPr>
          <a:xfrm>
            <a:off x="2737104"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2</a:t>
            </a:r>
            <a:endParaRPr lang="en-US" sz="1200" dirty="0"/>
          </a:p>
        </p:txBody>
      </p:sp>
      <p:sp>
        <p:nvSpPr>
          <p:cNvPr id="17" name="Text 13"/>
          <p:cNvSpPr txBox="1"/>
          <p:nvPr/>
        </p:nvSpPr>
        <p:spPr>
          <a:xfrm>
            <a:off x="1972056" y="1965960"/>
            <a:ext cx="1021080"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Asks what to do</a:t>
            </a:r>
            <a:endParaRPr lang="en-US" sz="1150" dirty="0"/>
          </a:p>
        </p:txBody>
      </p:sp>
      <p:sp>
        <p:nvSpPr>
          <p:cNvPr id="18" name="Shape 14"/>
          <p:cNvSpPr/>
          <p:nvPr/>
        </p:nvSpPr>
        <p:spPr>
          <a:xfrm>
            <a:off x="1972056" y="2468880"/>
            <a:ext cx="921715" cy="237744"/>
          </a:xfrm>
          <a:prstGeom prst="roundRect">
            <a:avLst>
              <a:gd name="adj" fmla="val 50000"/>
            </a:avLst>
          </a:prstGeom>
          <a:solidFill>
            <a:srgbClr val="E6F4F1"/>
          </a:solidFill>
          <a:ln w="12700">
            <a:solidFill>
              <a:srgbClr val="E6F4F1"/>
            </a:solidFill>
            <a:prstDash val="solid"/>
          </a:ln>
        </p:spPr>
      </p:sp>
      <p:sp>
        <p:nvSpPr>
          <p:cNvPr id="19" name="Text 15"/>
          <p:cNvSpPr txBox="1"/>
          <p:nvPr/>
        </p:nvSpPr>
        <p:spPr>
          <a:xfrm>
            <a:off x="1972056" y="2468880"/>
            <a:ext cx="921715"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Ask Bioverse</a:t>
            </a:r>
            <a:endParaRPr lang="en-US" sz="850" dirty="0"/>
          </a:p>
        </p:txBody>
      </p:sp>
      <p:sp>
        <p:nvSpPr>
          <p:cNvPr id="20" name="Text 16"/>
          <p:cNvSpPr txBox="1"/>
          <p:nvPr/>
        </p:nvSpPr>
        <p:spPr>
          <a:xfrm>
            <a:off x="1972056" y="2788920"/>
            <a:ext cx="1021080"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Safety check first; no emergency symptoms, so she's routed to care</a:t>
            </a:r>
            <a:endParaRPr lang="en-US" sz="950" dirty="0"/>
          </a:p>
        </p:txBody>
      </p:sp>
      <p:sp>
        <p:nvSpPr>
          <p:cNvPr id="21" name="Shape 17"/>
          <p:cNvSpPr/>
          <p:nvPr/>
        </p:nvSpPr>
        <p:spPr>
          <a:xfrm>
            <a:off x="3084576" y="2464308"/>
            <a:ext cx="164592" cy="237744"/>
          </a:xfrm>
          <a:prstGeom prst="rightArrow">
            <a:avLst/>
          </a:prstGeom>
          <a:solidFill>
            <a:srgbClr val="2A9D8F"/>
          </a:solidFill>
          <a:ln w="12700">
            <a:solidFill>
              <a:srgbClr val="2A9D8F"/>
            </a:solidFill>
            <a:prstDash val="solid"/>
          </a:ln>
        </p:spPr>
      </p:sp>
      <p:sp>
        <p:nvSpPr>
          <p:cNvPr id="22" name="Shape 18"/>
          <p:cNvSpPr/>
          <p:nvPr/>
        </p:nvSpPr>
        <p:spPr>
          <a:xfrm>
            <a:off x="3267456" y="1325880"/>
            <a:ext cx="1203960" cy="251460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3" name="Shape 19"/>
          <p:cNvSpPr/>
          <p:nvPr/>
        </p:nvSpPr>
        <p:spPr>
          <a:xfrm>
            <a:off x="3377184" y="1453896"/>
            <a:ext cx="420624" cy="420624"/>
          </a:xfrm>
          <a:prstGeom prst="ellipse">
            <a:avLst/>
          </a:prstGeom>
          <a:solidFill>
            <a:srgbClr val="1B6B63"/>
          </a:solidFill>
          <a:ln w="12700">
            <a:solidFill>
              <a:srgbClr val="1B6B63"/>
            </a:solidFill>
            <a:prstDash val="solid"/>
          </a:ln>
        </p:spPr>
      </p:sp>
      <p:pic>
        <p:nvPicPr>
          <p:cNvPr id="24" name="Image 2" descr="preencoded.png">    </p:cNvPr>
          <p:cNvPicPr>
            <a:picLocks noChangeAspect="1"/>
          </p:cNvPicPr>
          <p:nvPr/>
        </p:nvPicPr>
        <p:blipFill>
          <a:blip r:embed="rId3"/>
          <a:stretch>
            <a:fillRect/>
          </a:stretch>
        </p:blipFill>
        <p:spPr>
          <a:xfrm>
            <a:off x="3482340" y="1559052"/>
            <a:ext cx="210312" cy="210312"/>
          </a:xfrm>
          <a:prstGeom prst="rect">
            <a:avLst/>
          </a:prstGeom>
        </p:spPr>
      </p:pic>
      <p:sp>
        <p:nvSpPr>
          <p:cNvPr id="25" name="Text 20"/>
          <p:cNvSpPr txBox="1"/>
          <p:nvPr/>
        </p:nvSpPr>
        <p:spPr>
          <a:xfrm>
            <a:off x="4142232"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3</a:t>
            </a:r>
            <a:endParaRPr lang="en-US" sz="1200" dirty="0"/>
          </a:p>
        </p:txBody>
      </p:sp>
      <p:sp>
        <p:nvSpPr>
          <p:cNvPr id="26" name="Text 21"/>
          <p:cNvSpPr txBox="1"/>
          <p:nvPr/>
        </p:nvSpPr>
        <p:spPr>
          <a:xfrm>
            <a:off x="3377184" y="1965960"/>
            <a:ext cx="1021080"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Video consult</a:t>
            </a:r>
            <a:endParaRPr lang="en-US" sz="1150" dirty="0"/>
          </a:p>
        </p:txBody>
      </p:sp>
      <p:sp>
        <p:nvSpPr>
          <p:cNvPr id="27" name="Shape 22"/>
          <p:cNvSpPr/>
          <p:nvPr/>
        </p:nvSpPr>
        <p:spPr>
          <a:xfrm>
            <a:off x="3377184" y="2468880"/>
            <a:ext cx="687629" cy="237744"/>
          </a:xfrm>
          <a:prstGeom prst="roundRect">
            <a:avLst>
              <a:gd name="adj" fmla="val 50000"/>
            </a:avLst>
          </a:prstGeom>
          <a:solidFill>
            <a:srgbClr val="E6F4F1"/>
          </a:solidFill>
          <a:ln w="12700">
            <a:solidFill>
              <a:srgbClr val="E6F4F1"/>
            </a:solidFill>
            <a:prstDash val="solid"/>
          </a:ln>
        </p:spPr>
      </p:sp>
      <p:sp>
        <p:nvSpPr>
          <p:cNvPr id="28" name="Text 23"/>
          <p:cNvSpPr txBox="1"/>
          <p:nvPr/>
        </p:nvSpPr>
        <p:spPr>
          <a:xfrm>
            <a:off x="3377184" y="2468880"/>
            <a:ext cx="687629"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Consults</a:t>
            </a:r>
            <a:endParaRPr lang="en-US" sz="850" dirty="0"/>
          </a:p>
        </p:txBody>
      </p:sp>
      <p:sp>
        <p:nvSpPr>
          <p:cNvPr id="29" name="Text 24"/>
          <p:cNvSpPr txBox="1"/>
          <p:nvPr/>
        </p:nvSpPr>
        <p:spPr>
          <a:xfrm>
            <a:off x="3377184" y="2788920"/>
            <a:ext cx="1021080"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Dr. Okafor reviews her readings and adjusts the plan</a:t>
            </a:r>
            <a:endParaRPr lang="en-US" sz="950" dirty="0"/>
          </a:p>
        </p:txBody>
      </p:sp>
      <p:sp>
        <p:nvSpPr>
          <p:cNvPr id="30" name="Shape 25"/>
          <p:cNvSpPr/>
          <p:nvPr/>
        </p:nvSpPr>
        <p:spPr>
          <a:xfrm>
            <a:off x="4489704" y="2464308"/>
            <a:ext cx="164592" cy="237744"/>
          </a:xfrm>
          <a:prstGeom prst="rightArrow">
            <a:avLst/>
          </a:prstGeom>
          <a:solidFill>
            <a:srgbClr val="2A9D8F"/>
          </a:solidFill>
          <a:ln w="12700">
            <a:solidFill>
              <a:srgbClr val="2A9D8F"/>
            </a:solidFill>
            <a:prstDash val="solid"/>
          </a:ln>
        </p:spPr>
      </p:sp>
      <p:sp>
        <p:nvSpPr>
          <p:cNvPr id="31" name="Shape 26"/>
          <p:cNvSpPr/>
          <p:nvPr/>
        </p:nvSpPr>
        <p:spPr>
          <a:xfrm>
            <a:off x="4672584" y="1325880"/>
            <a:ext cx="1203960" cy="251460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2" name="Shape 27"/>
          <p:cNvSpPr/>
          <p:nvPr/>
        </p:nvSpPr>
        <p:spPr>
          <a:xfrm>
            <a:off x="4782312" y="1453896"/>
            <a:ext cx="420624" cy="420624"/>
          </a:xfrm>
          <a:prstGeom prst="ellipse">
            <a:avLst/>
          </a:prstGeom>
          <a:solidFill>
            <a:srgbClr val="1B6B63"/>
          </a:solidFill>
          <a:ln w="12700">
            <a:solidFill>
              <a:srgbClr val="1B6B63"/>
            </a:solidFill>
            <a:prstDash val="solid"/>
          </a:ln>
        </p:spPr>
      </p:sp>
      <p:pic>
        <p:nvPicPr>
          <p:cNvPr id="33" name="Image 3" descr="preencoded.png">    </p:cNvPr>
          <p:cNvPicPr>
            <a:picLocks noChangeAspect="1"/>
          </p:cNvPicPr>
          <p:nvPr/>
        </p:nvPicPr>
        <p:blipFill>
          <a:blip r:embed="rId4"/>
          <a:stretch>
            <a:fillRect/>
          </a:stretch>
        </p:blipFill>
        <p:spPr>
          <a:xfrm>
            <a:off x="4887468" y="1559052"/>
            <a:ext cx="210312" cy="210312"/>
          </a:xfrm>
          <a:prstGeom prst="rect">
            <a:avLst/>
          </a:prstGeom>
        </p:spPr>
      </p:pic>
      <p:sp>
        <p:nvSpPr>
          <p:cNvPr id="34" name="Text 28"/>
          <p:cNvSpPr txBox="1"/>
          <p:nvPr/>
        </p:nvSpPr>
        <p:spPr>
          <a:xfrm>
            <a:off x="5547360"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4</a:t>
            </a:r>
            <a:endParaRPr lang="en-US" sz="1200" dirty="0"/>
          </a:p>
        </p:txBody>
      </p:sp>
      <p:sp>
        <p:nvSpPr>
          <p:cNvPr id="35" name="Text 29"/>
          <p:cNvSpPr txBox="1"/>
          <p:nvPr/>
        </p:nvSpPr>
        <p:spPr>
          <a:xfrm>
            <a:off x="4782312" y="1965960"/>
            <a:ext cx="1021080"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Medicine arrives</a:t>
            </a:r>
            <a:endParaRPr lang="en-US" sz="1150" dirty="0"/>
          </a:p>
        </p:txBody>
      </p:sp>
      <p:sp>
        <p:nvSpPr>
          <p:cNvPr id="36" name="Shape 30"/>
          <p:cNvSpPr/>
          <p:nvPr/>
        </p:nvSpPr>
        <p:spPr>
          <a:xfrm>
            <a:off x="4782312" y="2468880"/>
            <a:ext cx="687629" cy="237744"/>
          </a:xfrm>
          <a:prstGeom prst="roundRect">
            <a:avLst>
              <a:gd name="adj" fmla="val 50000"/>
            </a:avLst>
          </a:prstGeom>
          <a:solidFill>
            <a:srgbClr val="E6F4F1"/>
          </a:solidFill>
          <a:ln w="12700">
            <a:solidFill>
              <a:srgbClr val="E6F4F1"/>
            </a:solidFill>
            <a:prstDash val="solid"/>
          </a:ln>
        </p:spPr>
      </p:sp>
      <p:sp>
        <p:nvSpPr>
          <p:cNvPr id="37" name="Text 31"/>
          <p:cNvSpPr txBox="1"/>
          <p:nvPr/>
        </p:nvSpPr>
        <p:spPr>
          <a:xfrm>
            <a:off x="4782312" y="2468880"/>
            <a:ext cx="687629"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Pharmacy</a:t>
            </a:r>
            <a:endParaRPr lang="en-US" sz="850" dirty="0"/>
          </a:p>
        </p:txBody>
      </p:sp>
      <p:sp>
        <p:nvSpPr>
          <p:cNvPr id="38" name="Text 32"/>
          <p:cNvSpPr txBox="1"/>
          <p:nvPr/>
        </p:nvSpPr>
        <p:spPr>
          <a:xfrm>
            <a:off x="4782312" y="2788920"/>
            <a:ext cx="1021080"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Pharmacist-checked order delivered to her door</a:t>
            </a:r>
            <a:endParaRPr lang="en-US" sz="950" dirty="0"/>
          </a:p>
        </p:txBody>
      </p:sp>
      <p:sp>
        <p:nvSpPr>
          <p:cNvPr id="39" name="Shape 33"/>
          <p:cNvSpPr/>
          <p:nvPr/>
        </p:nvSpPr>
        <p:spPr>
          <a:xfrm>
            <a:off x="5894832" y="2464308"/>
            <a:ext cx="164592" cy="237744"/>
          </a:xfrm>
          <a:prstGeom prst="rightArrow">
            <a:avLst/>
          </a:prstGeom>
          <a:solidFill>
            <a:srgbClr val="2A9D8F"/>
          </a:solidFill>
          <a:ln w="12700">
            <a:solidFill>
              <a:srgbClr val="2A9D8F"/>
            </a:solidFill>
            <a:prstDash val="solid"/>
          </a:ln>
        </p:spPr>
      </p:sp>
      <p:sp>
        <p:nvSpPr>
          <p:cNvPr id="40" name="Shape 34"/>
          <p:cNvSpPr/>
          <p:nvPr/>
        </p:nvSpPr>
        <p:spPr>
          <a:xfrm>
            <a:off x="6077712" y="1325880"/>
            <a:ext cx="1203960" cy="251460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41" name="Shape 35"/>
          <p:cNvSpPr/>
          <p:nvPr/>
        </p:nvSpPr>
        <p:spPr>
          <a:xfrm>
            <a:off x="6187440" y="1453896"/>
            <a:ext cx="420624" cy="420624"/>
          </a:xfrm>
          <a:prstGeom prst="ellipse">
            <a:avLst/>
          </a:prstGeom>
          <a:solidFill>
            <a:srgbClr val="1B6B63"/>
          </a:solidFill>
          <a:ln w="12700">
            <a:solidFill>
              <a:srgbClr val="1B6B63"/>
            </a:solidFill>
            <a:prstDash val="solid"/>
          </a:ln>
        </p:spPr>
      </p:sp>
      <p:pic>
        <p:nvPicPr>
          <p:cNvPr id="42" name="Image 4" descr="preencoded.png">    </p:cNvPr>
          <p:cNvPicPr>
            <a:picLocks noChangeAspect="1"/>
          </p:cNvPicPr>
          <p:nvPr/>
        </p:nvPicPr>
        <p:blipFill>
          <a:blip r:embed="rId5"/>
          <a:stretch>
            <a:fillRect/>
          </a:stretch>
        </p:blipFill>
        <p:spPr>
          <a:xfrm>
            <a:off x="6292596" y="1559052"/>
            <a:ext cx="210312" cy="210312"/>
          </a:xfrm>
          <a:prstGeom prst="rect">
            <a:avLst/>
          </a:prstGeom>
        </p:spPr>
      </p:pic>
      <p:sp>
        <p:nvSpPr>
          <p:cNvPr id="43" name="Text 36"/>
          <p:cNvSpPr txBox="1"/>
          <p:nvPr/>
        </p:nvSpPr>
        <p:spPr>
          <a:xfrm>
            <a:off x="6952488"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5</a:t>
            </a:r>
            <a:endParaRPr lang="en-US" sz="1200" dirty="0"/>
          </a:p>
        </p:txBody>
      </p:sp>
      <p:sp>
        <p:nvSpPr>
          <p:cNvPr id="44" name="Text 37"/>
          <p:cNvSpPr txBox="1"/>
          <p:nvPr/>
        </p:nvSpPr>
        <p:spPr>
          <a:xfrm>
            <a:off x="6187440" y="1965960"/>
            <a:ext cx="1021080"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Reminders &amp; check-in</a:t>
            </a:r>
            <a:endParaRPr lang="en-US" sz="1150" dirty="0"/>
          </a:p>
        </p:txBody>
      </p:sp>
      <p:sp>
        <p:nvSpPr>
          <p:cNvPr id="45" name="Shape 38"/>
          <p:cNvSpPr/>
          <p:nvPr/>
        </p:nvSpPr>
        <p:spPr>
          <a:xfrm>
            <a:off x="6187440" y="2468880"/>
            <a:ext cx="804672" cy="237744"/>
          </a:xfrm>
          <a:prstGeom prst="roundRect">
            <a:avLst>
              <a:gd name="adj" fmla="val 50000"/>
            </a:avLst>
          </a:prstGeom>
          <a:solidFill>
            <a:srgbClr val="E6F4F1"/>
          </a:solidFill>
          <a:ln w="12700">
            <a:solidFill>
              <a:srgbClr val="E6F4F1"/>
            </a:solidFill>
            <a:prstDash val="solid"/>
          </a:ln>
        </p:spPr>
      </p:sp>
      <p:sp>
        <p:nvSpPr>
          <p:cNvPr id="46" name="Text 39"/>
          <p:cNvSpPr txBox="1"/>
          <p:nvPr/>
        </p:nvSpPr>
        <p:spPr>
          <a:xfrm>
            <a:off x="6187440" y="2468880"/>
            <a:ext cx="804672"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Phone push</a:t>
            </a:r>
            <a:endParaRPr lang="en-US" sz="850" dirty="0"/>
          </a:p>
        </p:txBody>
      </p:sp>
      <p:sp>
        <p:nvSpPr>
          <p:cNvPr id="47" name="Text 40"/>
          <p:cNvSpPr txBox="1"/>
          <p:nvPr/>
        </p:nvSpPr>
        <p:spPr>
          <a:xfrm>
            <a:off x="6187440" y="2788920"/>
            <a:ext cx="1021080"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Evening dose reminder on her lock screen; next day she answers "Better"</a:t>
            </a:r>
            <a:endParaRPr lang="en-US" sz="950" dirty="0"/>
          </a:p>
        </p:txBody>
      </p:sp>
      <p:sp>
        <p:nvSpPr>
          <p:cNvPr id="48" name="Shape 41"/>
          <p:cNvSpPr/>
          <p:nvPr/>
        </p:nvSpPr>
        <p:spPr>
          <a:xfrm>
            <a:off x="7299960" y="2464308"/>
            <a:ext cx="164592" cy="237744"/>
          </a:xfrm>
          <a:prstGeom prst="rightArrow">
            <a:avLst/>
          </a:prstGeom>
          <a:solidFill>
            <a:srgbClr val="2A9D8F"/>
          </a:solidFill>
          <a:ln w="12700">
            <a:solidFill>
              <a:srgbClr val="2A9D8F"/>
            </a:solidFill>
            <a:prstDash val="solid"/>
          </a:ln>
        </p:spPr>
      </p:sp>
      <p:sp>
        <p:nvSpPr>
          <p:cNvPr id="49" name="Shape 42"/>
          <p:cNvSpPr/>
          <p:nvPr/>
        </p:nvSpPr>
        <p:spPr>
          <a:xfrm>
            <a:off x="7482840" y="1325880"/>
            <a:ext cx="1203960" cy="251460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0" name="Shape 43"/>
          <p:cNvSpPr/>
          <p:nvPr/>
        </p:nvSpPr>
        <p:spPr>
          <a:xfrm>
            <a:off x="7592568" y="1453896"/>
            <a:ext cx="420624" cy="420624"/>
          </a:xfrm>
          <a:prstGeom prst="ellipse">
            <a:avLst/>
          </a:prstGeom>
          <a:solidFill>
            <a:srgbClr val="1B6B63"/>
          </a:solidFill>
          <a:ln w="12700">
            <a:solidFill>
              <a:srgbClr val="1B6B63"/>
            </a:solidFill>
            <a:prstDash val="solid"/>
          </a:ln>
        </p:spPr>
      </p:sp>
      <p:pic>
        <p:nvPicPr>
          <p:cNvPr id="51" name="Image 5" descr="preencoded.png">    </p:cNvPr>
          <p:cNvPicPr>
            <a:picLocks noChangeAspect="1"/>
          </p:cNvPicPr>
          <p:nvPr/>
        </p:nvPicPr>
        <p:blipFill>
          <a:blip r:embed="rId6"/>
          <a:stretch>
            <a:fillRect/>
          </a:stretch>
        </p:blipFill>
        <p:spPr>
          <a:xfrm>
            <a:off x="7697724" y="1559052"/>
            <a:ext cx="210312" cy="210312"/>
          </a:xfrm>
          <a:prstGeom prst="rect">
            <a:avLst/>
          </a:prstGeom>
        </p:spPr>
      </p:pic>
      <p:sp>
        <p:nvSpPr>
          <p:cNvPr id="52" name="Text 44"/>
          <p:cNvSpPr txBox="1"/>
          <p:nvPr/>
        </p:nvSpPr>
        <p:spPr>
          <a:xfrm>
            <a:off x="8357616"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6</a:t>
            </a:r>
            <a:endParaRPr lang="en-US" sz="1200" dirty="0"/>
          </a:p>
        </p:txBody>
      </p:sp>
      <p:sp>
        <p:nvSpPr>
          <p:cNvPr id="53" name="Text 45"/>
          <p:cNvSpPr txBox="1"/>
          <p:nvPr/>
        </p:nvSpPr>
        <p:spPr>
          <a:xfrm>
            <a:off x="7592568" y="1965960"/>
            <a:ext cx="1021080"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Lipid results</a:t>
            </a:r>
            <a:endParaRPr lang="en-US" sz="1150" dirty="0"/>
          </a:p>
        </p:txBody>
      </p:sp>
      <p:sp>
        <p:nvSpPr>
          <p:cNvPr id="54" name="Shape 46"/>
          <p:cNvSpPr/>
          <p:nvPr/>
        </p:nvSpPr>
        <p:spPr>
          <a:xfrm>
            <a:off x="7592568" y="2468880"/>
            <a:ext cx="629107" cy="237744"/>
          </a:xfrm>
          <a:prstGeom prst="roundRect">
            <a:avLst>
              <a:gd name="adj" fmla="val 50000"/>
            </a:avLst>
          </a:prstGeom>
          <a:solidFill>
            <a:srgbClr val="E6F4F1"/>
          </a:solidFill>
          <a:ln w="12700">
            <a:solidFill>
              <a:srgbClr val="E6F4F1"/>
            </a:solidFill>
            <a:prstDash val="solid"/>
          </a:ln>
        </p:spPr>
      </p:sp>
      <p:sp>
        <p:nvSpPr>
          <p:cNvPr id="55" name="Text 47"/>
          <p:cNvSpPr txBox="1"/>
          <p:nvPr/>
        </p:nvSpPr>
        <p:spPr>
          <a:xfrm>
            <a:off x="7592568" y="2468880"/>
            <a:ext cx="629107"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Results</a:t>
            </a:r>
            <a:endParaRPr lang="en-US" sz="850" dirty="0"/>
          </a:p>
        </p:txBody>
      </p:sp>
      <p:sp>
        <p:nvSpPr>
          <p:cNvPr id="56" name="Text 48"/>
          <p:cNvSpPr txBox="1"/>
          <p:nvPr/>
        </p:nvSpPr>
        <p:spPr>
          <a:xfrm>
            <a:off x="7592568" y="2788920"/>
            <a:ext cx="1021080"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Explained in plain words after her doctor approves</a:t>
            </a:r>
            <a:endParaRPr lang="en-US" sz="950" dirty="0"/>
          </a:p>
        </p:txBody>
      </p:sp>
      <p:sp>
        <p:nvSpPr>
          <p:cNvPr id="57" name="Shape 49"/>
          <p:cNvSpPr/>
          <p:nvPr/>
        </p:nvSpPr>
        <p:spPr>
          <a:xfrm>
            <a:off x="457200" y="4023360"/>
            <a:ext cx="8229600" cy="685800"/>
          </a:xfrm>
          <a:prstGeom prst="roundRect">
            <a:avLst>
              <a:gd name="adj" fmla="val 16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58" name="Shape 50"/>
          <p:cNvSpPr/>
          <p:nvPr/>
        </p:nvSpPr>
        <p:spPr>
          <a:xfrm>
            <a:off x="594360" y="4133088"/>
            <a:ext cx="457200" cy="457200"/>
          </a:xfrm>
          <a:prstGeom prst="ellipse">
            <a:avLst/>
          </a:prstGeom>
          <a:solidFill>
            <a:srgbClr val="15803D"/>
          </a:solidFill>
          <a:ln w="12700">
            <a:solidFill>
              <a:srgbClr val="15803D"/>
            </a:solidFill>
            <a:prstDash val="solid"/>
          </a:ln>
        </p:spPr>
      </p:sp>
      <p:pic>
        <p:nvPicPr>
          <p:cNvPr id="59" name="Image 6" descr="preencoded.png">    </p:cNvPr>
          <p:cNvPicPr>
            <a:picLocks noChangeAspect="1"/>
          </p:cNvPicPr>
          <p:nvPr/>
        </p:nvPicPr>
        <p:blipFill>
          <a:blip r:embed="rId7"/>
          <a:stretch>
            <a:fillRect/>
          </a:stretch>
        </p:blipFill>
        <p:spPr>
          <a:xfrm>
            <a:off x="708660" y="4247388"/>
            <a:ext cx="228600" cy="228600"/>
          </a:xfrm>
          <a:prstGeom prst="rect">
            <a:avLst/>
          </a:prstGeom>
        </p:spPr>
      </p:pic>
      <p:sp>
        <p:nvSpPr>
          <p:cNvPr id="60" name="Text 51"/>
          <p:cNvSpPr txBox="1"/>
          <p:nvPr/>
        </p:nvSpPr>
        <p:spPr>
          <a:xfrm>
            <a:off x="1188720" y="4050792"/>
            <a:ext cx="7360920" cy="630936"/>
          </a:xfrm>
          <a:prstGeom prst="rect">
            <a:avLst/>
          </a:prstGeom>
          <a:noFill/>
          <a:ln/>
        </p:spPr>
        <p:txBody>
          <a:bodyPr wrap="square" lIns="0" tIns="0" rIns="0" bIns="0" rtlCol="0" anchor="ctr"/>
          <a:lstStyle/>
          <a:p>
            <a:pPr indent="0" marL="0">
              <a:buNone/>
            </a:pPr>
            <a:r>
              <a:rPr lang="en-US" sz="1250" b="1" dirty="0">
                <a:solidFill>
                  <a:srgbClr val="15803D"/>
                </a:solidFill>
                <a:latin typeface="Calibri" pitchFamily="34" charset="0"/>
                <a:ea typeface="Calibri" pitchFamily="34" charset="-122"/>
                <a:cs typeface="Calibri" pitchFamily="34" charset="-120"/>
              </a:rPr>
              <a:t>Outcome  </a:t>
            </a:r>
            <a:pPr indent="0" marL="0">
              <a:buNone/>
            </a:pPr>
            <a:r>
              <a:rPr lang="en-US" sz="1250" dirty="0">
                <a:solidFill>
                  <a:srgbClr val="134E4A"/>
                </a:solidFill>
                <a:latin typeface="Calibri" pitchFamily="34" charset="0"/>
                <a:ea typeface="Calibri" pitchFamily="34" charset="-122"/>
                <a:cs typeface="Calibri" pitchFamily="34" charset="-120"/>
              </a:rPr>
              <a:t>A scary reading became a plan the same day, with no phone calls, and her doctor saw everything.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Rana: independent, on her terms</a:t>
            </a:r>
            <a:endParaRPr lang="en-US" sz="2800" dirty="0"/>
          </a:p>
        </p:txBody>
      </p:sp>
      <p:sp>
        <p:nvSpPr>
          <p:cNvPr id="3" name="Shape 1"/>
          <p:cNvSpPr/>
          <p:nvPr/>
        </p:nvSpPr>
        <p:spPr>
          <a:xfrm>
            <a:off x="457200" y="960120"/>
            <a:ext cx="8229600" cy="731520"/>
          </a:xfrm>
          <a:prstGeom prst="roundRect">
            <a:avLst>
              <a:gd name="adj" fmla="val 15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4" name="Shape 2"/>
          <p:cNvSpPr/>
          <p:nvPr/>
        </p:nvSpPr>
        <p:spPr>
          <a:xfrm>
            <a:off x="594360" y="1024128"/>
            <a:ext cx="603504" cy="603504"/>
          </a:xfrm>
          <a:prstGeom prst="ellipse">
            <a:avLst/>
          </a:prstGeom>
          <a:solidFill>
            <a:srgbClr val="7C3AED"/>
          </a:solidFill>
          <a:ln w="25400">
            <a:solidFill>
              <a:srgbClr val="FFFFFF"/>
            </a:solidFill>
            <a:prstDash val="solid"/>
          </a:ln>
        </p:spPr>
      </p:sp>
      <p:sp>
        <p:nvSpPr>
          <p:cNvPr id="5" name="Text 3"/>
          <p:cNvSpPr txBox="1"/>
          <p:nvPr/>
        </p:nvSpPr>
        <p:spPr>
          <a:xfrm>
            <a:off x="594360" y="1024128"/>
            <a:ext cx="603504" cy="603504"/>
          </a:xfrm>
          <a:prstGeom prst="rect">
            <a:avLst/>
          </a:prstGeom>
          <a:noFill/>
          <a:ln/>
        </p:spPr>
        <p:txBody>
          <a:bodyPr wrap="square" lIns="0" tIns="0" rIns="0" bIns="0" rtlCol="0" anchor="ctr"/>
          <a:lstStyle/>
          <a:p>
            <a:pPr algn="ctr" indent="0" marL="0">
              <a:buNone/>
            </a:pPr>
            <a:r>
              <a:rPr lang="en-US" sz="1452" b="1" dirty="0">
                <a:solidFill>
                  <a:srgbClr val="FFFFFF"/>
                </a:solidFill>
                <a:latin typeface="Calibri" pitchFamily="34" charset="0"/>
                <a:ea typeface="Calibri" pitchFamily="34" charset="-122"/>
                <a:cs typeface="Calibri" pitchFamily="34" charset="-120"/>
              </a:rPr>
              <a:t>RH</a:t>
            </a:r>
            <a:endParaRPr lang="en-US" sz="1452" dirty="0"/>
          </a:p>
        </p:txBody>
      </p:sp>
      <p:sp>
        <p:nvSpPr>
          <p:cNvPr id="6" name="Text 4"/>
          <p:cNvSpPr txBox="1"/>
          <p:nvPr/>
        </p:nvSpPr>
        <p:spPr>
          <a:xfrm>
            <a:off x="1325880" y="1005840"/>
            <a:ext cx="7223760" cy="64008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Patient, 65, uses senior mode</a:t>
            </a:r>
            <a:pPr indent="0" marL="0">
              <a:buNone/>
            </a:pPr>
            <a:r>
              <a:rPr lang="en-US" sz="1150" dirty="0">
                <a:solidFill>
                  <a:srgbClr val="4B5563"/>
                </a:solidFill>
                <a:latin typeface="Calibri" pitchFamily="34" charset="0"/>
                <a:ea typeface="Calibri" pitchFamily="34" charset="-122"/>
                <a:cs typeface="Calibri" pitchFamily="34" charset="-120"/>
              </a:rPr>
              <a:t>   Goal: Simple, readable care that doesn't depend on her grandchildren</a:t>
            </a:r>
            <a:endParaRPr lang="en-US" sz="1150" dirty="0"/>
          </a:p>
        </p:txBody>
      </p:sp>
      <p:sp>
        <p:nvSpPr>
          <p:cNvPr id="7" name="Shape 5"/>
          <p:cNvSpPr/>
          <p:nvPr/>
        </p:nvSpPr>
        <p:spPr>
          <a:xfrm>
            <a:off x="457200" y="1828800"/>
            <a:ext cx="2651760" cy="1097280"/>
          </a:xfrm>
          <a:prstGeom prst="roundRect">
            <a:avLst>
              <a:gd name="adj" fmla="val 10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8" name="Shape 6"/>
          <p:cNvSpPr/>
          <p:nvPr/>
        </p:nvSpPr>
        <p:spPr>
          <a:xfrm>
            <a:off x="585216" y="1956816"/>
            <a:ext cx="420624" cy="420624"/>
          </a:xfrm>
          <a:prstGeom prst="ellipse">
            <a:avLst/>
          </a:prstGeom>
          <a:solidFill>
            <a:srgbClr val="1B6B63"/>
          </a:solidFill>
          <a:ln w="12700">
            <a:solidFill>
              <a:srgbClr val="1B6B63"/>
            </a:solidFill>
            <a:prstDash val="solid"/>
          </a:ln>
        </p:spPr>
      </p:sp>
      <p:pic>
        <p:nvPicPr>
          <p:cNvPr id="9" name="Image 0" descr="preencoded.png">    </p:cNvPr>
          <p:cNvPicPr>
            <a:picLocks noChangeAspect="1"/>
          </p:cNvPicPr>
          <p:nvPr/>
        </p:nvPicPr>
        <p:blipFill>
          <a:blip r:embed="rId1"/>
          <a:stretch>
            <a:fillRect/>
          </a:stretch>
        </p:blipFill>
        <p:spPr>
          <a:xfrm>
            <a:off x="690372" y="2061972"/>
            <a:ext cx="210312" cy="210312"/>
          </a:xfrm>
          <a:prstGeom prst="rect">
            <a:avLst/>
          </a:prstGeom>
        </p:spPr>
      </p:pic>
      <p:sp>
        <p:nvSpPr>
          <p:cNvPr id="10" name="Text 7"/>
          <p:cNvSpPr txBox="1"/>
          <p:nvPr/>
        </p:nvSpPr>
        <p:spPr>
          <a:xfrm>
            <a:off x="1115568" y="1938528"/>
            <a:ext cx="1901952" cy="45720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Big and simple</a:t>
            </a:r>
            <a:endParaRPr lang="en-US" sz="1150" dirty="0"/>
          </a:p>
        </p:txBody>
      </p:sp>
      <p:sp>
        <p:nvSpPr>
          <p:cNvPr id="11" name="Text 8"/>
          <p:cNvSpPr txBox="1"/>
          <p:nvPr/>
        </p:nvSpPr>
        <p:spPr>
          <a:xfrm>
            <a:off x="585216" y="2441448"/>
            <a:ext cx="2432304" cy="457200"/>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Large text, high contrast and four big buttons on her home screen</a:t>
            </a:r>
            <a:endParaRPr lang="en-US" sz="950" dirty="0"/>
          </a:p>
        </p:txBody>
      </p:sp>
      <p:sp>
        <p:nvSpPr>
          <p:cNvPr id="12" name="Shape 9"/>
          <p:cNvSpPr/>
          <p:nvPr/>
        </p:nvSpPr>
        <p:spPr>
          <a:xfrm>
            <a:off x="3246120" y="1828800"/>
            <a:ext cx="2651760" cy="1097280"/>
          </a:xfrm>
          <a:prstGeom prst="roundRect">
            <a:avLst>
              <a:gd name="adj" fmla="val 10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3" name="Shape 10"/>
          <p:cNvSpPr/>
          <p:nvPr/>
        </p:nvSpPr>
        <p:spPr>
          <a:xfrm>
            <a:off x="3374136" y="1956816"/>
            <a:ext cx="420624" cy="420624"/>
          </a:xfrm>
          <a:prstGeom prst="ellipse">
            <a:avLst/>
          </a:prstGeom>
          <a:solidFill>
            <a:srgbClr val="1B6B63"/>
          </a:solidFill>
          <a:ln w="12700">
            <a:solidFill>
              <a:srgbClr val="1B6B63"/>
            </a:solidFill>
            <a:prstDash val="solid"/>
          </a:ln>
        </p:spPr>
      </p:sp>
      <p:pic>
        <p:nvPicPr>
          <p:cNvPr id="14" name="Image 1" descr="preencoded.png">    </p:cNvPr>
          <p:cNvPicPr>
            <a:picLocks noChangeAspect="1"/>
          </p:cNvPicPr>
          <p:nvPr/>
        </p:nvPicPr>
        <p:blipFill>
          <a:blip r:embed="rId2"/>
          <a:stretch>
            <a:fillRect/>
          </a:stretch>
        </p:blipFill>
        <p:spPr>
          <a:xfrm>
            <a:off x="3479292" y="2061972"/>
            <a:ext cx="210312" cy="210312"/>
          </a:xfrm>
          <a:prstGeom prst="rect">
            <a:avLst/>
          </a:prstGeom>
        </p:spPr>
      </p:pic>
      <p:sp>
        <p:nvSpPr>
          <p:cNvPr id="15" name="Text 11"/>
          <p:cNvSpPr txBox="1"/>
          <p:nvPr/>
        </p:nvSpPr>
        <p:spPr>
          <a:xfrm>
            <a:off x="3904488" y="1938528"/>
            <a:ext cx="1901952" cy="45720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Speak and listen</a:t>
            </a:r>
            <a:endParaRPr lang="en-US" sz="1150" dirty="0"/>
          </a:p>
        </p:txBody>
      </p:sp>
      <p:sp>
        <p:nvSpPr>
          <p:cNvPr id="16" name="Text 12"/>
          <p:cNvSpPr txBox="1"/>
          <p:nvPr/>
        </p:nvSpPr>
        <p:spPr>
          <a:xfrm>
            <a:off x="3374136" y="2441448"/>
            <a:ext cx="2432304" cy="457200"/>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Ask by voice; replies read aloud, emergencies always read</a:t>
            </a:r>
            <a:endParaRPr lang="en-US" sz="950" dirty="0"/>
          </a:p>
        </p:txBody>
      </p:sp>
      <p:sp>
        <p:nvSpPr>
          <p:cNvPr id="17" name="Shape 13"/>
          <p:cNvSpPr/>
          <p:nvPr/>
        </p:nvSpPr>
        <p:spPr>
          <a:xfrm>
            <a:off x="6035040" y="1828800"/>
            <a:ext cx="2651760" cy="1097280"/>
          </a:xfrm>
          <a:prstGeom prst="roundRect">
            <a:avLst>
              <a:gd name="adj" fmla="val 10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8" name="Shape 14"/>
          <p:cNvSpPr/>
          <p:nvPr/>
        </p:nvSpPr>
        <p:spPr>
          <a:xfrm>
            <a:off x="6163056" y="1956816"/>
            <a:ext cx="420624" cy="420624"/>
          </a:xfrm>
          <a:prstGeom prst="ellipse">
            <a:avLst/>
          </a:prstGeom>
          <a:solidFill>
            <a:srgbClr val="1B6B63"/>
          </a:solidFill>
          <a:ln w="12700">
            <a:solidFill>
              <a:srgbClr val="1B6B63"/>
            </a:solidFill>
            <a:prstDash val="solid"/>
          </a:ln>
        </p:spPr>
      </p:sp>
      <p:pic>
        <p:nvPicPr>
          <p:cNvPr id="19" name="Image 2" descr="preencoded.png">    </p:cNvPr>
          <p:cNvPicPr>
            <a:picLocks noChangeAspect="1"/>
          </p:cNvPicPr>
          <p:nvPr/>
        </p:nvPicPr>
        <p:blipFill>
          <a:blip r:embed="rId3"/>
          <a:stretch>
            <a:fillRect/>
          </a:stretch>
        </p:blipFill>
        <p:spPr>
          <a:xfrm>
            <a:off x="6268212" y="2061972"/>
            <a:ext cx="210312" cy="210312"/>
          </a:xfrm>
          <a:prstGeom prst="rect">
            <a:avLst/>
          </a:prstGeom>
        </p:spPr>
      </p:pic>
      <p:sp>
        <p:nvSpPr>
          <p:cNvPr id="20" name="Text 15"/>
          <p:cNvSpPr txBox="1"/>
          <p:nvPr/>
        </p:nvSpPr>
        <p:spPr>
          <a:xfrm>
            <a:off x="6693408" y="1938528"/>
            <a:ext cx="1901952" cy="45720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One tap to the team</a:t>
            </a:r>
            <a:endParaRPr lang="en-US" sz="1150" dirty="0"/>
          </a:p>
        </p:txBody>
      </p:sp>
      <p:sp>
        <p:nvSpPr>
          <p:cNvPr id="21" name="Text 16"/>
          <p:cNvSpPr txBox="1"/>
          <p:nvPr/>
        </p:nvSpPr>
        <p:spPr>
          <a:xfrm>
            <a:off x="6163056" y="2441448"/>
            <a:ext cx="2432304" cy="457200"/>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Call her care team directly; step-free hospital directions</a:t>
            </a:r>
            <a:endParaRPr lang="en-US" sz="950" dirty="0"/>
          </a:p>
        </p:txBody>
      </p:sp>
      <p:sp>
        <p:nvSpPr>
          <p:cNvPr id="22" name="Text 17"/>
          <p:cNvSpPr txBox="1"/>
          <p:nvPr/>
        </p:nvSpPr>
        <p:spPr>
          <a:xfrm>
            <a:off x="457200" y="3035808"/>
            <a:ext cx="2743200" cy="274320"/>
          </a:xfrm>
          <a:prstGeom prst="rect">
            <a:avLst/>
          </a:prstGeom>
          <a:noFill/>
          <a:ln/>
        </p:spPr>
        <p:txBody>
          <a:bodyPr wrap="square" lIns="0" tIns="0" rIns="0" bIns="0" rtlCol="0" anchor="t"/>
          <a:lstStyle/>
          <a:p>
            <a:pPr indent="0" marL="0">
              <a:buNone/>
            </a:pPr>
            <a:r>
              <a:rPr lang="en-US" sz="1200" b="1" dirty="0">
                <a:solidFill>
                  <a:srgbClr val="134E4A"/>
                </a:solidFill>
                <a:latin typeface="Calibri" pitchFamily="34" charset="0"/>
                <a:ea typeface="Calibri" pitchFamily="34" charset="-122"/>
                <a:cs typeface="Calibri" pitchFamily="34" charset="-120"/>
              </a:rPr>
              <a:t>Journey</a:t>
            </a:r>
            <a:endParaRPr lang="en-US" sz="1200" dirty="0"/>
          </a:p>
        </p:txBody>
      </p:sp>
      <p:sp>
        <p:nvSpPr>
          <p:cNvPr id="23" name="Shape 18"/>
          <p:cNvSpPr/>
          <p:nvPr/>
        </p:nvSpPr>
        <p:spPr>
          <a:xfrm>
            <a:off x="457200"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24" name="Text 19"/>
          <p:cNvSpPr txBox="1"/>
          <p:nvPr/>
        </p:nvSpPr>
        <p:spPr>
          <a:xfrm>
            <a:off x="566928"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1  Taps the app icon</a:t>
            </a:r>
            <a:endParaRPr lang="en-US" sz="1050" dirty="0"/>
          </a:p>
        </p:txBody>
      </p:sp>
      <p:sp>
        <p:nvSpPr>
          <p:cNvPr id="25" name="Shape 20"/>
          <p:cNvSpPr/>
          <p:nvPr/>
        </p:nvSpPr>
        <p:spPr>
          <a:xfrm>
            <a:off x="566928" y="3867912"/>
            <a:ext cx="863194" cy="237744"/>
          </a:xfrm>
          <a:prstGeom prst="roundRect">
            <a:avLst>
              <a:gd name="adj" fmla="val 50000"/>
            </a:avLst>
          </a:prstGeom>
          <a:solidFill>
            <a:srgbClr val="FFFFFF"/>
          </a:solidFill>
          <a:ln w="12700">
            <a:solidFill>
              <a:srgbClr val="FFFFFF"/>
            </a:solidFill>
            <a:prstDash val="solid"/>
          </a:ln>
        </p:spPr>
      </p:sp>
      <p:sp>
        <p:nvSpPr>
          <p:cNvPr id="26" name="Text 21"/>
          <p:cNvSpPr txBox="1"/>
          <p:nvPr/>
        </p:nvSpPr>
        <p:spPr>
          <a:xfrm>
            <a:off x="566928" y="3867912"/>
            <a:ext cx="863194"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Home screen</a:t>
            </a:r>
            <a:endParaRPr lang="en-US" sz="850" dirty="0"/>
          </a:p>
        </p:txBody>
      </p:sp>
      <p:sp>
        <p:nvSpPr>
          <p:cNvPr id="27" name="Text 22"/>
          <p:cNvSpPr txBox="1"/>
          <p:nvPr/>
        </p:nvSpPr>
        <p:spPr>
          <a:xfrm>
            <a:off x="566928"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Installed app; four big choices</a:t>
            </a:r>
            <a:endParaRPr lang="en-US" sz="900" dirty="0"/>
          </a:p>
        </p:txBody>
      </p:sp>
      <p:sp>
        <p:nvSpPr>
          <p:cNvPr id="28" name="Shape 23"/>
          <p:cNvSpPr/>
          <p:nvPr/>
        </p:nvSpPr>
        <p:spPr>
          <a:xfrm>
            <a:off x="1960474" y="3904488"/>
            <a:ext cx="164592" cy="237744"/>
          </a:xfrm>
          <a:prstGeom prst="rightArrow">
            <a:avLst/>
          </a:prstGeom>
          <a:solidFill>
            <a:srgbClr val="2A9D8F"/>
          </a:solidFill>
          <a:ln w="12700">
            <a:solidFill>
              <a:srgbClr val="2A9D8F"/>
            </a:solidFill>
            <a:prstDash val="solid"/>
          </a:ln>
        </p:spPr>
      </p:sp>
      <p:sp>
        <p:nvSpPr>
          <p:cNvPr id="29" name="Shape 24"/>
          <p:cNvSpPr/>
          <p:nvPr/>
        </p:nvSpPr>
        <p:spPr>
          <a:xfrm>
            <a:off x="2143354"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30" name="Text 25"/>
          <p:cNvSpPr txBox="1"/>
          <p:nvPr/>
        </p:nvSpPr>
        <p:spPr>
          <a:xfrm>
            <a:off x="2253082"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2  Asks by voice</a:t>
            </a:r>
            <a:endParaRPr lang="en-US" sz="1050" dirty="0"/>
          </a:p>
        </p:txBody>
      </p:sp>
      <p:sp>
        <p:nvSpPr>
          <p:cNvPr id="31" name="Shape 26"/>
          <p:cNvSpPr/>
          <p:nvPr/>
        </p:nvSpPr>
        <p:spPr>
          <a:xfrm>
            <a:off x="2253082" y="3867912"/>
            <a:ext cx="921715" cy="237744"/>
          </a:xfrm>
          <a:prstGeom prst="roundRect">
            <a:avLst>
              <a:gd name="adj" fmla="val 50000"/>
            </a:avLst>
          </a:prstGeom>
          <a:solidFill>
            <a:srgbClr val="FFFFFF"/>
          </a:solidFill>
          <a:ln w="12700">
            <a:solidFill>
              <a:srgbClr val="FFFFFF"/>
            </a:solidFill>
            <a:prstDash val="solid"/>
          </a:ln>
        </p:spPr>
      </p:sp>
      <p:sp>
        <p:nvSpPr>
          <p:cNvPr id="32" name="Text 27"/>
          <p:cNvSpPr txBox="1"/>
          <p:nvPr/>
        </p:nvSpPr>
        <p:spPr>
          <a:xfrm>
            <a:off x="2253082" y="3867912"/>
            <a:ext cx="921715"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Ask Bioverse</a:t>
            </a:r>
            <a:endParaRPr lang="en-US" sz="850" dirty="0"/>
          </a:p>
        </p:txBody>
      </p:sp>
      <p:sp>
        <p:nvSpPr>
          <p:cNvPr id="33" name="Text 28"/>
          <p:cNvSpPr txBox="1"/>
          <p:nvPr/>
        </p:nvSpPr>
        <p:spPr>
          <a:xfrm>
            <a:off x="2253082"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"Can I take a cold medicine?"</a:t>
            </a:r>
            <a:endParaRPr lang="en-US" sz="900" dirty="0"/>
          </a:p>
        </p:txBody>
      </p:sp>
      <p:sp>
        <p:nvSpPr>
          <p:cNvPr id="34" name="Shape 29"/>
          <p:cNvSpPr/>
          <p:nvPr/>
        </p:nvSpPr>
        <p:spPr>
          <a:xfrm>
            <a:off x="3646627" y="3904488"/>
            <a:ext cx="164592" cy="237744"/>
          </a:xfrm>
          <a:prstGeom prst="rightArrow">
            <a:avLst/>
          </a:prstGeom>
          <a:solidFill>
            <a:srgbClr val="2A9D8F"/>
          </a:solidFill>
          <a:ln w="12700">
            <a:solidFill>
              <a:srgbClr val="2A9D8F"/>
            </a:solidFill>
            <a:prstDash val="solid"/>
          </a:ln>
        </p:spPr>
      </p:sp>
      <p:sp>
        <p:nvSpPr>
          <p:cNvPr id="35" name="Shape 30"/>
          <p:cNvSpPr/>
          <p:nvPr/>
        </p:nvSpPr>
        <p:spPr>
          <a:xfrm>
            <a:off x="3829507"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36" name="Text 31"/>
          <p:cNvSpPr txBox="1"/>
          <p:nvPr/>
        </p:nvSpPr>
        <p:spPr>
          <a:xfrm>
            <a:off x="3939235"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3  Hears the answer</a:t>
            </a:r>
            <a:endParaRPr lang="en-US" sz="1050" dirty="0"/>
          </a:p>
        </p:txBody>
      </p:sp>
      <p:sp>
        <p:nvSpPr>
          <p:cNvPr id="37" name="Shape 32"/>
          <p:cNvSpPr/>
          <p:nvPr/>
        </p:nvSpPr>
        <p:spPr>
          <a:xfrm>
            <a:off x="3939235" y="3867912"/>
            <a:ext cx="804672" cy="237744"/>
          </a:xfrm>
          <a:prstGeom prst="roundRect">
            <a:avLst>
              <a:gd name="adj" fmla="val 50000"/>
            </a:avLst>
          </a:prstGeom>
          <a:solidFill>
            <a:srgbClr val="FFFFFF"/>
          </a:solidFill>
          <a:ln w="12700">
            <a:solidFill>
              <a:srgbClr val="FFFFFF"/>
            </a:solidFill>
            <a:prstDash val="solid"/>
          </a:ln>
        </p:spPr>
      </p:sp>
      <p:sp>
        <p:nvSpPr>
          <p:cNvPr id="38" name="Text 33"/>
          <p:cNvSpPr txBox="1"/>
          <p:nvPr/>
        </p:nvSpPr>
        <p:spPr>
          <a:xfrm>
            <a:off x="3939235" y="3867912"/>
            <a:ext cx="804672"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Read-aloud</a:t>
            </a:r>
            <a:endParaRPr lang="en-US" sz="850" dirty="0"/>
          </a:p>
        </p:txBody>
      </p:sp>
      <p:sp>
        <p:nvSpPr>
          <p:cNvPr id="39" name="Text 34"/>
          <p:cNvSpPr txBox="1"/>
          <p:nvPr/>
        </p:nvSpPr>
        <p:spPr>
          <a:xfrm>
            <a:off x="3939235"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Told to check with the pharmacist</a:t>
            </a:r>
            <a:endParaRPr lang="en-US" sz="900" dirty="0"/>
          </a:p>
        </p:txBody>
      </p:sp>
      <p:sp>
        <p:nvSpPr>
          <p:cNvPr id="40" name="Shape 35"/>
          <p:cNvSpPr/>
          <p:nvPr/>
        </p:nvSpPr>
        <p:spPr>
          <a:xfrm>
            <a:off x="5332781" y="3904488"/>
            <a:ext cx="164592" cy="237744"/>
          </a:xfrm>
          <a:prstGeom prst="rightArrow">
            <a:avLst/>
          </a:prstGeom>
          <a:solidFill>
            <a:srgbClr val="2A9D8F"/>
          </a:solidFill>
          <a:ln w="12700">
            <a:solidFill>
              <a:srgbClr val="2A9D8F"/>
            </a:solidFill>
            <a:prstDash val="solid"/>
          </a:ln>
        </p:spPr>
      </p:sp>
      <p:sp>
        <p:nvSpPr>
          <p:cNvPr id="41" name="Shape 36"/>
          <p:cNvSpPr/>
          <p:nvPr/>
        </p:nvSpPr>
        <p:spPr>
          <a:xfrm>
            <a:off x="5515661"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42" name="Text 37"/>
          <p:cNvSpPr txBox="1"/>
          <p:nvPr/>
        </p:nvSpPr>
        <p:spPr>
          <a:xfrm>
            <a:off x="5625389"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4  Order is checked</a:t>
            </a:r>
            <a:endParaRPr lang="en-US" sz="1050" dirty="0"/>
          </a:p>
        </p:txBody>
      </p:sp>
      <p:sp>
        <p:nvSpPr>
          <p:cNvPr id="43" name="Shape 38"/>
          <p:cNvSpPr/>
          <p:nvPr/>
        </p:nvSpPr>
        <p:spPr>
          <a:xfrm>
            <a:off x="5625389" y="3867912"/>
            <a:ext cx="1097280" cy="237744"/>
          </a:xfrm>
          <a:prstGeom prst="roundRect">
            <a:avLst>
              <a:gd name="adj" fmla="val 50000"/>
            </a:avLst>
          </a:prstGeom>
          <a:solidFill>
            <a:srgbClr val="FFFFFF"/>
          </a:solidFill>
          <a:ln w="12700">
            <a:solidFill>
              <a:srgbClr val="FFFFFF"/>
            </a:solidFill>
            <a:prstDash val="solid"/>
          </a:ln>
        </p:spPr>
      </p:sp>
      <p:sp>
        <p:nvSpPr>
          <p:cNvPr id="44" name="Text 39"/>
          <p:cNvSpPr txBox="1"/>
          <p:nvPr/>
        </p:nvSpPr>
        <p:spPr>
          <a:xfrm>
            <a:off x="5625389" y="3867912"/>
            <a:ext cx="1097280"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Order medicines</a:t>
            </a:r>
            <a:endParaRPr lang="en-US" sz="850" dirty="0"/>
          </a:p>
        </p:txBody>
      </p:sp>
      <p:sp>
        <p:nvSpPr>
          <p:cNvPr id="45" name="Text 40"/>
          <p:cNvSpPr txBox="1"/>
          <p:nvPr/>
        </p:nvSpPr>
        <p:spPr>
          <a:xfrm>
            <a:off x="5625389"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Decongestant flagged with her blood-pressure medicine</a:t>
            </a:r>
            <a:endParaRPr lang="en-US" sz="900" dirty="0"/>
          </a:p>
        </p:txBody>
      </p:sp>
      <p:sp>
        <p:nvSpPr>
          <p:cNvPr id="46" name="Shape 41"/>
          <p:cNvSpPr/>
          <p:nvPr/>
        </p:nvSpPr>
        <p:spPr>
          <a:xfrm>
            <a:off x="7018934" y="3904488"/>
            <a:ext cx="164592" cy="237744"/>
          </a:xfrm>
          <a:prstGeom prst="rightArrow">
            <a:avLst/>
          </a:prstGeom>
          <a:solidFill>
            <a:srgbClr val="2A9D8F"/>
          </a:solidFill>
          <a:ln w="12700">
            <a:solidFill>
              <a:srgbClr val="2A9D8F"/>
            </a:solidFill>
            <a:prstDash val="solid"/>
          </a:ln>
        </p:spPr>
      </p:sp>
      <p:sp>
        <p:nvSpPr>
          <p:cNvPr id="47" name="Shape 42"/>
          <p:cNvSpPr/>
          <p:nvPr/>
        </p:nvSpPr>
        <p:spPr>
          <a:xfrm>
            <a:off x="7201814"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48" name="Text 43"/>
          <p:cNvSpPr txBox="1"/>
          <p:nvPr/>
        </p:nvSpPr>
        <p:spPr>
          <a:xfrm>
            <a:off x="7311542"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5  Finds the clinic</a:t>
            </a:r>
            <a:endParaRPr lang="en-US" sz="1050" dirty="0"/>
          </a:p>
        </p:txBody>
      </p:sp>
      <p:sp>
        <p:nvSpPr>
          <p:cNvPr id="49" name="Shape 44"/>
          <p:cNvSpPr/>
          <p:nvPr/>
        </p:nvSpPr>
        <p:spPr>
          <a:xfrm>
            <a:off x="7311542" y="3867912"/>
            <a:ext cx="980237" cy="237744"/>
          </a:xfrm>
          <a:prstGeom prst="roundRect">
            <a:avLst>
              <a:gd name="adj" fmla="val 50000"/>
            </a:avLst>
          </a:prstGeom>
          <a:solidFill>
            <a:srgbClr val="FFFFFF"/>
          </a:solidFill>
          <a:ln w="12700">
            <a:solidFill>
              <a:srgbClr val="FFFFFF"/>
            </a:solidFill>
            <a:prstDash val="solid"/>
          </a:ln>
        </p:spPr>
      </p:sp>
      <p:sp>
        <p:nvSpPr>
          <p:cNvPr id="50" name="Text 45"/>
          <p:cNvSpPr txBox="1"/>
          <p:nvPr/>
        </p:nvSpPr>
        <p:spPr>
          <a:xfrm>
            <a:off x="7311542" y="3867912"/>
            <a:ext cx="980237"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Find your way</a:t>
            </a:r>
            <a:endParaRPr lang="en-US" sz="850" dirty="0"/>
          </a:p>
        </p:txBody>
      </p:sp>
      <p:sp>
        <p:nvSpPr>
          <p:cNvPr id="51" name="Text 46"/>
          <p:cNvSpPr txBox="1"/>
          <p:nvPr/>
        </p:nvSpPr>
        <p:spPr>
          <a:xfrm>
            <a:off x="7311542"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Step-free route with Elevator B</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David: caring for Maya, with consent</a:t>
            </a:r>
            <a:endParaRPr lang="en-US" sz="2800" dirty="0"/>
          </a:p>
        </p:txBody>
      </p:sp>
      <p:sp>
        <p:nvSpPr>
          <p:cNvPr id="3" name="Shape 1"/>
          <p:cNvSpPr/>
          <p:nvPr/>
        </p:nvSpPr>
        <p:spPr>
          <a:xfrm>
            <a:off x="457200" y="960120"/>
            <a:ext cx="8229600" cy="731520"/>
          </a:xfrm>
          <a:prstGeom prst="roundRect">
            <a:avLst>
              <a:gd name="adj" fmla="val 15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4" name="Shape 2"/>
          <p:cNvSpPr/>
          <p:nvPr/>
        </p:nvSpPr>
        <p:spPr>
          <a:xfrm>
            <a:off x="594360" y="1024128"/>
            <a:ext cx="603504" cy="603504"/>
          </a:xfrm>
          <a:prstGeom prst="ellipse">
            <a:avLst/>
          </a:prstGeom>
          <a:solidFill>
            <a:srgbClr val="0369A1"/>
          </a:solidFill>
          <a:ln w="25400">
            <a:solidFill>
              <a:srgbClr val="FFFFFF"/>
            </a:solidFill>
            <a:prstDash val="solid"/>
          </a:ln>
        </p:spPr>
      </p:sp>
      <p:sp>
        <p:nvSpPr>
          <p:cNvPr id="5" name="Text 3"/>
          <p:cNvSpPr txBox="1"/>
          <p:nvPr/>
        </p:nvSpPr>
        <p:spPr>
          <a:xfrm>
            <a:off x="594360" y="1024128"/>
            <a:ext cx="603504" cy="603504"/>
          </a:xfrm>
          <a:prstGeom prst="rect">
            <a:avLst/>
          </a:prstGeom>
          <a:noFill/>
          <a:ln/>
        </p:spPr>
        <p:txBody>
          <a:bodyPr wrap="square" lIns="0" tIns="0" rIns="0" bIns="0" rtlCol="0" anchor="ctr"/>
          <a:lstStyle/>
          <a:p>
            <a:pPr algn="ctr" indent="0" marL="0">
              <a:buNone/>
            </a:pPr>
            <a:r>
              <a:rPr lang="en-US" sz="1452" b="1" dirty="0">
                <a:solidFill>
                  <a:srgbClr val="FFFFFF"/>
                </a:solidFill>
                <a:latin typeface="Calibri" pitchFamily="34" charset="0"/>
                <a:ea typeface="Calibri" pitchFamily="34" charset="-122"/>
                <a:cs typeface="Calibri" pitchFamily="34" charset="-120"/>
              </a:rPr>
              <a:t>DT</a:t>
            </a:r>
            <a:endParaRPr lang="en-US" sz="1452" dirty="0"/>
          </a:p>
        </p:txBody>
      </p:sp>
      <p:sp>
        <p:nvSpPr>
          <p:cNvPr id="6" name="Text 4"/>
          <p:cNvSpPr txBox="1"/>
          <p:nvPr/>
        </p:nvSpPr>
        <p:spPr>
          <a:xfrm>
            <a:off x="1325880" y="1005840"/>
            <a:ext cx="7223760" cy="64008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Caregiver and patient</a:t>
            </a:r>
            <a:pPr indent="0" marL="0">
              <a:buNone/>
            </a:pPr>
            <a:r>
              <a:rPr lang="en-US" sz="1150" dirty="0">
                <a:solidFill>
                  <a:srgbClr val="4B5563"/>
                </a:solidFill>
                <a:latin typeface="Calibri" pitchFamily="34" charset="0"/>
                <a:ea typeface="Calibri" pitchFamily="34" charset="-122"/>
                <a:cs typeface="Calibri" pitchFamily="34" charset="-120"/>
              </a:rPr>
              <a:t>   Goal: Help with appointments and reminders without seeing more than Maya allows</a:t>
            </a:r>
            <a:endParaRPr lang="en-US" sz="1150" dirty="0"/>
          </a:p>
        </p:txBody>
      </p:sp>
      <p:sp>
        <p:nvSpPr>
          <p:cNvPr id="7" name="Shape 5"/>
          <p:cNvSpPr/>
          <p:nvPr/>
        </p:nvSpPr>
        <p:spPr>
          <a:xfrm>
            <a:off x="457200" y="1828800"/>
            <a:ext cx="2651760" cy="1097280"/>
          </a:xfrm>
          <a:prstGeom prst="roundRect">
            <a:avLst>
              <a:gd name="adj" fmla="val 10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8" name="Shape 6"/>
          <p:cNvSpPr/>
          <p:nvPr/>
        </p:nvSpPr>
        <p:spPr>
          <a:xfrm>
            <a:off x="585216" y="1956816"/>
            <a:ext cx="420624" cy="420624"/>
          </a:xfrm>
          <a:prstGeom prst="ellipse">
            <a:avLst/>
          </a:prstGeom>
          <a:solidFill>
            <a:srgbClr val="1B6B63"/>
          </a:solidFill>
          <a:ln w="12700">
            <a:solidFill>
              <a:srgbClr val="1B6B63"/>
            </a:solidFill>
            <a:prstDash val="solid"/>
          </a:ln>
        </p:spPr>
      </p:sp>
      <p:pic>
        <p:nvPicPr>
          <p:cNvPr id="9" name="Image 0" descr="preencoded.png">    </p:cNvPr>
          <p:cNvPicPr>
            <a:picLocks noChangeAspect="1"/>
          </p:cNvPicPr>
          <p:nvPr/>
        </p:nvPicPr>
        <p:blipFill>
          <a:blip r:embed="rId1"/>
          <a:stretch>
            <a:fillRect/>
          </a:stretch>
        </p:blipFill>
        <p:spPr>
          <a:xfrm>
            <a:off x="690372" y="2061972"/>
            <a:ext cx="210312" cy="210312"/>
          </a:xfrm>
          <a:prstGeom prst="rect">
            <a:avLst/>
          </a:prstGeom>
        </p:spPr>
      </p:pic>
      <p:sp>
        <p:nvSpPr>
          <p:cNvPr id="10" name="Text 7"/>
          <p:cNvSpPr txBox="1"/>
          <p:nvPr/>
        </p:nvSpPr>
        <p:spPr>
          <a:xfrm>
            <a:off x="1115568" y="1938528"/>
            <a:ext cx="1901952" cy="45720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Consent-based access</a:t>
            </a:r>
            <a:endParaRPr lang="en-US" sz="1150" dirty="0"/>
          </a:p>
        </p:txBody>
      </p:sp>
      <p:sp>
        <p:nvSpPr>
          <p:cNvPr id="11" name="Text 8"/>
          <p:cNvSpPr txBox="1"/>
          <p:nvPr/>
        </p:nvSpPr>
        <p:spPr>
          <a:xfrm>
            <a:off x="585216" y="2441448"/>
            <a:ext cx="2432304" cy="457200"/>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Maya chooses what he can see and do, and can take it back</a:t>
            </a:r>
            <a:endParaRPr lang="en-US" sz="950" dirty="0"/>
          </a:p>
        </p:txBody>
      </p:sp>
      <p:sp>
        <p:nvSpPr>
          <p:cNvPr id="12" name="Shape 9"/>
          <p:cNvSpPr/>
          <p:nvPr/>
        </p:nvSpPr>
        <p:spPr>
          <a:xfrm>
            <a:off x="3246120" y="1828800"/>
            <a:ext cx="2651760" cy="1097280"/>
          </a:xfrm>
          <a:prstGeom prst="roundRect">
            <a:avLst>
              <a:gd name="adj" fmla="val 10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3" name="Shape 10"/>
          <p:cNvSpPr/>
          <p:nvPr/>
        </p:nvSpPr>
        <p:spPr>
          <a:xfrm>
            <a:off x="3374136" y="1956816"/>
            <a:ext cx="420624" cy="420624"/>
          </a:xfrm>
          <a:prstGeom prst="ellipse">
            <a:avLst/>
          </a:prstGeom>
          <a:solidFill>
            <a:srgbClr val="1B6B63"/>
          </a:solidFill>
          <a:ln w="12700">
            <a:solidFill>
              <a:srgbClr val="1B6B63"/>
            </a:solidFill>
            <a:prstDash val="solid"/>
          </a:ln>
        </p:spPr>
      </p:sp>
      <p:pic>
        <p:nvPicPr>
          <p:cNvPr id="14" name="Image 1" descr="preencoded.png">    </p:cNvPr>
          <p:cNvPicPr>
            <a:picLocks noChangeAspect="1"/>
          </p:cNvPicPr>
          <p:nvPr/>
        </p:nvPicPr>
        <p:blipFill>
          <a:blip r:embed="rId2"/>
          <a:stretch>
            <a:fillRect/>
          </a:stretch>
        </p:blipFill>
        <p:spPr>
          <a:xfrm>
            <a:off x="3479292" y="2061972"/>
            <a:ext cx="210312" cy="210312"/>
          </a:xfrm>
          <a:prstGeom prst="rect">
            <a:avLst/>
          </a:prstGeom>
        </p:spPr>
      </p:pic>
      <p:sp>
        <p:nvSpPr>
          <p:cNvPr id="15" name="Text 11"/>
          <p:cNvSpPr txBox="1"/>
          <p:nvPr/>
        </p:nvSpPr>
        <p:spPr>
          <a:xfrm>
            <a:off x="3904488" y="1938528"/>
            <a:ext cx="1901952" cy="45720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Stay on top of care</a:t>
            </a:r>
            <a:endParaRPr lang="en-US" sz="1150" dirty="0"/>
          </a:p>
        </p:txBody>
      </p:sp>
      <p:sp>
        <p:nvSpPr>
          <p:cNvPr id="16" name="Text 12"/>
          <p:cNvSpPr txBox="1"/>
          <p:nvPr/>
        </p:nvSpPr>
        <p:spPr>
          <a:xfrm>
            <a:off x="3374136" y="2441448"/>
            <a:ext cx="2432304" cy="457200"/>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Appointments, reminders and messages for the people he helps</a:t>
            </a:r>
            <a:endParaRPr lang="en-US" sz="950" dirty="0"/>
          </a:p>
        </p:txBody>
      </p:sp>
      <p:sp>
        <p:nvSpPr>
          <p:cNvPr id="17" name="Shape 13"/>
          <p:cNvSpPr/>
          <p:nvPr/>
        </p:nvSpPr>
        <p:spPr>
          <a:xfrm>
            <a:off x="6035040" y="1828800"/>
            <a:ext cx="2651760" cy="1097280"/>
          </a:xfrm>
          <a:prstGeom prst="roundRect">
            <a:avLst>
              <a:gd name="adj" fmla="val 10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8" name="Shape 14"/>
          <p:cNvSpPr/>
          <p:nvPr/>
        </p:nvSpPr>
        <p:spPr>
          <a:xfrm>
            <a:off x="6163056" y="1956816"/>
            <a:ext cx="420624" cy="420624"/>
          </a:xfrm>
          <a:prstGeom prst="ellipse">
            <a:avLst/>
          </a:prstGeom>
          <a:solidFill>
            <a:srgbClr val="1B6B63"/>
          </a:solidFill>
          <a:ln w="12700">
            <a:solidFill>
              <a:srgbClr val="1B6B63"/>
            </a:solidFill>
            <a:prstDash val="solid"/>
          </a:ln>
        </p:spPr>
      </p:sp>
      <p:pic>
        <p:nvPicPr>
          <p:cNvPr id="19" name="Image 2" descr="preencoded.png">    </p:cNvPr>
          <p:cNvPicPr>
            <a:picLocks noChangeAspect="1"/>
          </p:cNvPicPr>
          <p:nvPr/>
        </p:nvPicPr>
        <p:blipFill>
          <a:blip r:embed="rId3"/>
          <a:stretch>
            <a:fillRect/>
          </a:stretch>
        </p:blipFill>
        <p:spPr>
          <a:xfrm>
            <a:off x="6268212" y="2061972"/>
            <a:ext cx="210312" cy="210312"/>
          </a:xfrm>
          <a:prstGeom prst="rect">
            <a:avLst/>
          </a:prstGeom>
        </p:spPr>
      </p:pic>
      <p:sp>
        <p:nvSpPr>
          <p:cNvPr id="20" name="Text 15"/>
          <p:cNvSpPr txBox="1"/>
          <p:nvPr/>
        </p:nvSpPr>
        <p:spPr>
          <a:xfrm>
            <a:off x="6693408" y="1938528"/>
            <a:ext cx="1901952" cy="45720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Every view is logged</a:t>
            </a:r>
            <a:endParaRPr lang="en-US" sz="1150" dirty="0"/>
          </a:p>
        </p:txBody>
      </p:sp>
      <p:sp>
        <p:nvSpPr>
          <p:cNvPr id="21" name="Text 16"/>
          <p:cNvSpPr txBox="1"/>
          <p:nvPr/>
        </p:nvSpPr>
        <p:spPr>
          <a:xfrm>
            <a:off x="6163056" y="2441448"/>
            <a:ext cx="2432304" cy="457200"/>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Maya sees who looked at her record, in the privacy center</a:t>
            </a:r>
            <a:endParaRPr lang="en-US" sz="950" dirty="0"/>
          </a:p>
        </p:txBody>
      </p:sp>
      <p:sp>
        <p:nvSpPr>
          <p:cNvPr id="22" name="Text 17"/>
          <p:cNvSpPr txBox="1"/>
          <p:nvPr/>
        </p:nvSpPr>
        <p:spPr>
          <a:xfrm>
            <a:off x="457200" y="3035808"/>
            <a:ext cx="2743200" cy="274320"/>
          </a:xfrm>
          <a:prstGeom prst="rect">
            <a:avLst/>
          </a:prstGeom>
          <a:noFill/>
          <a:ln/>
        </p:spPr>
        <p:txBody>
          <a:bodyPr wrap="square" lIns="0" tIns="0" rIns="0" bIns="0" rtlCol="0" anchor="t"/>
          <a:lstStyle/>
          <a:p>
            <a:pPr indent="0" marL="0">
              <a:buNone/>
            </a:pPr>
            <a:r>
              <a:rPr lang="en-US" sz="1200" b="1" dirty="0">
                <a:solidFill>
                  <a:srgbClr val="134E4A"/>
                </a:solidFill>
                <a:latin typeface="Calibri" pitchFamily="34" charset="0"/>
                <a:ea typeface="Calibri" pitchFamily="34" charset="-122"/>
                <a:cs typeface="Calibri" pitchFamily="34" charset="-120"/>
              </a:rPr>
              <a:t>Journey</a:t>
            </a:r>
            <a:endParaRPr lang="en-US" sz="1200" dirty="0"/>
          </a:p>
        </p:txBody>
      </p:sp>
      <p:sp>
        <p:nvSpPr>
          <p:cNvPr id="23" name="Shape 18"/>
          <p:cNvSpPr/>
          <p:nvPr/>
        </p:nvSpPr>
        <p:spPr>
          <a:xfrm>
            <a:off x="457200"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24" name="Text 19"/>
          <p:cNvSpPr txBox="1"/>
          <p:nvPr/>
        </p:nvSpPr>
        <p:spPr>
          <a:xfrm>
            <a:off x="566928"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1  Maya grants access</a:t>
            </a:r>
            <a:endParaRPr lang="en-US" sz="1050" dirty="0"/>
          </a:p>
        </p:txBody>
      </p:sp>
      <p:sp>
        <p:nvSpPr>
          <p:cNvPr id="25" name="Shape 20"/>
          <p:cNvSpPr/>
          <p:nvPr/>
        </p:nvSpPr>
        <p:spPr>
          <a:xfrm>
            <a:off x="566928" y="3867912"/>
            <a:ext cx="570586" cy="237744"/>
          </a:xfrm>
          <a:prstGeom prst="roundRect">
            <a:avLst>
              <a:gd name="adj" fmla="val 50000"/>
            </a:avLst>
          </a:prstGeom>
          <a:solidFill>
            <a:srgbClr val="FFFFFF"/>
          </a:solidFill>
          <a:ln w="12700">
            <a:solidFill>
              <a:srgbClr val="FFFFFF"/>
            </a:solidFill>
            <a:prstDash val="solid"/>
          </a:ln>
        </p:spPr>
      </p:sp>
      <p:sp>
        <p:nvSpPr>
          <p:cNvPr id="26" name="Text 21"/>
          <p:cNvSpPr txBox="1"/>
          <p:nvPr/>
        </p:nvSpPr>
        <p:spPr>
          <a:xfrm>
            <a:off x="566928" y="3867912"/>
            <a:ext cx="570586"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Family</a:t>
            </a:r>
            <a:endParaRPr lang="en-US" sz="850" dirty="0"/>
          </a:p>
        </p:txBody>
      </p:sp>
      <p:sp>
        <p:nvSpPr>
          <p:cNvPr id="27" name="Text 22"/>
          <p:cNvSpPr txBox="1"/>
          <p:nvPr/>
        </p:nvSpPr>
        <p:spPr>
          <a:xfrm>
            <a:off x="566928"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Appointments and messages, not results</a:t>
            </a:r>
            <a:endParaRPr lang="en-US" sz="900" dirty="0"/>
          </a:p>
        </p:txBody>
      </p:sp>
      <p:sp>
        <p:nvSpPr>
          <p:cNvPr id="28" name="Shape 23"/>
          <p:cNvSpPr/>
          <p:nvPr/>
        </p:nvSpPr>
        <p:spPr>
          <a:xfrm>
            <a:off x="1960474" y="3904488"/>
            <a:ext cx="164592" cy="237744"/>
          </a:xfrm>
          <a:prstGeom prst="rightArrow">
            <a:avLst/>
          </a:prstGeom>
          <a:solidFill>
            <a:srgbClr val="2A9D8F"/>
          </a:solidFill>
          <a:ln w="12700">
            <a:solidFill>
              <a:srgbClr val="2A9D8F"/>
            </a:solidFill>
            <a:prstDash val="solid"/>
          </a:ln>
        </p:spPr>
      </p:sp>
      <p:sp>
        <p:nvSpPr>
          <p:cNvPr id="29" name="Shape 24"/>
          <p:cNvSpPr/>
          <p:nvPr/>
        </p:nvSpPr>
        <p:spPr>
          <a:xfrm>
            <a:off x="2143354"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30" name="Text 25"/>
          <p:cNvSpPr txBox="1"/>
          <p:nvPr/>
        </p:nvSpPr>
        <p:spPr>
          <a:xfrm>
            <a:off x="2253082"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2  Switches to Maya</a:t>
            </a:r>
            <a:endParaRPr lang="en-US" sz="1050" dirty="0"/>
          </a:p>
        </p:txBody>
      </p:sp>
      <p:sp>
        <p:nvSpPr>
          <p:cNvPr id="31" name="Shape 26"/>
          <p:cNvSpPr/>
          <p:nvPr/>
        </p:nvSpPr>
        <p:spPr>
          <a:xfrm>
            <a:off x="2253082" y="3867912"/>
            <a:ext cx="1038758" cy="237744"/>
          </a:xfrm>
          <a:prstGeom prst="roundRect">
            <a:avLst>
              <a:gd name="adj" fmla="val 50000"/>
            </a:avLst>
          </a:prstGeom>
          <a:solidFill>
            <a:srgbClr val="FFFFFF"/>
          </a:solidFill>
          <a:ln w="12700">
            <a:solidFill>
              <a:srgbClr val="FFFFFF"/>
            </a:solidFill>
            <a:prstDash val="solid"/>
          </a:ln>
        </p:spPr>
      </p:sp>
      <p:sp>
        <p:nvSpPr>
          <p:cNvPr id="32" name="Text 27"/>
          <p:cNvSpPr txBox="1"/>
          <p:nvPr/>
        </p:nvSpPr>
        <p:spPr>
          <a:xfrm>
            <a:off x="2253082" y="3867912"/>
            <a:ext cx="1038758"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Caregiver view</a:t>
            </a:r>
            <a:endParaRPr lang="en-US" sz="850" dirty="0"/>
          </a:p>
        </p:txBody>
      </p:sp>
      <p:sp>
        <p:nvSpPr>
          <p:cNvPr id="33" name="Text 28"/>
          <p:cNvSpPr txBox="1"/>
          <p:nvPr/>
        </p:nvSpPr>
        <p:spPr>
          <a:xfrm>
            <a:off x="2253082"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Acts for her, clearly labelled</a:t>
            </a:r>
            <a:endParaRPr lang="en-US" sz="900" dirty="0"/>
          </a:p>
        </p:txBody>
      </p:sp>
      <p:sp>
        <p:nvSpPr>
          <p:cNvPr id="34" name="Shape 29"/>
          <p:cNvSpPr/>
          <p:nvPr/>
        </p:nvSpPr>
        <p:spPr>
          <a:xfrm>
            <a:off x="3646627" y="3904488"/>
            <a:ext cx="164592" cy="237744"/>
          </a:xfrm>
          <a:prstGeom prst="rightArrow">
            <a:avLst/>
          </a:prstGeom>
          <a:solidFill>
            <a:srgbClr val="2A9D8F"/>
          </a:solidFill>
          <a:ln w="12700">
            <a:solidFill>
              <a:srgbClr val="2A9D8F"/>
            </a:solidFill>
            <a:prstDash val="solid"/>
          </a:ln>
        </p:spPr>
      </p:sp>
      <p:sp>
        <p:nvSpPr>
          <p:cNvPr id="35" name="Shape 30"/>
          <p:cNvSpPr/>
          <p:nvPr/>
        </p:nvSpPr>
        <p:spPr>
          <a:xfrm>
            <a:off x="3829507"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36" name="Text 31"/>
          <p:cNvSpPr txBox="1"/>
          <p:nvPr/>
        </p:nvSpPr>
        <p:spPr>
          <a:xfrm>
            <a:off x="3939235"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3  Books a visit</a:t>
            </a:r>
            <a:endParaRPr lang="en-US" sz="1050" dirty="0"/>
          </a:p>
        </p:txBody>
      </p:sp>
      <p:sp>
        <p:nvSpPr>
          <p:cNvPr id="37" name="Shape 32"/>
          <p:cNvSpPr/>
          <p:nvPr/>
        </p:nvSpPr>
        <p:spPr>
          <a:xfrm>
            <a:off x="3939235" y="3867912"/>
            <a:ext cx="570586" cy="237744"/>
          </a:xfrm>
          <a:prstGeom prst="roundRect">
            <a:avLst>
              <a:gd name="adj" fmla="val 50000"/>
            </a:avLst>
          </a:prstGeom>
          <a:solidFill>
            <a:srgbClr val="FFFFFF"/>
          </a:solidFill>
          <a:ln w="12700">
            <a:solidFill>
              <a:srgbClr val="FFFFFF"/>
            </a:solidFill>
            <a:prstDash val="solid"/>
          </a:ln>
        </p:spPr>
      </p:sp>
      <p:sp>
        <p:nvSpPr>
          <p:cNvPr id="38" name="Text 33"/>
          <p:cNvSpPr txBox="1"/>
          <p:nvPr/>
        </p:nvSpPr>
        <p:spPr>
          <a:xfrm>
            <a:off x="3939235" y="3867912"/>
            <a:ext cx="570586"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Visits</a:t>
            </a:r>
            <a:endParaRPr lang="en-US" sz="850" dirty="0"/>
          </a:p>
        </p:txBody>
      </p:sp>
      <p:sp>
        <p:nvSpPr>
          <p:cNvPr id="39" name="Text 34"/>
          <p:cNvSpPr txBox="1"/>
          <p:nvPr/>
        </p:nvSpPr>
        <p:spPr>
          <a:xfrm>
            <a:off x="3939235"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Picks a time that suits both</a:t>
            </a:r>
            <a:endParaRPr lang="en-US" sz="900" dirty="0"/>
          </a:p>
        </p:txBody>
      </p:sp>
      <p:sp>
        <p:nvSpPr>
          <p:cNvPr id="40" name="Shape 35"/>
          <p:cNvSpPr/>
          <p:nvPr/>
        </p:nvSpPr>
        <p:spPr>
          <a:xfrm>
            <a:off x="5332781" y="3904488"/>
            <a:ext cx="164592" cy="237744"/>
          </a:xfrm>
          <a:prstGeom prst="rightArrow">
            <a:avLst/>
          </a:prstGeom>
          <a:solidFill>
            <a:srgbClr val="2A9D8F"/>
          </a:solidFill>
          <a:ln w="12700">
            <a:solidFill>
              <a:srgbClr val="2A9D8F"/>
            </a:solidFill>
            <a:prstDash val="solid"/>
          </a:ln>
        </p:spPr>
      </p:sp>
      <p:sp>
        <p:nvSpPr>
          <p:cNvPr id="41" name="Shape 36"/>
          <p:cNvSpPr/>
          <p:nvPr/>
        </p:nvSpPr>
        <p:spPr>
          <a:xfrm>
            <a:off x="5515661"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42" name="Text 37"/>
          <p:cNvSpPr txBox="1"/>
          <p:nvPr/>
        </p:nvSpPr>
        <p:spPr>
          <a:xfrm>
            <a:off x="5625389"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4  Gets reminders</a:t>
            </a:r>
            <a:endParaRPr lang="en-US" sz="1050" dirty="0"/>
          </a:p>
        </p:txBody>
      </p:sp>
      <p:sp>
        <p:nvSpPr>
          <p:cNvPr id="43" name="Shape 38"/>
          <p:cNvSpPr/>
          <p:nvPr/>
        </p:nvSpPr>
        <p:spPr>
          <a:xfrm>
            <a:off x="5625389" y="3867912"/>
            <a:ext cx="804672" cy="237744"/>
          </a:xfrm>
          <a:prstGeom prst="roundRect">
            <a:avLst>
              <a:gd name="adj" fmla="val 50000"/>
            </a:avLst>
          </a:prstGeom>
          <a:solidFill>
            <a:srgbClr val="FFFFFF"/>
          </a:solidFill>
          <a:ln w="12700">
            <a:solidFill>
              <a:srgbClr val="FFFFFF"/>
            </a:solidFill>
            <a:prstDash val="solid"/>
          </a:ln>
        </p:spPr>
      </p:sp>
      <p:sp>
        <p:nvSpPr>
          <p:cNvPr id="44" name="Text 39"/>
          <p:cNvSpPr txBox="1"/>
          <p:nvPr/>
        </p:nvSpPr>
        <p:spPr>
          <a:xfrm>
            <a:off x="5625389" y="3867912"/>
            <a:ext cx="804672"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Phone push</a:t>
            </a:r>
            <a:endParaRPr lang="en-US" sz="850" dirty="0"/>
          </a:p>
        </p:txBody>
      </p:sp>
      <p:sp>
        <p:nvSpPr>
          <p:cNvPr id="45" name="Text 40"/>
          <p:cNvSpPr txBox="1"/>
          <p:nvPr/>
        </p:nvSpPr>
        <p:spPr>
          <a:xfrm>
            <a:off x="5625389"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Only what Maya shared</a:t>
            </a:r>
            <a:endParaRPr lang="en-US" sz="900" dirty="0"/>
          </a:p>
        </p:txBody>
      </p:sp>
      <p:sp>
        <p:nvSpPr>
          <p:cNvPr id="46" name="Shape 41"/>
          <p:cNvSpPr/>
          <p:nvPr/>
        </p:nvSpPr>
        <p:spPr>
          <a:xfrm>
            <a:off x="7018934" y="3904488"/>
            <a:ext cx="164592" cy="237744"/>
          </a:xfrm>
          <a:prstGeom prst="rightArrow">
            <a:avLst/>
          </a:prstGeom>
          <a:solidFill>
            <a:srgbClr val="2A9D8F"/>
          </a:solidFill>
          <a:ln w="12700">
            <a:solidFill>
              <a:srgbClr val="2A9D8F"/>
            </a:solidFill>
            <a:prstDash val="solid"/>
          </a:ln>
        </p:spPr>
      </p:sp>
      <p:sp>
        <p:nvSpPr>
          <p:cNvPr id="47" name="Shape 42"/>
          <p:cNvSpPr/>
          <p:nvPr/>
        </p:nvSpPr>
        <p:spPr>
          <a:xfrm>
            <a:off x="7201814"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48" name="Text 43"/>
          <p:cNvSpPr txBox="1"/>
          <p:nvPr/>
        </p:nvSpPr>
        <p:spPr>
          <a:xfrm>
            <a:off x="7311542"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5  Access can end</a:t>
            </a:r>
            <a:endParaRPr lang="en-US" sz="1050" dirty="0"/>
          </a:p>
        </p:txBody>
      </p:sp>
      <p:sp>
        <p:nvSpPr>
          <p:cNvPr id="49" name="Shape 44"/>
          <p:cNvSpPr/>
          <p:nvPr/>
        </p:nvSpPr>
        <p:spPr>
          <a:xfrm>
            <a:off x="7311542" y="3867912"/>
            <a:ext cx="629107" cy="237744"/>
          </a:xfrm>
          <a:prstGeom prst="roundRect">
            <a:avLst>
              <a:gd name="adj" fmla="val 50000"/>
            </a:avLst>
          </a:prstGeom>
          <a:solidFill>
            <a:srgbClr val="FFFFFF"/>
          </a:solidFill>
          <a:ln w="12700">
            <a:solidFill>
              <a:srgbClr val="FFFFFF"/>
            </a:solidFill>
            <a:prstDash val="solid"/>
          </a:ln>
        </p:spPr>
      </p:sp>
      <p:sp>
        <p:nvSpPr>
          <p:cNvPr id="50" name="Text 45"/>
          <p:cNvSpPr txBox="1"/>
          <p:nvPr/>
        </p:nvSpPr>
        <p:spPr>
          <a:xfrm>
            <a:off x="7311542" y="3867912"/>
            <a:ext cx="629107"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Privacy</a:t>
            </a:r>
            <a:endParaRPr lang="en-US" sz="850" dirty="0"/>
          </a:p>
        </p:txBody>
      </p:sp>
      <p:sp>
        <p:nvSpPr>
          <p:cNvPr id="51" name="Text 46"/>
          <p:cNvSpPr txBox="1"/>
          <p:nvPr/>
        </p:nvSpPr>
        <p:spPr>
          <a:xfrm>
            <a:off x="7311542"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Maya revokes it in one click</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Meet Dr. Adaeze Okafor</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Cardiologist at Northside Heart Centre, full clinic and a growing online practice</a:t>
            </a:r>
            <a:endParaRPr lang="en-US" sz="1300" dirty="0"/>
          </a:p>
        </p:txBody>
      </p:sp>
      <p:sp>
        <p:nvSpPr>
          <p:cNvPr id="4" name="Shape 2"/>
          <p:cNvSpPr/>
          <p:nvPr/>
        </p:nvSpPr>
        <p:spPr>
          <a:xfrm>
            <a:off x="457200" y="1325880"/>
            <a:ext cx="3063240" cy="3429000"/>
          </a:xfrm>
          <a:prstGeom prst="roundRect">
            <a:avLst>
              <a:gd name="adj" fmla="val 358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658368" y="1481328"/>
            <a:ext cx="658368" cy="658368"/>
          </a:xfrm>
          <a:prstGeom prst="ellipse">
            <a:avLst/>
          </a:prstGeom>
          <a:solidFill>
            <a:srgbClr val="134E4A"/>
          </a:solidFill>
          <a:ln w="25400">
            <a:solidFill>
              <a:srgbClr val="FFFFFF"/>
            </a:solidFill>
            <a:prstDash val="solid"/>
          </a:ln>
        </p:spPr>
      </p:sp>
      <p:sp>
        <p:nvSpPr>
          <p:cNvPr id="6" name="Text 4"/>
          <p:cNvSpPr txBox="1"/>
          <p:nvPr/>
        </p:nvSpPr>
        <p:spPr>
          <a:xfrm>
            <a:off x="658368" y="1481328"/>
            <a:ext cx="658368" cy="658368"/>
          </a:xfrm>
          <a:prstGeom prst="rect">
            <a:avLst/>
          </a:prstGeom>
          <a:noFill/>
          <a:ln/>
        </p:spPr>
        <p:txBody>
          <a:bodyPr wrap="square" lIns="0" tIns="0" rIns="0" bIns="0" rtlCol="0" anchor="ctr"/>
          <a:lstStyle/>
          <a:p>
            <a:pPr algn="ctr" indent="0" marL="0">
              <a:buNone/>
            </a:pPr>
            <a:r>
              <a:rPr lang="en-US" sz="1584" b="1" dirty="0">
                <a:solidFill>
                  <a:srgbClr val="FFFFFF"/>
                </a:solidFill>
                <a:latin typeface="Calibri" pitchFamily="34" charset="0"/>
                <a:ea typeface="Calibri" pitchFamily="34" charset="-122"/>
                <a:cs typeface="Calibri" pitchFamily="34" charset="-120"/>
              </a:rPr>
              <a:t>AO</a:t>
            </a:r>
            <a:endParaRPr lang="en-US" sz="1584" dirty="0"/>
          </a:p>
        </p:txBody>
      </p:sp>
      <p:sp>
        <p:nvSpPr>
          <p:cNvPr id="7" name="Text 5"/>
          <p:cNvSpPr txBox="1"/>
          <p:nvPr/>
        </p:nvSpPr>
        <p:spPr>
          <a:xfrm>
            <a:off x="1444752" y="1481328"/>
            <a:ext cx="2011680" cy="658368"/>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Dr. Adaeze Okafor</a:t>
            </a:r>
            <a:endParaRPr lang="en-US" sz="1400" dirty="0"/>
          </a:p>
        </p:txBody>
      </p:sp>
      <p:sp>
        <p:nvSpPr>
          <p:cNvPr id="8" name="Text 6"/>
          <p:cNvSpPr txBox="1"/>
          <p:nvPr/>
        </p:nvSpPr>
        <p:spPr>
          <a:xfrm>
            <a:off x="658368" y="2212848"/>
            <a:ext cx="2743200" cy="384048"/>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Clinician · cardiology · signs in with the hospital's Microsoft account</a:t>
            </a:r>
            <a:endParaRPr lang="en-US" sz="1000" dirty="0"/>
          </a:p>
        </p:txBody>
      </p:sp>
      <p:sp>
        <p:nvSpPr>
          <p:cNvPr id="9" name="Text 7"/>
          <p:cNvSpPr txBox="1"/>
          <p:nvPr/>
        </p:nvSpPr>
        <p:spPr>
          <a:xfrm>
            <a:off x="658368" y="2651760"/>
            <a:ext cx="2743200" cy="237744"/>
          </a:xfrm>
          <a:prstGeom prst="rect">
            <a:avLst/>
          </a:prstGeom>
          <a:noFill/>
          <a:ln/>
        </p:spPr>
        <p:txBody>
          <a:bodyPr wrap="square" lIns="0" tIns="0" rIns="0" bIns="0" rtlCol="0" anchor="t"/>
          <a:lstStyle/>
          <a:p>
            <a:pPr indent="0" marL="0">
              <a:buNone/>
            </a:pPr>
            <a:r>
              <a:rPr lang="en-US" sz="1150" b="1" dirty="0">
                <a:solidFill>
                  <a:srgbClr val="134E4A"/>
                </a:solidFill>
                <a:latin typeface="Calibri" pitchFamily="34" charset="0"/>
                <a:ea typeface="Calibri" pitchFamily="34" charset="-122"/>
                <a:cs typeface="Calibri" pitchFamily="34" charset="-120"/>
              </a:rPr>
              <a:t>Goals</a:t>
            </a:r>
            <a:endParaRPr lang="en-US" sz="1150" dirty="0"/>
          </a:p>
        </p:txBody>
      </p:sp>
      <p:sp>
        <p:nvSpPr>
          <p:cNvPr id="10" name="Text 8"/>
          <p:cNvSpPr txBox="1"/>
          <p:nvPr/>
        </p:nvSpPr>
        <p:spPr>
          <a:xfrm>
            <a:off x="658368" y="2889504"/>
            <a:ext cx="2697480" cy="822960"/>
          </a:xfrm>
          <a:prstGeom prst="rect">
            <a:avLst/>
          </a:prstGeom>
          <a:noFill/>
          <a:ln/>
        </p:spPr>
        <p:txBody>
          <a:bodyPr wrap="square" lIns="0" tIns="0" rIns="0" bIns="0" rtlCol="0" anchor="t"/>
          <a:lstStyle/>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See what matters before the patient walks in</a:t>
            </a:r>
            <a:endParaRPr lang="en-US" sz="1000" dirty="0"/>
          </a:p>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Catch deterioration between visits</a:t>
            </a:r>
            <a:endParaRPr lang="en-US" sz="1000" dirty="0"/>
          </a:p>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Spend less time on inbox and paperwork</a:t>
            </a:r>
            <a:endParaRPr lang="en-US" sz="1000" dirty="0"/>
          </a:p>
        </p:txBody>
      </p:sp>
      <p:sp>
        <p:nvSpPr>
          <p:cNvPr id="11" name="Text 9"/>
          <p:cNvSpPr txBox="1"/>
          <p:nvPr/>
        </p:nvSpPr>
        <p:spPr>
          <a:xfrm>
            <a:off x="658368" y="3730752"/>
            <a:ext cx="2743200" cy="237744"/>
          </a:xfrm>
          <a:prstGeom prst="rect">
            <a:avLst/>
          </a:prstGeom>
          <a:noFill/>
          <a:ln/>
        </p:spPr>
        <p:txBody>
          <a:bodyPr wrap="square" lIns="0" tIns="0" rIns="0" bIns="0" rtlCol="0" anchor="t"/>
          <a:lstStyle/>
          <a:p>
            <a:pPr indent="0" marL="0">
              <a:buNone/>
            </a:pPr>
            <a:r>
              <a:rPr lang="en-US" sz="1150" b="1" dirty="0">
                <a:solidFill>
                  <a:srgbClr val="DC2626"/>
                </a:solidFill>
                <a:latin typeface="Calibri" pitchFamily="34" charset="0"/>
                <a:ea typeface="Calibri" pitchFamily="34" charset="-122"/>
                <a:cs typeface="Calibri" pitchFamily="34" charset="-120"/>
              </a:rPr>
              <a:t>Frustrations today</a:t>
            </a:r>
            <a:endParaRPr lang="en-US" sz="1150" dirty="0"/>
          </a:p>
        </p:txBody>
      </p:sp>
      <p:sp>
        <p:nvSpPr>
          <p:cNvPr id="12" name="Text 10"/>
          <p:cNvSpPr txBox="1"/>
          <p:nvPr/>
        </p:nvSpPr>
        <p:spPr>
          <a:xfrm>
            <a:off x="658368" y="3968496"/>
            <a:ext cx="2697480" cy="749808"/>
          </a:xfrm>
          <a:prstGeom prst="rect">
            <a:avLst/>
          </a:prstGeom>
          <a:noFill/>
          <a:ln/>
        </p:spPr>
        <p:txBody>
          <a:bodyPr wrap="square" lIns="0" tIns="0" rIns="0" bIns="0" rtlCol="0" anchor="t"/>
          <a:lstStyle/>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Chart-hunting before each visit</a:t>
            </a:r>
            <a:endParaRPr lang="en-US" sz="1000" dirty="0"/>
          </a:p>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No view of patients between visits</a:t>
            </a:r>
            <a:endParaRPr lang="en-US" sz="1000" dirty="0"/>
          </a:p>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Writing explanations from scratch</a:t>
            </a:r>
            <a:endParaRPr lang="en-US" sz="1000" dirty="0"/>
          </a:p>
        </p:txBody>
      </p:sp>
      <p:sp>
        <p:nvSpPr>
          <p:cNvPr id="13" name="Text 11"/>
          <p:cNvSpPr txBox="1"/>
          <p:nvPr/>
        </p:nvSpPr>
        <p:spPr>
          <a:xfrm>
            <a:off x="3794760" y="1325880"/>
            <a:ext cx="4892040" cy="320040"/>
          </a:xfrm>
          <a:prstGeom prst="rect">
            <a:avLst/>
          </a:prstGeom>
          <a:noFill/>
          <a:ln/>
        </p:spPr>
        <p:txBody>
          <a:bodyPr wrap="square" lIns="0" tIns="0" rIns="0" bIns="0" rtlCol="0" anchor="t"/>
          <a:lstStyle/>
          <a:p>
            <a:pPr indent="0" marL="0">
              <a:buNone/>
            </a:pPr>
            <a:r>
              <a:rPr lang="en-US" sz="1400" b="1" dirty="0">
                <a:solidFill>
                  <a:srgbClr val="134E4A"/>
                </a:solidFill>
                <a:latin typeface="Calibri" pitchFamily="34" charset="0"/>
                <a:ea typeface="Calibri" pitchFamily="34" charset="-122"/>
                <a:cs typeface="Calibri" pitchFamily="34" charset="-120"/>
              </a:rPr>
              <a:t>What Bioverse One gives her</a:t>
            </a:r>
            <a:endParaRPr lang="en-US" sz="1400" dirty="0"/>
          </a:p>
        </p:txBody>
      </p:sp>
      <p:sp>
        <p:nvSpPr>
          <p:cNvPr id="14" name="Shape 12"/>
          <p:cNvSpPr/>
          <p:nvPr/>
        </p:nvSpPr>
        <p:spPr>
          <a:xfrm>
            <a:off x="3794760" y="1737360"/>
            <a:ext cx="4892040" cy="530352"/>
          </a:xfrm>
          <a:prstGeom prst="roundRect">
            <a:avLst>
              <a:gd name="adj" fmla="val 2069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5" name="Shape 13"/>
          <p:cNvSpPr/>
          <p:nvPr/>
        </p:nvSpPr>
        <p:spPr>
          <a:xfrm>
            <a:off x="3904488" y="1792224"/>
            <a:ext cx="420624" cy="420624"/>
          </a:xfrm>
          <a:prstGeom prst="ellipse">
            <a:avLst/>
          </a:prstGeom>
          <a:solidFill>
            <a:srgbClr val="1B6B63"/>
          </a:solidFill>
          <a:ln w="12700">
            <a:solidFill>
              <a:srgbClr val="1B6B63"/>
            </a:solidFill>
            <a:prstDash val="solid"/>
          </a:ln>
        </p:spPr>
      </p:sp>
      <p:pic>
        <p:nvPicPr>
          <p:cNvPr id="16" name="Image 0" descr="preencoded.png">    </p:cNvPr>
          <p:cNvPicPr>
            <a:picLocks noChangeAspect="1"/>
          </p:cNvPicPr>
          <p:nvPr/>
        </p:nvPicPr>
        <p:blipFill>
          <a:blip r:embed="rId1"/>
          <a:stretch>
            <a:fillRect/>
          </a:stretch>
        </p:blipFill>
        <p:spPr>
          <a:xfrm>
            <a:off x="4009644" y="1897380"/>
            <a:ext cx="210312" cy="210312"/>
          </a:xfrm>
          <a:prstGeom prst="rect">
            <a:avLst/>
          </a:prstGeom>
        </p:spPr>
      </p:pic>
      <p:sp>
        <p:nvSpPr>
          <p:cNvPr id="17" name="Text 14"/>
          <p:cNvSpPr txBox="1"/>
          <p:nvPr/>
        </p:nvSpPr>
        <p:spPr>
          <a:xfrm>
            <a:off x="4434840" y="1792224"/>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Pre-visit brief</a:t>
            </a:r>
            <a:endParaRPr lang="en-US" sz="1200" dirty="0"/>
          </a:p>
        </p:txBody>
      </p:sp>
      <p:sp>
        <p:nvSpPr>
          <p:cNvPr id="18" name="Text 15"/>
          <p:cNvSpPr txBox="1"/>
          <p:nvPr/>
        </p:nvSpPr>
        <p:spPr>
          <a:xfrm>
            <a:off x="4434840" y="2029968"/>
            <a:ext cx="4160520" cy="21945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One page per patient, with sources, before each visit</a:t>
            </a:r>
            <a:endParaRPr lang="en-US" sz="950" dirty="0"/>
          </a:p>
        </p:txBody>
      </p:sp>
      <p:sp>
        <p:nvSpPr>
          <p:cNvPr id="19" name="Shape 16"/>
          <p:cNvSpPr/>
          <p:nvPr/>
        </p:nvSpPr>
        <p:spPr>
          <a:xfrm>
            <a:off x="3794760" y="2359152"/>
            <a:ext cx="4892040" cy="530352"/>
          </a:xfrm>
          <a:prstGeom prst="roundRect">
            <a:avLst>
              <a:gd name="adj" fmla="val 2069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0" name="Shape 17"/>
          <p:cNvSpPr/>
          <p:nvPr/>
        </p:nvSpPr>
        <p:spPr>
          <a:xfrm>
            <a:off x="3904488" y="2414016"/>
            <a:ext cx="420624" cy="420624"/>
          </a:xfrm>
          <a:prstGeom prst="ellipse">
            <a:avLst/>
          </a:prstGeom>
          <a:solidFill>
            <a:srgbClr val="DC2626"/>
          </a:solidFill>
          <a:ln w="12700">
            <a:solidFill>
              <a:srgbClr val="DC2626"/>
            </a:solidFill>
            <a:prstDash val="solid"/>
          </a:ln>
        </p:spPr>
      </p:sp>
      <p:pic>
        <p:nvPicPr>
          <p:cNvPr id="21" name="Image 1" descr="preencoded.png">    </p:cNvPr>
          <p:cNvPicPr>
            <a:picLocks noChangeAspect="1"/>
          </p:cNvPicPr>
          <p:nvPr/>
        </p:nvPicPr>
        <p:blipFill>
          <a:blip r:embed="rId2"/>
          <a:stretch>
            <a:fillRect/>
          </a:stretch>
        </p:blipFill>
        <p:spPr>
          <a:xfrm>
            <a:off x="4009644" y="2519172"/>
            <a:ext cx="210312" cy="210312"/>
          </a:xfrm>
          <a:prstGeom prst="rect">
            <a:avLst/>
          </a:prstGeom>
        </p:spPr>
      </p:pic>
      <p:sp>
        <p:nvSpPr>
          <p:cNvPr id="22" name="Text 18"/>
          <p:cNvSpPr txBox="1"/>
          <p:nvPr/>
        </p:nvSpPr>
        <p:spPr>
          <a:xfrm>
            <a:off x="4434840" y="2414016"/>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One queue, ranked by urgency</a:t>
            </a:r>
            <a:endParaRPr lang="en-US" sz="1200" dirty="0"/>
          </a:p>
        </p:txBody>
      </p:sp>
      <p:sp>
        <p:nvSpPr>
          <p:cNvPr id="23" name="Text 19"/>
          <p:cNvSpPr txBox="1"/>
          <p:nvPr/>
        </p:nvSpPr>
        <p:spPr>
          <a:xfrm>
            <a:off x="4434840" y="2651760"/>
            <a:ext cx="4160520" cy="21945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Red flags, critical readings and check-ins, urgent first</a:t>
            </a:r>
            <a:endParaRPr lang="en-US" sz="950" dirty="0"/>
          </a:p>
        </p:txBody>
      </p:sp>
      <p:sp>
        <p:nvSpPr>
          <p:cNvPr id="24" name="Shape 20"/>
          <p:cNvSpPr/>
          <p:nvPr/>
        </p:nvSpPr>
        <p:spPr>
          <a:xfrm>
            <a:off x="3794760" y="2980944"/>
            <a:ext cx="4892040" cy="530352"/>
          </a:xfrm>
          <a:prstGeom prst="roundRect">
            <a:avLst>
              <a:gd name="adj" fmla="val 2069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5" name="Shape 21"/>
          <p:cNvSpPr/>
          <p:nvPr/>
        </p:nvSpPr>
        <p:spPr>
          <a:xfrm>
            <a:off x="3904488" y="3035808"/>
            <a:ext cx="420624" cy="420624"/>
          </a:xfrm>
          <a:prstGeom prst="ellipse">
            <a:avLst/>
          </a:prstGeom>
          <a:solidFill>
            <a:srgbClr val="1B6B63"/>
          </a:solidFill>
          <a:ln w="12700">
            <a:solidFill>
              <a:srgbClr val="1B6B63"/>
            </a:solidFill>
            <a:prstDash val="solid"/>
          </a:ln>
        </p:spPr>
      </p:sp>
      <p:pic>
        <p:nvPicPr>
          <p:cNvPr id="26" name="Image 2" descr="preencoded.png">    </p:cNvPr>
          <p:cNvPicPr>
            <a:picLocks noChangeAspect="1"/>
          </p:cNvPicPr>
          <p:nvPr/>
        </p:nvPicPr>
        <p:blipFill>
          <a:blip r:embed="rId3"/>
          <a:stretch>
            <a:fillRect/>
          </a:stretch>
        </p:blipFill>
        <p:spPr>
          <a:xfrm>
            <a:off x="4009644" y="3140964"/>
            <a:ext cx="210312" cy="210312"/>
          </a:xfrm>
          <a:prstGeom prst="rect">
            <a:avLst/>
          </a:prstGeom>
        </p:spPr>
      </p:pic>
      <p:sp>
        <p:nvSpPr>
          <p:cNvPr id="27" name="Text 22"/>
          <p:cNvSpPr txBox="1"/>
          <p:nvPr/>
        </p:nvSpPr>
        <p:spPr>
          <a:xfrm>
            <a:off x="4434840" y="3035808"/>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Approve, don't draft</a:t>
            </a:r>
            <a:endParaRPr lang="en-US" sz="1200" dirty="0"/>
          </a:p>
        </p:txBody>
      </p:sp>
      <p:sp>
        <p:nvSpPr>
          <p:cNvPr id="28" name="Text 23"/>
          <p:cNvSpPr txBox="1"/>
          <p:nvPr/>
        </p:nvSpPr>
        <p:spPr>
          <a:xfrm>
            <a:off x="4434840" y="3273552"/>
            <a:ext cx="4160520" cy="21945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The Doctor Agent drafts by her rules; nothing clinical goes out without her</a:t>
            </a:r>
            <a:endParaRPr lang="en-US" sz="950" dirty="0"/>
          </a:p>
        </p:txBody>
      </p:sp>
      <p:sp>
        <p:nvSpPr>
          <p:cNvPr id="29" name="Shape 24"/>
          <p:cNvSpPr/>
          <p:nvPr/>
        </p:nvSpPr>
        <p:spPr>
          <a:xfrm>
            <a:off x="3794760" y="3602736"/>
            <a:ext cx="4892040" cy="530352"/>
          </a:xfrm>
          <a:prstGeom prst="roundRect">
            <a:avLst>
              <a:gd name="adj" fmla="val 2069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0" name="Shape 25"/>
          <p:cNvSpPr/>
          <p:nvPr/>
        </p:nvSpPr>
        <p:spPr>
          <a:xfrm>
            <a:off x="3904488" y="3657600"/>
            <a:ext cx="420624" cy="420624"/>
          </a:xfrm>
          <a:prstGeom prst="ellipse">
            <a:avLst/>
          </a:prstGeom>
          <a:solidFill>
            <a:srgbClr val="1B6B63"/>
          </a:solidFill>
          <a:ln w="12700">
            <a:solidFill>
              <a:srgbClr val="1B6B63"/>
            </a:solidFill>
            <a:prstDash val="solid"/>
          </a:ln>
        </p:spPr>
      </p:sp>
      <p:pic>
        <p:nvPicPr>
          <p:cNvPr id="31" name="Image 3" descr="preencoded.png">    </p:cNvPr>
          <p:cNvPicPr>
            <a:picLocks noChangeAspect="1"/>
          </p:cNvPicPr>
          <p:nvPr/>
        </p:nvPicPr>
        <p:blipFill>
          <a:blip r:embed="rId4"/>
          <a:stretch>
            <a:fillRect/>
          </a:stretch>
        </p:blipFill>
        <p:spPr>
          <a:xfrm>
            <a:off x="4009644" y="3762756"/>
            <a:ext cx="210312" cy="210312"/>
          </a:xfrm>
          <a:prstGeom prst="rect">
            <a:avLst/>
          </a:prstGeom>
        </p:spPr>
      </p:pic>
      <p:sp>
        <p:nvSpPr>
          <p:cNvPr id="32" name="Text 26"/>
          <p:cNvSpPr txBox="1"/>
          <p:nvPr/>
        </p:nvSpPr>
        <p:spPr>
          <a:xfrm>
            <a:off x="4434840" y="3657600"/>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Between-visit visibility</a:t>
            </a:r>
            <a:endParaRPr lang="en-US" sz="1200" dirty="0"/>
          </a:p>
        </p:txBody>
      </p:sp>
      <p:sp>
        <p:nvSpPr>
          <p:cNvPr id="33" name="Text 27"/>
          <p:cNvSpPr txBox="1"/>
          <p:nvPr/>
        </p:nvSpPr>
        <p:spPr>
          <a:xfrm>
            <a:off x="4434840" y="3895344"/>
            <a:ext cx="4160520" cy="21945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Monitoring plans, her thresholds, adherence and escalations</a:t>
            </a:r>
            <a:endParaRPr lang="en-US" sz="950" dirty="0"/>
          </a:p>
        </p:txBody>
      </p:sp>
      <p:sp>
        <p:nvSpPr>
          <p:cNvPr id="34" name="Shape 28"/>
          <p:cNvSpPr/>
          <p:nvPr/>
        </p:nvSpPr>
        <p:spPr>
          <a:xfrm>
            <a:off x="3794760" y="4224528"/>
            <a:ext cx="4892040" cy="530352"/>
          </a:xfrm>
          <a:prstGeom prst="roundRect">
            <a:avLst>
              <a:gd name="adj" fmla="val 2069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5" name="Shape 29"/>
          <p:cNvSpPr/>
          <p:nvPr/>
        </p:nvSpPr>
        <p:spPr>
          <a:xfrm>
            <a:off x="3904488" y="4279392"/>
            <a:ext cx="420624" cy="420624"/>
          </a:xfrm>
          <a:prstGeom prst="ellipse">
            <a:avLst/>
          </a:prstGeom>
          <a:solidFill>
            <a:srgbClr val="1B6B63"/>
          </a:solidFill>
          <a:ln w="12700">
            <a:solidFill>
              <a:srgbClr val="1B6B63"/>
            </a:solidFill>
            <a:prstDash val="solid"/>
          </a:ln>
        </p:spPr>
      </p:sp>
      <p:pic>
        <p:nvPicPr>
          <p:cNvPr id="36" name="Image 4" descr="preencoded.png">    </p:cNvPr>
          <p:cNvPicPr>
            <a:picLocks noChangeAspect="1"/>
          </p:cNvPicPr>
          <p:nvPr/>
        </p:nvPicPr>
        <p:blipFill>
          <a:blip r:embed="rId5"/>
          <a:stretch>
            <a:fillRect/>
          </a:stretch>
        </p:blipFill>
        <p:spPr>
          <a:xfrm>
            <a:off x="4009644" y="4384548"/>
            <a:ext cx="210312" cy="210312"/>
          </a:xfrm>
          <a:prstGeom prst="rect">
            <a:avLst/>
          </a:prstGeom>
        </p:spPr>
      </p:pic>
      <p:sp>
        <p:nvSpPr>
          <p:cNvPr id="37" name="Text 30"/>
          <p:cNvSpPr txBox="1"/>
          <p:nvPr/>
        </p:nvSpPr>
        <p:spPr>
          <a:xfrm>
            <a:off x="4434840" y="4279392"/>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Bookable on her terms</a:t>
            </a:r>
            <a:endParaRPr lang="en-US" sz="1200" dirty="0"/>
          </a:p>
        </p:txBody>
      </p:sp>
      <p:sp>
        <p:nvSpPr>
          <p:cNvPr id="38" name="Text 31"/>
          <p:cNvSpPr txBox="1"/>
          <p:nvPr/>
        </p:nvSpPr>
        <p:spPr>
          <a:xfrm>
            <a:off x="4434840" y="4517136"/>
            <a:ext cx="4160520" cy="21945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She sets weekly hours, time off, fee and consult types; slots open automatically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Dr. Okafor's journey</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A morning that starts with context, not chart-hunting</a:t>
            </a:r>
            <a:endParaRPr lang="en-US" sz="1300" dirty="0"/>
          </a:p>
        </p:txBody>
      </p:sp>
      <p:sp>
        <p:nvSpPr>
          <p:cNvPr id="4" name="Shape 2"/>
          <p:cNvSpPr/>
          <p:nvPr/>
        </p:nvSpPr>
        <p:spPr>
          <a:xfrm>
            <a:off x="457200" y="1325880"/>
            <a:ext cx="1203960" cy="251460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566928" y="1453896"/>
            <a:ext cx="420624" cy="420624"/>
          </a:xfrm>
          <a:prstGeom prst="ellipse">
            <a:avLst/>
          </a:prstGeom>
          <a:solidFill>
            <a:srgbClr val="1B6B63"/>
          </a:solidFill>
          <a:ln w="12700">
            <a:solidFill>
              <a:srgbClr val="1B6B63"/>
            </a:solidFill>
            <a:prstDash val="solid"/>
          </a:ln>
        </p:spPr>
      </p:sp>
      <p:pic>
        <p:nvPicPr>
          <p:cNvPr id="6" name="Image 0" descr="preencoded.png">    </p:cNvPr>
          <p:cNvPicPr>
            <a:picLocks noChangeAspect="1"/>
          </p:cNvPicPr>
          <p:nvPr/>
        </p:nvPicPr>
        <p:blipFill>
          <a:blip r:embed="rId1"/>
          <a:stretch>
            <a:fillRect/>
          </a:stretch>
        </p:blipFill>
        <p:spPr>
          <a:xfrm>
            <a:off x="672084" y="1559052"/>
            <a:ext cx="210312" cy="210312"/>
          </a:xfrm>
          <a:prstGeom prst="rect">
            <a:avLst/>
          </a:prstGeom>
        </p:spPr>
      </p:pic>
      <p:sp>
        <p:nvSpPr>
          <p:cNvPr id="7" name="Text 4"/>
          <p:cNvSpPr txBox="1"/>
          <p:nvPr/>
        </p:nvSpPr>
        <p:spPr>
          <a:xfrm>
            <a:off x="1331976"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566928" y="1965960"/>
            <a:ext cx="1021080"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Reads briefs</a:t>
            </a:r>
            <a:endParaRPr lang="en-US" sz="1150" dirty="0"/>
          </a:p>
        </p:txBody>
      </p:sp>
      <p:sp>
        <p:nvSpPr>
          <p:cNvPr id="9" name="Shape 6"/>
          <p:cNvSpPr/>
          <p:nvPr/>
        </p:nvSpPr>
        <p:spPr>
          <a:xfrm>
            <a:off x="566928" y="2468880"/>
            <a:ext cx="746150" cy="237744"/>
          </a:xfrm>
          <a:prstGeom prst="roundRect">
            <a:avLst>
              <a:gd name="adj" fmla="val 50000"/>
            </a:avLst>
          </a:prstGeom>
          <a:solidFill>
            <a:srgbClr val="E6F4F1"/>
          </a:solidFill>
          <a:ln w="12700">
            <a:solidFill>
              <a:srgbClr val="E6F4F1"/>
            </a:solidFill>
            <a:prstDash val="solid"/>
          </a:ln>
        </p:spPr>
      </p:sp>
      <p:sp>
        <p:nvSpPr>
          <p:cNvPr id="10" name="Text 7"/>
          <p:cNvSpPr txBox="1"/>
          <p:nvPr/>
        </p:nvSpPr>
        <p:spPr>
          <a:xfrm>
            <a:off x="566928" y="2468880"/>
            <a:ext cx="746150"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Workspace</a:t>
            </a:r>
            <a:endParaRPr lang="en-US" sz="850" dirty="0"/>
          </a:p>
        </p:txBody>
      </p:sp>
      <p:sp>
        <p:nvSpPr>
          <p:cNvPr id="11" name="Text 8"/>
          <p:cNvSpPr txBox="1"/>
          <p:nvPr/>
        </p:nvSpPr>
        <p:spPr>
          <a:xfrm>
            <a:off x="566928" y="2788920"/>
            <a:ext cx="1021080"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Today's patients summarized with sources; she accepts each brief</a:t>
            </a:r>
            <a:endParaRPr lang="en-US" sz="950" dirty="0"/>
          </a:p>
        </p:txBody>
      </p:sp>
      <p:sp>
        <p:nvSpPr>
          <p:cNvPr id="12" name="Shape 9"/>
          <p:cNvSpPr/>
          <p:nvPr/>
        </p:nvSpPr>
        <p:spPr>
          <a:xfrm>
            <a:off x="1679448" y="2464308"/>
            <a:ext cx="164592" cy="237744"/>
          </a:xfrm>
          <a:prstGeom prst="rightArrow">
            <a:avLst/>
          </a:prstGeom>
          <a:solidFill>
            <a:srgbClr val="2A9D8F"/>
          </a:solidFill>
          <a:ln w="12700">
            <a:solidFill>
              <a:srgbClr val="2A9D8F"/>
            </a:solidFill>
            <a:prstDash val="solid"/>
          </a:ln>
        </p:spPr>
      </p:sp>
      <p:sp>
        <p:nvSpPr>
          <p:cNvPr id="13" name="Shape 10"/>
          <p:cNvSpPr/>
          <p:nvPr/>
        </p:nvSpPr>
        <p:spPr>
          <a:xfrm>
            <a:off x="1862328" y="1325880"/>
            <a:ext cx="1203960" cy="2514600"/>
          </a:xfrm>
          <a:prstGeom prst="roundRect">
            <a:avLst>
              <a:gd name="adj" fmla="val 9114"/>
            </a:avLst>
          </a:prstGeom>
          <a:solidFill>
            <a:srgbClr val="FEF2F2"/>
          </a:solidFill>
          <a:ln w="9525">
            <a:solidFill>
              <a:srgbClr val="FEF2F2"/>
            </a:solidFill>
            <a:prstDash val="solid"/>
          </a:ln>
          <a:effectLst>
            <a:outerShdw sx="100000" sy="100000" kx="0" ky="0" algn="bl" rotWithShape="0" blurRad="76200" dist="19050" dir="5400000">
              <a:srgbClr val="000000">
                <a:alpha val="8000"/>
              </a:srgbClr>
            </a:outerShdw>
          </a:effectLst>
        </p:spPr>
      </p:sp>
      <p:sp>
        <p:nvSpPr>
          <p:cNvPr id="14" name="Shape 11"/>
          <p:cNvSpPr/>
          <p:nvPr/>
        </p:nvSpPr>
        <p:spPr>
          <a:xfrm>
            <a:off x="1972056" y="1453896"/>
            <a:ext cx="420624" cy="420624"/>
          </a:xfrm>
          <a:prstGeom prst="ellipse">
            <a:avLst/>
          </a:prstGeom>
          <a:solidFill>
            <a:srgbClr val="DC2626"/>
          </a:solidFill>
          <a:ln w="12700">
            <a:solidFill>
              <a:srgbClr val="DC2626"/>
            </a:solidFill>
            <a:prstDash val="solid"/>
          </a:ln>
        </p:spPr>
      </p:sp>
      <p:pic>
        <p:nvPicPr>
          <p:cNvPr id="15" name="Image 1" descr="preencoded.png">    </p:cNvPr>
          <p:cNvPicPr>
            <a:picLocks noChangeAspect="1"/>
          </p:cNvPicPr>
          <p:nvPr/>
        </p:nvPicPr>
        <p:blipFill>
          <a:blip r:embed="rId2"/>
          <a:stretch>
            <a:fillRect/>
          </a:stretch>
        </p:blipFill>
        <p:spPr>
          <a:xfrm>
            <a:off x="2077212" y="1559052"/>
            <a:ext cx="210312" cy="210312"/>
          </a:xfrm>
          <a:prstGeom prst="rect">
            <a:avLst/>
          </a:prstGeom>
        </p:spPr>
      </p:pic>
      <p:sp>
        <p:nvSpPr>
          <p:cNvPr id="16" name="Text 12"/>
          <p:cNvSpPr txBox="1"/>
          <p:nvPr/>
        </p:nvSpPr>
        <p:spPr>
          <a:xfrm>
            <a:off x="2737104"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2</a:t>
            </a:r>
            <a:endParaRPr lang="en-US" sz="1200" dirty="0"/>
          </a:p>
        </p:txBody>
      </p:sp>
      <p:sp>
        <p:nvSpPr>
          <p:cNvPr id="17" name="Text 13"/>
          <p:cNvSpPr txBox="1"/>
          <p:nvPr/>
        </p:nvSpPr>
        <p:spPr>
          <a:xfrm>
            <a:off x="1972056" y="1965960"/>
            <a:ext cx="1021080" cy="475488"/>
          </a:xfrm>
          <a:prstGeom prst="rect">
            <a:avLst/>
          </a:prstGeom>
          <a:noFill/>
          <a:ln/>
        </p:spPr>
        <p:txBody>
          <a:bodyPr wrap="square" lIns="0" tIns="0" rIns="0" bIns="0" rtlCol="0" anchor="t"/>
          <a:lstStyle/>
          <a:p>
            <a:pPr indent="0" marL="0">
              <a:buNone/>
            </a:pPr>
            <a:r>
              <a:rPr lang="en-US" sz="1150" b="1" dirty="0">
                <a:solidFill>
                  <a:srgbClr val="DC2626"/>
                </a:solidFill>
                <a:latin typeface="Calibri" pitchFamily="34" charset="0"/>
                <a:ea typeface="Calibri" pitchFamily="34" charset="-122"/>
                <a:cs typeface="Calibri" pitchFamily="34" charset="-120"/>
              </a:rPr>
              <a:t>Sees the alert</a:t>
            </a:r>
            <a:endParaRPr lang="en-US" sz="1150" dirty="0"/>
          </a:p>
        </p:txBody>
      </p:sp>
      <p:sp>
        <p:nvSpPr>
          <p:cNvPr id="18" name="Shape 14"/>
          <p:cNvSpPr/>
          <p:nvPr/>
        </p:nvSpPr>
        <p:spPr>
          <a:xfrm>
            <a:off x="1972056" y="2468880"/>
            <a:ext cx="921715" cy="237744"/>
          </a:xfrm>
          <a:prstGeom prst="roundRect">
            <a:avLst>
              <a:gd name="adj" fmla="val 50000"/>
            </a:avLst>
          </a:prstGeom>
          <a:solidFill>
            <a:srgbClr val="E6F4F1"/>
          </a:solidFill>
          <a:ln w="12700">
            <a:solidFill>
              <a:srgbClr val="E6F4F1"/>
            </a:solidFill>
            <a:prstDash val="solid"/>
          </a:ln>
        </p:spPr>
      </p:sp>
      <p:sp>
        <p:nvSpPr>
          <p:cNvPr id="19" name="Text 15"/>
          <p:cNvSpPr txBox="1"/>
          <p:nvPr/>
        </p:nvSpPr>
        <p:spPr>
          <a:xfrm>
            <a:off x="1972056" y="2468880"/>
            <a:ext cx="921715"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Review queue</a:t>
            </a:r>
            <a:endParaRPr lang="en-US" sz="850" dirty="0"/>
          </a:p>
        </p:txBody>
      </p:sp>
      <p:sp>
        <p:nvSpPr>
          <p:cNvPr id="20" name="Text 16"/>
          <p:cNvSpPr txBox="1"/>
          <p:nvPr/>
        </p:nvSpPr>
        <p:spPr>
          <a:xfrm>
            <a:off x="1972056" y="2788920"/>
            <a:ext cx="1021080"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Maya's critical blood pressure is at the top of the queue</a:t>
            </a:r>
            <a:endParaRPr lang="en-US" sz="950" dirty="0"/>
          </a:p>
        </p:txBody>
      </p:sp>
      <p:sp>
        <p:nvSpPr>
          <p:cNvPr id="21" name="Shape 17"/>
          <p:cNvSpPr/>
          <p:nvPr/>
        </p:nvSpPr>
        <p:spPr>
          <a:xfrm>
            <a:off x="3084576" y="2464308"/>
            <a:ext cx="164592" cy="237744"/>
          </a:xfrm>
          <a:prstGeom prst="rightArrow">
            <a:avLst/>
          </a:prstGeom>
          <a:solidFill>
            <a:srgbClr val="2A9D8F"/>
          </a:solidFill>
          <a:ln w="12700">
            <a:solidFill>
              <a:srgbClr val="2A9D8F"/>
            </a:solidFill>
            <a:prstDash val="solid"/>
          </a:ln>
        </p:spPr>
      </p:sp>
      <p:sp>
        <p:nvSpPr>
          <p:cNvPr id="22" name="Shape 18"/>
          <p:cNvSpPr/>
          <p:nvPr/>
        </p:nvSpPr>
        <p:spPr>
          <a:xfrm>
            <a:off x="3267456" y="1325880"/>
            <a:ext cx="1203960" cy="251460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3" name="Shape 19"/>
          <p:cNvSpPr/>
          <p:nvPr/>
        </p:nvSpPr>
        <p:spPr>
          <a:xfrm>
            <a:off x="3377184" y="1453896"/>
            <a:ext cx="420624" cy="420624"/>
          </a:xfrm>
          <a:prstGeom prst="ellipse">
            <a:avLst/>
          </a:prstGeom>
          <a:solidFill>
            <a:srgbClr val="1B6B63"/>
          </a:solidFill>
          <a:ln w="12700">
            <a:solidFill>
              <a:srgbClr val="1B6B63"/>
            </a:solidFill>
            <a:prstDash val="solid"/>
          </a:ln>
        </p:spPr>
      </p:sp>
      <p:pic>
        <p:nvPicPr>
          <p:cNvPr id="24" name="Image 2" descr="preencoded.png">    </p:cNvPr>
          <p:cNvPicPr>
            <a:picLocks noChangeAspect="1"/>
          </p:cNvPicPr>
          <p:nvPr/>
        </p:nvPicPr>
        <p:blipFill>
          <a:blip r:embed="rId3"/>
          <a:stretch>
            <a:fillRect/>
          </a:stretch>
        </p:blipFill>
        <p:spPr>
          <a:xfrm>
            <a:off x="3482340" y="1559052"/>
            <a:ext cx="210312" cy="210312"/>
          </a:xfrm>
          <a:prstGeom prst="rect">
            <a:avLst/>
          </a:prstGeom>
        </p:spPr>
      </p:pic>
      <p:sp>
        <p:nvSpPr>
          <p:cNvPr id="25" name="Text 20"/>
          <p:cNvSpPr txBox="1"/>
          <p:nvPr/>
        </p:nvSpPr>
        <p:spPr>
          <a:xfrm>
            <a:off x="4142232"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3</a:t>
            </a:r>
            <a:endParaRPr lang="en-US" sz="1200" dirty="0"/>
          </a:p>
        </p:txBody>
      </p:sp>
      <p:sp>
        <p:nvSpPr>
          <p:cNvPr id="26" name="Text 21"/>
          <p:cNvSpPr txBox="1"/>
          <p:nvPr/>
        </p:nvSpPr>
        <p:spPr>
          <a:xfrm>
            <a:off x="3377184" y="1965960"/>
            <a:ext cx="1021080"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Sets a plan</a:t>
            </a:r>
            <a:endParaRPr lang="en-US" sz="1150" dirty="0"/>
          </a:p>
        </p:txBody>
      </p:sp>
      <p:sp>
        <p:nvSpPr>
          <p:cNvPr id="27" name="Shape 22"/>
          <p:cNvSpPr/>
          <p:nvPr/>
        </p:nvSpPr>
        <p:spPr>
          <a:xfrm>
            <a:off x="3377184" y="2468880"/>
            <a:ext cx="863194" cy="237744"/>
          </a:xfrm>
          <a:prstGeom prst="roundRect">
            <a:avLst>
              <a:gd name="adj" fmla="val 50000"/>
            </a:avLst>
          </a:prstGeom>
          <a:solidFill>
            <a:srgbClr val="E6F4F1"/>
          </a:solidFill>
          <a:ln w="12700">
            <a:solidFill>
              <a:srgbClr val="E6F4F1"/>
            </a:solidFill>
            <a:prstDash val="solid"/>
          </a:ln>
        </p:spPr>
      </p:sp>
      <p:sp>
        <p:nvSpPr>
          <p:cNvPr id="28" name="Text 23"/>
          <p:cNvSpPr txBox="1"/>
          <p:nvPr/>
        </p:nvSpPr>
        <p:spPr>
          <a:xfrm>
            <a:off x="3377184" y="2468880"/>
            <a:ext cx="863194"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Home vitals</a:t>
            </a:r>
            <a:endParaRPr lang="en-US" sz="850" dirty="0"/>
          </a:p>
        </p:txBody>
      </p:sp>
      <p:sp>
        <p:nvSpPr>
          <p:cNvPr id="29" name="Text 24"/>
          <p:cNvSpPr txBox="1"/>
          <p:nvPr/>
        </p:nvSpPr>
        <p:spPr>
          <a:xfrm>
            <a:off x="3377184" y="2788920"/>
            <a:ext cx="1021080"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Twice-daily readings for 14 days with her own thresholds</a:t>
            </a:r>
            <a:endParaRPr lang="en-US" sz="950" dirty="0"/>
          </a:p>
        </p:txBody>
      </p:sp>
      <p:sp>
        <p:nvSpPr>
          <p:cNvPr id="30" name="Shape 25"/>
          <p:cNvSpPr/>
          <p:nvPr/>
        </p:nvSpPr>
        <p:spPr>
          <a:xfrm>
            <a:off x="4489704" y="2464308"/>
            <a:ext cx="164592" cy="237744"/>
          </a:xfrm>
          <a:prstGeom prst="rightArrow">
            <a:avLst/>
          </a:prstGeom>
          <a:solidFill>
            <a:srgbClr val="2A9D8F"/>
          </a:solidFill>
          <a:ln w="12700">
            <a:solidFill>
              <a:srgbClr val="2A9D8F"/>
            </a:solidFill>
            <a:prstDash val="solid"/>
          </a:ln>
        </p:spPr>
      </p:sp>
      <p:sp>
        <p:nvSpPr>
          <p:cNvPr id="31" name="Shape 26"/>
          <p:cNvSpPr/>
          <p:nvPr/>
        </p:nvSpPr>
        <p:spPr>
          <a:xfrm>
            <a:off x="4672584" y="1325880"/>
            <a:ext cx="1203960" cy="251460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2" name="Shape 27"/>
          <p:cNvSpPr/>
          <p:nvPr/>
        </p:nvSpPr>
        <p:spPr>
          <a:xfrm>
            <a:off x="4782312" y="1453896"/>
            <a:ext cx="420624" cy="420624"/>
          </a:xfrm>
          <a:prstGeom prst="ellipse">
            <a:avLst/>
          </a:prstGeom>
          <a:solidFill>
            <a:srgbClr val="1B6B63"/>
          </a:solidFill>
          <a:ln w="12700">
            <a:solidFill>
              <a:srgbClr val="1B6B63"/>
            </a:solidFill>
            <a:prstDash val="solid"/>
          </a:ln>
        </p:spPr>
      </p:sp>
      <p:pic>
        <p:nvPicPr>
          <p:cNvPr id="33" name="Image 3" descr="preencoded.png">    </p:cNvPr>
          <p:cNvPicPr>
            <a:picLocks noChangeAspect="1"/>
          </p:cNvPicPr>
          <p:nvPr/>
        </p:nvPicPr>
        <p:blipFill>
          <a:blip r:embed="rId4"/>
          <a:stretch>
            <a:fillRect/>
          </a:stretch>
        </p:blipFill>
        <p:spPr>
          <a:xfrm>
            <a:off x="4887468" y="1559052"/>
            <a:ext cx="210312" cy="210312"/>
          </a:xfrm>
          <a:prstGeom prst="rect">
            <a:avLst/>
          </a:prstGeom>
        </p:spPr>
      </p:pic>
      <p:sp>
        <p:nvSpPr>
          <p:cNvPr id="34" name="Text 28"/>
          <p:cNvSpPr txBox="1"/>
          <p:nvPr/>
        </p:nvSpPr>
        <p:spPr>
          <a:xfrm>
            <a:off x="5547360"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4</a:t>
            </a:r>
            <a:endParaRPr lang="en-US" sz="1200" dirty="0"/>
          </a:p>
        </p:txBody>
      </p:sp>
      <p:sp>
        <p:nvSpPr>
          <p:cNvPr id="35" name="Text 29"/>
          <p:cNvSpPr txBox="1"/>
          <p:nvPr/>
        </p:nvSpPr>
        <p:spPr>
          <a:xfrm>
            <a:off x="4782312" y="1965960"/>
            <a:ext cx="1021080"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Consults online</a:t>
            </a:r>
            <a:endParaRPr lang="en-US" sz="1150" dirty="0"/>
          </a:p>
        </p:txBody>
      </p:sp>
      <p:sp>
        <p:nvSpPr>
          <p:cNvPr id="36" name="Shape 30"/>
          <p:cNvSpPr/>
          <p:nvPr/>
        </p:nvSpPr>
        <p:spPr>
          <a:xfrm>
            <a:off x="4782312" y="2468880"/>
            <a:ext cx="687629" cy="237744"/>
          </a:xfrm>
          <a:prstGeom prst="roundRect">
            <a:avLst>
              <a:gd name="adj" fmla="val 50000"/>
            </a:avLst>
          </a:prstGeom>
          <a:solidFill>
            <a:srgbClr val="E6F4F1"/>
          </a:solidFill>
          <a:ln w="12700">
            <a:solidFill>
              <a:srgbClr val="E6F4F1"/>
            </a:solidFill>
            <a:prstDash val="solid"/>
          </a:ln>
        </p:spPr>
      </p:sp>
      <p:sp>
        <p:nvSpPr>
          <p:cNvPr id="37" name="Text 31"/>
          <p:cNvSpPr txBox="1"/>
          <p:nvPr/>
        </p:nvSpPr>
        <p:spPr>
          <a:xfrm>
            <a:off x="4782312" y="2468880"/>
            <a:ext cx="687629"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Consults</a:t>
            </a:r>
            <a:endParaRPr lang="en-US" sz="850" dirty="0"/>
          </a:p>
        </p:txBody>
      </p:sp>
      <p:sp>
        <p:nvSpPr>
          <p:cNvPr id="38" name="Text 32"/>
          <p:cNvSpPr txBox="1"/>
          <p:nvPr/>
        </p:nvSpPr>
        <p:spPr>
          <a:xfrm>
            <a:off x="4782312" y="2788920"/>
            <a:ext cx="1021080"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Intake summary ready; video call; summary and prescription</a:t>
            </a:r>
            <a:endParaRPr lang="en-US" sz="950" dirty="0"/>
          </a:p>
        </p:txBody>
      </p:sp>
      <p:sp>
        <p:nvSpPr>
          <p:cNvPr id="39" name="Shape 33"/>
          <p:cNvSpPr/>
          <p:nvPr/>
        </p:nvSpPr>
        <p:spPr>
          <a:xfrm>
            <a:off x="5894832" y="2464308"/>
            <a:ext cx="164592" cy="237744"/>
          </a:xfrm>
          <a:prstGeom prst="rightArrow">
            <a:avLst/>
          </a:prstGeom>
          <a:solidFill>
            <a:srgbClr val="2A9D8F"/>
          </a:solidFill>
          <a:ln w="12700">
            <a:solidFill>
              <a:srgbClr val="2A9D8F"/>
            </a:solidFill>
            <a:prstDash val="solid"/>
          </a:ln>
        </p:spPr>
      </p:sp>
      <p:sp>
        <p:nvSpPr>
          <p:cNvPr id="40" name="Shape 34"/>
          <p:cNvSpPr/>
          <p:nvPr/>
        </p:nvSpPr>
        <p:spPr>
          <a:xfrm>
            <a:off x="6077712" y="1325880"/>
            <a:ext cx="1203960" cy="251460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41" name="Shape 35"/>
          <p:cNvSpPr/>
          <p:nvPr/>
        </p:nvSpPr>
        <p:spPr>
          <a:xfrm>
            <a:off x="6187440" y="1453896"/>
            <a:ext cx="420624" cy="420624"/>
          </a:xfrm>
          <a:prstGeom prst="ellipse">
            <a:avLst/>
          </a:prstGeom>
          <a:solidFill>
            <a:srgbClr val="1B6B63"/>
          </a:solidFill>
          <a:ln w="12700">
            <a:solidFill>
              <a:srgbClr val="1B6B63"/>
            </a:solidFill>
            <a:prstDash val="solid"/>
          </a:ln>
        </p:spPr>
      </p:sp>
      <p:pic>
        <p:nvPicPr>
          <p:cNvPr id="42" name="Image 4" descr="preencoded.png">    </p:cNvPr>
          <p:cNvPicPr>
            <a:picLocks noChangeAspect="1"/>
          </p:cNvPicPr>
          <p:nvPr/>
        </p:nvPicPr>
        <p:blipFill>
          <a:blip r:embed="rId5"/>
          <a:stretch>
            <a:fillRect/>
          </a:stretch>
        </p:blipFill>
        <p:spPr>
          <a:xfrm>
            <a:off x="6292596" y="1559052"/>
            <a:ext cx="210312" cy="210312"/>
          </a:xfrm>
          <a:prstGeom prst="rect">
            <a:avLst/>
          </a:prstGeom>
        </p:spPr>
      </p:pic>
      <p:sp>
        <p:nvSpPr>
          <p:cNvPr id="43" name="Text 36"/>
          <p:cNvSpPr txBox="1"/>
          <p:nvPr/>
        </p:nvSpPr>
        <p:spPr>
          <a:xfrm>
            <a:off x="6952488"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5</a:t>
            </a:r>
            <a:endParaRPr lang="en-US" sz="1200" dirty="0"/>
          </a:p>
        </p:txBody>
      </p:sp>
      <p:sp>
        <p:nvSpPr>
          <p:cNvPr id="44" name="Text 37"/>
          <p:cNvSpPr txBox="1"/>
          <p:nvPr/>
        </p:nvSpPr>
        <p:spPr>
          <a:xfrm>
            <a:off x="6187440" y="1965960"/>
            <a:ext cx="1021080"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Approves</a:t>
            </a:r>
            <a:endParaRPr lang="en-US" sz="1150" dirty="0"/>
          </a:p>
        </p:txBody>
      </p:sp>
      <p:sp>
        <p:nvSpPr>
          <p:cNvPr id="45" name="Shape 38"/>
          <p:cNvSpPr/>
          <p:nvPr/>
        </p:nvSpPr>
        <p:spPr>
          <a:xfrm>
            <a:off x="6187440" y="2468880"/>
            <a:ext cx="629107" cy="237744"/>
          </a:xfrm>
          <a:prstGeom prst="roundRect">
            <a:avLst>
              <a:gd name="adj" fmla="val 50000"/>
            </a:avLst>
          </a:prstGeom>
          <a:solidFill>
            <a:srgbClr val="E6F4F1"/>
          </a:solidFill>
          <a:ln w="12700">
            <a:solidFill>
              <a:srgbClr val="E6F4F1"/>
            </a:solidFill>
            <a:prstDash val="solid"/>
          </a:ln>
        </p:spPr>
      </p:sp>
      <p:sp>
        <p:nvSpPr>
          <p:cNvPr id="46" name="Text 39"/>
          <p:cNvSpPr txBox="1"/>
          <p:nvPr/>
        </p:nvSpPr>
        <p:spPr>
          <a:xfrm>
            <a:off x="6187440" y="2468880"/>
            <a:ext cx="629107"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Results</a:t>
            </a:r>
            <a:endParaRPr lang="en-US" sz="850" dirty="0"/>
          </a:p>
        </p:txBody>
      </p:sp>
      <p:sp>
        <p:nvSpPr>
          <p:cNvPr id="47" name="Text 40"/>
          <p:cNvSpPr txBox="1"/>
          <p:nvPr/>
        </p:nvSpPr>
        <p:spPr>
          <a:xfrm>
            <a:off x="6187440" y="2788920"/>
            <a:ext cx="1021080"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Edits and releases the AI-drafted lipid explanation</a:t>
            </a:r>
            <a:endParaRPr lang="en-US" sz="950" dirty="0"/>
          </a:p>
        </p:txBody>
      </p:sp>
      <p:sp>
        <p:nvSpPr>
          <p:cNvPr id="48" name="Shape 41"/>
          <p:cNvSpPr/>
          <p:nvPr/>
        </p:nvSpPr>
        <p:spPr>
          <a:xfrm>
            <a:off x="7299960" y="2464308"/>
            <a:ext cx="164592" cy="237744"/>
          </a:xfrm>
          <a:prstGeom prst="rightArrow">
            <a:avLst/>
          </a:prstGeom>
          <a:solidFill>
            <a:srgbClr val="2A9D8F"/>
          </a:solidFill>
          <a:ln w="12700">
            <a:solidFill>
              <a:srgbClr val="2A9D8F"/>
            </a:solidFill>
            <a:prstDash val="solid"/>
          </a:ln>
        </p:spPr>
      </p:sp>
      <p:sp>
        <p:nvSpPr>
          <p:cNvPr id="49" name="Shape 42"/>
          <p:cNvSpPr/>
          <p:nvPr/>
        </p:nvSpPr>
        <p:spPr>
          <a:xfrm>
            <a:off x="7482840" y="1325880"/>
            <a:ext cx="1203960" cy="2514600"/>
          </a:xfrm>
          <a:prstGeom prst="roundRect">
            <a:avLst>
              <a:gd name="adj" fmla="val 9114"/>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0" name="Shape 43"/>
          <p:cNvSpPr/>
          <p:nvPr/>
        </p:nvSpPr>
        <p:spPr>
          <a:xfrm>
            <a:off x="7592568" y="1453896"/>
            <a:ext cx="420624" cy="420624"/>
          </a:xfrm>
          <a:prstGeom prst="ellipse">
            <a:avLst/>
          </a:prstGeom>
          <a:solidFill>
            <a:srgbClr val="1B6B63"/>
          </a:solidFill>
          <a:ln w="12700">
            <a:solidFill>
              <a:srgbClr val="1B6B63"/>
            </a:solidFill>
            <a:prstDash val="solid"/>
          </a:ln>
        </p:spPr>
      </p:sp>
      <p:pic>
        <p:nvPicPr>
          <p:cNvPr id="51" name="Image 5" descr="preencoded.png">    </p:cNvPr>
          <p:cNvPicPr>
            <a:picLocks noChangeAspect="1"/>
          </p:cNvPicPr>
          <p:nvPr/>
        </p:nvPicPr>
        <p:blipFill>
          <a:blip r:embed="rId6"/>
          <a:stretch>
            <a:fillRect/>
          </a:stretch>
        </p:blipFill>
        <p:spPr>
          <a:xfrm>
            <a:off x="7697724" y="1559052"/>
            <a:ext cx="210312" cy="210312"/>
          </a:xfrm>
          <a:prstGeom prst="rect">
            <a:avLst/>
          </a:prstGeom>
        </p:spPr>
      </p:pic>
      <p:sp>
        <p:nvSpPr>
          <p:cNvPr id="52" name="Text 44"/>
          <p:cNvSpPr txBox="1"/>
          <p:nvPr/>
        </p:nvSpPr>
        <p:spPr>
          <a:xfrm>
            <a:off x="8357616"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6</a:t>
            </a:r>
            <a:endParaRPr lang="en-US" sz="1200" dirty="0"/>
          </a:p>
        </p:txBody>
      </p:sp>
      <p:sp>
        <p:nvSpPr>
          <p:cNvPr id="53" name="Text 45"/>
          <p:cNvSpPr txBox="1"/>
          <p:nvPr/>
        </p:nvSpPr>
        <p:spPr>
          <a:xfrm>
            <a:off x="7592568" y="1965960"/>
            <a:ext cx="1021080"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Follows up</a:t>
            </a:r>
            <a:endParaRPr lang="en-US" sz="1150" dirty="0"/>
          </a:p>
        </p:txBody>
      </p:sp>
      <p:sp>
        <p:nvSpPr>
          <p:cNvPr id="54" name="Shape 46"/>
          <p:cNvSpPr/>
          <p:nvPr/>
        </p:nvSpPr>
        <p:spPr>
          <a:xfrm>
            <a:off x="7592568" y="2468880"/>
            <a:ext cx="746150" cy="237744"/>
          </a:xfrm>
          <a:prstGeom prst="roundRect">
            <a:avLst>
              <a:gd name="adj" fmla="val 50000"/>
            </a:avLst>
          </a:prstGeom>
          <a:solidFill>
            <a:srgbClr val="E6F4F1"/>
          </a:solidFill>
          <a:ln w="12700">
            <a:solidFill>
              <a:srgbClr val="E6F4F1"/>
            </a:solidFill>
            <a:prstDash val="solid"/>
          </a:ln>
        </p:spPr>
      </p:sp>
      <p:sp>
        <p:nvSpPr>
          <p:cNvPr id="55" name="Text 47"/>
          <p:cNvSpPr txBox="1"/>
          <p:nvPr/>
        </p:nvSpPr>
        <p:spPr>
          <a:xfrm>
            <a:off x="7592568" y="2468880"/>
            <a:ext cx="746150"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Follow-up</a:t>
            </a:r>
            <a:endParaRPr lang="en-US" sz="850" dirty="0"/>
          </a:p>
        </p:txBody>
      </p:sp>
      <p:sp>
        <p:nvSpPr>
          <p:cNvPr id="56" name="Text 48"/>
          <p:cNvSpPr txBox="1"/>
          <p:nvPr/>
        </p:nvSpPr>
        <p:spPr>
          <a:xfrm>
            <a:off x="7592568" y="2788920"/>
            <a:ext cx="1021080"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Adherence and check-ins show the plan is working</a:t>
            </a:r>
            <a:endParaRPr lang="en-US" sz="950" dirty="0"/>
          </a:p>
        </p:txBody>
      </p:sp>
      <p:sp>
        <p:nvSpPr>
          <p:cNvPr id="57" name="Shape 49"/>
          <p:cNvSpPr/>
          <p:nvPr/>
        </p:nvSpPr>
        <p:spPr>
          <a:xfrm>
            <a:off x="457200" y="4023360"/>
            <a:ext cx="8229600" cy="685800"/>
          </a:xfrm>
          <a:prstGeom prst="roundRect">
            <a:avLst>
              <a:gd name="adj" fmla="val 16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58" name="Shape 50"/>
          <p:cNvSpPr/>
          <p:nvPr/>
        </p:nvSpPr>
        <p:spPr>
          <a:xfrm>
            <a:off x="594360" y="4133088"/>
            <a:ext cx="457200" cy="457200"/>
          </a:xfrm>
          <a:prstGeom prst="ellipse">
            <a:avLst/>
          </a:prstGeom>
          <a:solidFill>
            <a:srgbClr val="15803D"/>
          </a:solidFill>
          <a:ln w="12700">
            <a:solidFill>
              <a:srgbClr val="15803D"/>
            </a:solidFill>
            <a:prstDash val="solid"/>
          </a:ln>
        </p:spPr>
      </p:sp>
      <p:pic>
        <p:nvPicPr>
          <p:cNvPr id="59" name="Image 6" descr="preencoded.png">    </p:cNvPr>
          <p:cNvPicPr>
            <a:picLocks noChangeAspect="1"/>
          </p:cNvPicPr>
          <p:nvPr/>
        </p:nvPicPr>
        <p:blipFill>
          <a:blip r:embed="rId7"/>
          <a:stretch>
            <a:fillRect/>
          </a:stretch>
        </p:blipFill>
        <p:spPr>
          <a:xfrm>
            <a:off x="708660" y="4247388"/>
            <a:ext cx="228600" cy="228600"/>
          </a:xfrm>
          <a:prstGeom prst="rect">
            <a:avLst/>
          </a:prstGeom>
        </p:spPr>
      </p:pic>
      <p:sp>
        <p:nvSpPr>
          <p:cNvPr id="60" name="Text 51"/>
          <p:cNvSpPr txBox="1"/>
          <p:nvPr/>
        </p:nvSpPr>
        <p:spPr>
          <a:xfrm>
            <a:off x="1188720" y="4050792"/>
            <a:ext cx="7360920" cy="630936"/>
          </a:xfrm>
          <a:prstGeom prst="rect">
            <a:avLst/>
          </a:prstGeom>
          <a:noFill/>
          <a:ln/>
        </p:spPr>
        <p:txBody>
          <a:bodyPr wrap="square" lIns="0" tIns="0" rIns="0" bIns="0" rtlCol="0" anchor="ctr"/>
          <a:lstStyle/>
          <a:p>
            <a:pPr indent="0" marL="0">
              <a:buNone/>
            </a:pPr>
            <a:r>
              <a:rPr lang="en-US" sz="1250" b="1" dirty="0">
                <a:solidFill>
                  <a:srgbClr val="15803D"/>
                </a:solidFill>
                <a:latin typeface="Calibri" pitchFamily="34" charset="0"/>
                <a:ea typeface="Calibri" pitchFamily="34" charset="-122"/>
                <a:cs typeface="Calibri" pitchFamily="34" charset="-120"/>
              </a:rPr>
              <a:t>Outcome  </a:t>
            </a:r>
            <a:pPr indent="0" marL="0">
              <a:buNone/>
            </a:pPr>
            <a:r>
              <a:rPr lang="en-US" sz="1250" dirty="0">
                <a:solidFill>
                  <a:srgbClr val="134E4A"/>
                </a:solidFill>
                <a:latin typeface="Calibri" pitchFamily="34" charset="0"/>
                <a:ea typeface="Calibri" pitchFamily="34" charset="-122"/>
                <a:cs typeface="Calibri" pitchFamily="34" charset="-120"/>
              </a:rPr>
              <a:t>Decisions in minutes, with the context in front of her, and nothing clinical goes out without her approval.</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Meet Lena Marsh, PharmD</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Pharmacist verifying and dispatching the clinic pharmacy's online orders</a:t>
            </a:r>
            <a:endParaRPr lang="en-US" sz="1300" dirty="0"/>
          </a:p>
        </p:txBody>
      </p:sp>
      <p:sp>
        <p:nvSpPr>
          <p:cNvPr id="4" name="Shape 2"/>
          <p:cNvSpPr/>
          <p:nvPr/>
        </p:nvSpPr>
        <p:spPr>
          <a:xfrm>
            <a:off x="457200" y="1325880"/>
            <a:ext cx="3063240" cy="3429000"/>
          </a:xfrm>
          <a:prstGeom prst="roundRect">
            <a:avLst>
              <a:gd name="adj" fmla="val 358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658368" y="1481328"/>
            <a:ext cx="658368" cy="658368"/>
          </a:xfrm>
          <a:prstGeom prst="ellipse">
            <a:avLst/>
          </a:prstGeom>
          <a:solidFill>
            <a:srgbClr val="0F766E"/>
          </a:solidFill>
          <a:ln w="25400">
            <a:solidFill>
              <a:srgbClr val="FFFFFF"/>
            </a:solidFill>
            <a:prstDash val="solid"/>
          </a:ln>
        </p:spPr>
      </p:sp>
      <p:sp>
        <p:nvSpPr>
          <p:cNvPr id="6" name="Text 4"/>
          <p:cNvSpPr txBox="1"/>
          <p:nvPr/>
        </p:nvSpPr>
        <p:spPr>
          <a:xfrm>
            <a:off x="658368" y="1481328"/>
            <a:ext cx="658368" cy="658368"/>
          </a:xfrm>
          <a:prstGeom prst="rect">
            <a:avLst/>
          </a:prstGeom>
          <a:noFill/>
          <a:ln/>
        </p:spPr>
        <p:txBody>
          <a:bodyPr wrap="square" lIns="0" tIns="0" rIns="0" bIns="0" rtlCol="0" anchor="ctr"/>
          <a:lstStyle/>
          <a:p>
            <a:pPr algn="ctr" indent="0" marL="0">
              <a:buNone/>
            </a:pPr>
            <a:r>
              <a:rPr lang="en-US" sz="1584" b="1" dirty="0">
                <a:solidFill>
                  <a:srgbClr val="FFFFFF"/>
                </a:solidFill>
                <a:latin typeface="Calibri" pitchFamily="34" charset="0"/>
                <a:ea typeface="Calibri" pitchFamily="34" charset="-122"/>
                <a:cs typeface="Calibri" pitchFamily="34" charset="-120"/>
              </a:rPr>
              <a:t>LM</a:t>
            </a:r>
            <a:endParaRPr lang="en-US" sz="1584" dirty="0"/>
          </a:p>
        </p:txBody>
      </p:sp>
      <p:sp>
        <p:nvSpPr>
          <p:cNvPr id="7" name="Text 5"/>
          <p:cNvSpPr txBox="1"/>
          <p:nvPr/>
        </p:nvSpPr>
        <p:spPr>
          <a:xfrm>
            <a:off x="1444752" y="1481328"/>
            <a:ext cx="2011680" cy="658368"/>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Lena Marsh, PharmD</a:t>
            </a:r>
            <a:endParaRPr lang="en-US" sz="1400" dirty="0"/>
          </a:p>
        </p:txBody>
      </p:sp>
      <p:sp>
        <p:nvSpPr>
          <p:cNvPr id="8" name="Text 6"/>
          <p:cNvSpPr txBox="1"/>
          <p:nvPr/>
        </p:nvSpPr>
        <p:spPr>
          <a:xfrm>
            <a:off x="658368" y="2212848"/>
            <a:ext cx="2743200" cy="384048"/>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Staff · pharmacy team · lands on the verification queue</a:t>
            </a:r>
            <a:endParaRPr lang="en-US" sz="1000" dirty="0"/>
          </a:p>
        </p:txBody>
      </p:sp>
      <p:sp>
        <p:nvSpPr>
          <p:cNvPr id="9" name="Text 7"/>
          <p:cNvSpPr txBox="1"/>
          <p:nvPr/>
        </p:nvSpPr>
        <p:spPr>
          <a:xfrm>
            <a:off x="658368" y="2651760"/>
            <a:ext cx="2743200" cy="237744"/>
          </a:xfrm>
          <a:prstGeom prst="rect">
            <a:avLst/>
          </a:prstGeom>
          <a:noFill/>
          <a:ln/>
        </p:spPr>
        <p:txBody>
          <a:bodyPr wrap="square" lIns="0" tIns="0" rIns="0" bIns="0" rtlCol="0" anchor="t"/>
          <a:lstStyle/>
          <a:p>
            <a:pPr indent="0" marL="0">
              <a:buNone/>
            </a:pPr>
            <a:r>
              <a:rPr lang="en-US" sz="1150" b="1" dirty="0">
                <a:solidFill>
                  <a:srgbClr val="134E4A"/>
                </a:solidFill>
                <a:latin typeface="Calibri" pitchFamily="34" charset="0"/>
                <a:ea typeface="Calibri" pitchFamily="34" charset="-122"/>
                <a:cs typeface="Calibri" pitchFamily="34" charset="-120"/>
              </a:rPr>
              <a:t>Goals</a:t>
            </a:r>
            <a:endParaRPr lang="en-US" sz="1150" dirty="0"/>
          </a:p>
        </p:txBody>
      </p:sp>
      <p:sp>
        <p:nvSpPr>
          <p:cNvPr id="10" name="Text 8"/>
          <p:cNvSpPr txBox="1"/>
          <p:nvPr/>
        </p:nvSpPr>
        <p:spPr>
          <a:xfrm>
            <a:off x="658368" y="2889504"/>
            <a:ext cx="2697480" cy="822960"/>
          </a:xfrm>
          <a:prstGeom prst="rect">
            <a:avLst/>
          </a:prstGeom>
          <a:noFill/>
          <a:ln/>
        </p:spPr>
        <p:txBody>
          <a:bodyPr wrap="square" lIns="0" tIns="0" rIns="0" bIns="0" rtlCol="0" anchor="t"/>
          <a:lstStyle/>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Dispense safely, first time</a:t>
            </a:r>
            <a:endParaRPr lang="en-US" sz="1000" dirty="0"/>
          </a:p>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Fewer callbacks to patients and prescribers</a:t>
            </a:r>
            <a:endParaRPr lang="en-US" sz="1000" dirty="0"/>
          </a:p>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Deliveries on time and traceable</a:t>
            </a:r>
            <a:endParaRPr lang="en-US" sz="1000" dirty="0"/>
          </a:p>
        </p:txBody>
      </p:sp>
      <p:sp>
        <p:nvSpPr>
          <p:cNvPr id="11" name="Text 9"/>
          <p:cNvSpPr txBox="1"/>
          <p:nvPr/>
        </p:nvSpPr>
        <p:spPr>
          <a:xfrm>
            <a:off x="658368" y="3730752"/>
            <a:ext cx="2743200" cy="237744"/>
          </a:xfrm>
          <a:prstGeom prst="rect">
            <a:avLst/>
          </a:prstGeom>
          <a:noFill/>
          <a:ln/>
        </p:spPr>
        <p:txBody>
          <a:bodyPr wrap="square" lIns="0" tIns="0" rIns="0" bIns="0" rtlCol="0" anchor="t"/>
          <a:lstStyle/>
          <a:p>
            <a:pPr indent="0" marL="0">
              <a:buNone/>
            </a:pPr>
            <a:r>
              <a:rPr lang="en-US" sz="1150" b="1" dirty="0">
                <a:solidFill>
                  <a:srgbClr val="DC2626"/>
                </a:solidFill>
                <a:latin typeface="Calibri" pitchFamily="34" charset="0"/>
                <a:ea typeface="Calibri" pitchFamily="34" charset="-122"/>
                <a:cs typeface="Calibri" pitchFamily="34" charset="-120"/>
              </a:rPr>
              <a:t>Frustrations today</a:t>
            </a:r>
            <a:endParaRPr lang="en-US" sz="1150" dirty="0"/>
          </a:p>
        </p:txBody>
      </p:sp>
      <p:sp>
        <p:nvSpPr>
          <p:cNvPr id="12" name="Text 10"/>
          <p:cNvSpPr txBox="1"/>
          <p:nvPr/>
        </p:nvSpPr>
        <p:spPr>
          <a:xfrm>
            <a:off x="658368" y="3968496"/>
            <a:ext cx="2697480" cy="749808"/>
          </a:xfrm>
          <a:prstGeom prst="rect">
            <a:avLst/>
          </a:prstGeom>
          <a:noFill/>
          <a:ln/>
        </p:spPr>
        <p:txBody>
          <a:bodyPr wrap="square" lIns="0" tIns="0" rIns="0" bIns="0" rtlCol="0" anchor="t"/>
          <a:lstStyle/>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Incomplete medicine and allergy lists</a:t>
            </a:r>
            <a:endParaRPr lang="en-US" sz="1000" dirty="0"/>
          </a:p>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Interactions spotted late</a:t>
            </a:r>
            <a:endParaRPr lang="en-US" sz="1000" dirty="0"/>
          </a:p>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Delivery status chased by phone</a:t>
            </a:r>
            <a:endParaRPr lang="en-US" sz="1000" dirty="0"/>
          </a:p>
        </p:txBody>
      </p:sp>
      <p:sp>
        <p:nvSpPr>
          <p:cNvPr id="13" name="Text 11"/>
          <p:cNvSpPr txBox="1"/>
          <p:nvPr/>
        </p:nvSpPr>
        <p:spPr>
          <a:xfrm>
            <a:off x="3794760" y="1325880"/>
            <a:ext cx="4892040" cy="320040"/>
          </a:xfrm>
          <a:prstGeom prst="rect">
            <a:avLst/>
          </a:prstGeom>
          <a:noFill/>
          <a:ln/>
        </p:spPr>
        <p:txBody>
          <a:bodyPr wrap="square" lIns="0" tIns="0" rIns="0" bIns="0" rtlCol="0" anchor="t"/>
          <a:lstStyle/>
          <a:p>
            <a:pPr indent="0" marL="0">
              <a:buNone/>
            </a:pPr>
            <a:r>
              <a:rPr lang="en-US" sz="1400" b="1" dirty="0">
                <a:solidFill>
                  <a:srgbClr val="134E4A"/>
                </a:solidFill>
                <a:latin typeface="Calibri" pitchFamily="34" charset="0"/>
                <a:ea typeface="Calibri" pitchFamily="34" charset="-122"/>
                <a:cs typeface="Calibri" pitchFamily="34" charset="-120"/>
              </a:rPr>
              <a:t>What Bioverse One gives her</a:t>
            </a:r>
            <a:endParaRPr lang="en-US" sz="1400" dirty="0"/>
          </a:p>
        </p:txBody>
      </p:sp>
      <p:sp>
        <p:nvSpPr>
          <p:cNvPr id="14" name="Shape 12"/>
          <p:cNvSpPr/>
          <p:nvPr/>
        </p:nvSpPr>
        <p:spPr>
          <a:xfrm>
            <a:off x="3794760" y="1737360"/>
            <a:ext cx="4892040" cy="685800"/>
          </a:xfrm>
          <a:prstGeom prst="roundRect">
            <a:avLst>
              <a:gd name="adj" fmla="val 16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5" name="Shape 13"/>
          <p:cNvSpPr/>
          <p:nvPr/>
        </p:nvSpPr>
        <p:spPr>
          <a:xfrm>
            <a:off x="3904488" y="1869948"/>
            <a:ext cx="420624" cy="420624"/>
          </a:xfrm>
          <a:prstGeom prst="ellipse">
            <a:avLst/>
          </a:prstGeom>
          <a:solidFill>
            <a:srgbClr val="1B6B63"/>
          </a:solidFill>
          <a:ln w="12700">
            <a:solidFill>
              <a:srgbClr val="1B6B63"/>
            </a:solidFill>
            <a:prstDash val="solid"/>
          </a:ln>
        </p:spPr>
      </p:sp>
      <p:pic>
        <p:nvPicPr>
          <p:cNvPr id="16" name="Image 0" descr="preencoded.png">    </p:cNvPr>
          <p:cNvPicPr>
            <a:picLocks noChangeAspect="1"/>
          </p:cNvPicPr>
          <p:nvPr/>
        </p:nvPicPr>
        <p:blipFill>
          <a:blip r:embed="rId1"/>
          <a:stretch>
            <a:fillRect/>
          </a:stretch>
        </p:blipFill>
        <p:spPr>
          <a:xfrm>
            <a:off x="4009644" y="1975104"/>
            <a:ext cx="210312" cy="210312"/>
          </a:xfrm>
          <a:prstGeom prst="rect">
            <a:avLst/>
          </a:prstGeom>
        </p:spPr>
      </p:pic>
      <p:sp>
        <p:nvSpPr>
          <p:cNvPr id="17" name="Text 14"/>
          <p:cNvSpPr txBox="1"/>
          <p:nvPr/>
        </p:nvSpPr>
        <p:spPr>
          <a:xfrm>
            <a:off x="4434840" y="1792224"/>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Everything on one screen</a:t>
            </a:r>
            <a:endParaRPr lang="en-US" sz="1200" dirty="0"/>
          </a:p>
        </p:txBody>
      </p:sp>
      <p:sp>
        <p:nvSpPr>
          <p:cNvPr id="18" name="Text 15"/>
          <p:cNvSpPr txBox="1"/>
          <p:nvPr/>
        </p:nvSpPr>
        <p:spPr>
          <a:xfrm>
            <a:off x="4434840" y="2029968"/>
            <a:ext cx="4160520" cy="374904"/>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The order, the patient's medicines, allergies and every check result</a:t>
            </a:r>
            <a:endParaRPr lang="en-US" sz="950" dirty="0"/>
          </a:p>
        </p:txBody>
      </p:sp>
      <p:sp>
        <p:nvSpPr>
          <p:cNvPr id="19" name="Shape 16"/>
          <p:cNvSpPr/>
          <p:nvPr/>
        </p:nvSpPr>
        <p:spPr>
          <a:xfrm>
            <a:off x="3794760" y="2514600"/>
            <a:ext cx="4892040" cy="685800"/>
          </a:xfrm>
          <a:prstGeom prst="roundRect">
            <a:avLst>
              <a:gd name="adj" fmla="val 16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0" name="Shape 17"/>
          <p:cNvSpPr/>
          <p:nvPr/>
        </p:nvSpPr>
        <p:spPr>
          <a:xfrm>
            <a:off x="3904488" y="2647188"/>
            <a:ext cx="420624" cy="420624"/>
          </a:xfrm>
          <a:prstGeom prst="ellipse">
            <a:avLst/>
          </a:prstGeom>
          <a:solidFill>
            <a:srgbClr val="1B6B63"/>
          </a:solidFill>
          <a:ln w="12700">
            <a:solidFill>
              <a:srgbClr val="1B6B63"/>
            </a:solidFill>
            <a:prstDash val="solid"/>
          </a:ln>
        </p:spPr>
      </p:sp>
      <p:pic>
        <p:nvPicPr>
          <p:cNvPr id="21" name="Image 1" descr="preencoded.png">    </p:cNvPr>
          <p:cNvPicPr>
            <a:picLocks noChangeAspect="1"/>
          </p:cNvPicPr>
          <p:nvPr/>
        </p:nvPicPr>
        <p:blipFill>
          <a:blip r:embed="rId2"/>
          <a:stretch>
            <a:fillRect/>
          </a:stretch>
        </p:blipFill>
        <p:spPr>
          <a:xfrm>
            <a:off x="4009644" y="2752344"/>
            <a:ext cx="210312" cy="210312"/>
          </a:xfrm>
          <a:prstGeom prst="rect">
            <a:avLst/>
          </a:prstGeom>
        </p:spPr>
      </p:pic>
      <p:sp>
        <p:nvSpPr>
          <p:cNvPr id="22" name="Text 18"/>
          <p:cNvSpPr txBox="1"/>
          <p:nvPr/>
        </p:nvSpPr>
        <p:spPr>
          <a:xfrm>
            <a:off x="4434840" y="2569464"/>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Checks done before she looks</a:t>
            </a:r>
            <a:endParaRPr lang="en-US" sz="1200" dirty="0"/>
          </a:p>
        </p:txBody>
      </p:sp>
      <p:sp>
        <p:nvSpPr>
          <p:cNvPr id="23" name="Text 19"/>
          <p:cNvSpPr txBox="1"/>
          <p:nvPr/>
        </p:nvSpPr>
        <p:spPr>
          <a:xfrm>
            <a:off x="4434840" y="2807208"/>
            <a:ext cx="4160520" cy="374904"/>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Interactions, duplicates, allergies, age and quantity limits flagged automatically</a:t>
            </a:r>
            <a:endParaRPr lang="en-US" sz="950" dirty="0"/>
          </a:p>
        </p:txBody>
      </p:sp>
      <p:sp>
        <p:nvSpPr>
          <p:cNvPr id="24" name="Shape 20"/>
          <p:cNvSpPr/>
          <p:nvPr/>
        </p:nvSpPr>
        <p:spPr>
          <a:xfrm>
            <a:off x="3794760" y="3291840"/>
            <a:ext cx="4892040" cy="685800"/>
          </a:xfrm>
          <a:prstGeom prst="roundRect">
            <a:avLst>
              <a:gd name="adj" fmla="val 16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5" name="Shape 21"/>
          <p:cNvSpPr/>
          <p:nvPr/>
        </p:nvSpPr>
        <p:spPr>
          <a:xfrm>
            <a:off x="3904488" y="3424428"/>
            <a:ext cx="420624" cy="420624"/>
          </a:xfrm>
          <a:prstGeom prst="ellipse">
            <a:avLst/>
          </a:prstGeom>
          <a:solidFill>
            <a:srgbClr val="1B6B63"/>
          </a:solidFill>
          <a:ln w="12700">
            <a:solidFill>
              <a:srgbClr val="1B6B63"/>
            </a:solidFill>
            <a:prstDash val="solid"/>
          </a:ln>
        </p:spPr>
      </p:sp>
      <p:pic>
        <p:nvPicPr>
          <p:cNvPr id="26" name="Image 2" descr="preencoded.png">    </p:cNvPr>
          <p:cNvPicPr>
            <a:picLocks noChangeAspect="1"/>
          </p:cNvPicPr>
          <p:nvPr/>
        </p:nvPicPr>
        <p:blipFill>
          <a:blip r:embed="rId3"/>
          <a:stretch>
            <a:fillRect/>
          </a:stretch>
        </p:blipFill>
        <p:spPr>
          <a:xfrm>
            <a:off x="4009644" y="3529584"/>
            <a:ext cx="210312" cy="210312"/>
          </a:xfrm>
          <a:prstGeom prst="rect">
            <a:avLst/>
          </a:prstGeom>
        </p:spPr>
      </p:pic>
      <p:sp>
        <p:nvSpPr>
          <p:cNvPr id="27" name="Text 22"/>
          <p:cNvSpPr txBox="1"/>
          <p:nvPr/>
        </p:nvSpPr>
        <p:spPr>
          <a:xfrm>
            <a:off x="4434840" y="3346704"/>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Counseling that reaches the patient</a:t>
            </a:r>
            <a:endParaRPr lang="en-US" sz="1200" dirty="0"/>
          </a:p>
        </p:txBody>
      </p:sp>
      <p:sp>
        <p:nvSpPr>
          <p:cNvPr id="28" name="Text 23"/>
          <p:cNvSpPr txBox="1"/>
          <p:nvPr/>
        </p:nvSpPr>
        <p:spPr>
          <a:xfrm>
            <a:off x="4434840" y="3584448"/>
            <a:ext cx="4160520" cy="374904"/>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Her note is shown with the order and in the patient's notification</a:t>
            </a:r>
            <a:endParaRPr lang="en-US" sz="950" dirty="0"/>
          </a:p>
        </p:txBody>
      </p:sp>
      <p:sp>
        <p:nvSpPr>
          <p:cNvPr id="29" name="Shape 24"/>
          <p:cNvSpPr/>
          <p:nvPr/>
        </p:nvSpPr>
        <p:spPr>
          <a:xfrm>
            <a:off x="3794760" y="4069080"/>
            <a:ext cx="4892040" cy="685800"/>
          </a:xfrm>
          <a:prstGeom prst="roundRect">
            <a:avLst>
              <a:gd name="adj" fmla="val 16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0" name="Shape 25"/>
          <p:cNvSpPr/>
          <p:nvPr/>
        </p:nvSpPr>
        <p:spPr>
          <a:xfrm>
            <a:off x="3904488" y="4201668"/>
            <a:ext cx="420624" cy="420624"/>
          </a:xfrm>
          <a:prstGeom prst="ellipse">
            <a:avLst/>
          </a:prstGeom>
          <a:solidFill>
            <a:srgbClr val="1B6B63"/>
          </a:solidFill>
          <a:ln w="12700">
            <a:solidFill>
              <a:srgbClr val="1B6B63"/>
            </a:solidFill>
            <a:prstDash val="solid"/>
          </a:ln>
        </p:spPr>
      </p:sp>
      <p:pic>
        <p:nvPicPr>
          <p:cNvPr id="31" name="Image 3" descr="preencoded.png">    </p:cNvPr>
          <p:cNvPicPr>
            <a:picLocks noChangeAspect="1"/>
          </p:cNvPicPr>
          <p:nvPr/>
        </p:nvPicPr>
        <p:blipFill>
          <a:blip r:embed="rId4"/>
          <a:stretch>
            <a:fillRect/>
          </a:stretch>
        </p:blipFill>
        <p:spPr>
          <a:xfrm>
            <a:off x="4009644" y="4306824"/>
            <a:ext cx="210312" cy="210312"/>
          </a:xfrm>
          <a:prstGeom prst="rect">
            <a:avLst/>
          </a:prstGeom>
        </p:spPr>
      </p:pic>
      <p:sp>
        <p:nvSpPr>
          <p:cNvPr id="32" name="Text 26"/>
          <p:cNvSpPr txBox="1"/>
          <p:nvPr/>
        </p:nvSpPr>
        <p:spPr>
          <a:xfrm>
            <a:off x="4434840" y="4123944"/>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Traceable delivery</a:t>
            </a:r>
            <a:endParaRPr lang="en-US" sz="1200" dirty="0"/>
          </a:p>
        </p:txBody>
      </p:sp>
      <p:sp>
        <p:nvSpPr>
          <p:cNvPr id="33" name="Text 27"/>
          <p:cNvSpPr txBox="1"/>
          <p:nvPr/>
        </p:nvSpPr>
        <p:spPr>
          <a:xfrm>
            <a:off x="4434840" y="4361688"/>
            <a:ext cx="4160520" cy="374904"/>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Pack, dispatch with courier and ETA, proof of delivery; controlled items never delivered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Lena's journey</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A flagged order, handled safely in a few clicks</a:t>
            </a:r>
            <a:endParaRPr lang="en-US" sz="1300" dirty="0"/>
          </a:p>
        </p:txBody>
      </p:sp>
      <p:sp>
        <p:nvSpPr>
          <p:cNvPr id="4" name="Shape 2"/>
          <p:cNvSpPr/>
          <p:nvPr/>
        </p:nvSpPr>
        <p:spPr>
          <a:xfrm>
            <a:off x="457200" y="1325880"/>
            <a:ext cx="1484986" cy="2514600"/>
          </a:xfrm>
          <a:prstGeom prst="roundRect">
            <a:avLst>
              <a:gd name="adj" fmla="val 7389"/>
            </a:avLst>
          </a:prstGeom>
          <a:solidFill>
            <a:srgbClr val="FEF2F2"/>
          </a:solidFill>
          <a:ln w="9525">
            <a:solidFill>
              <a:srgbClr val="FEF2F2"/>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566928" y="1453896"/>
            <a:ext cx="420624" cy="420624"/>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672084" y="1559052"/>
            <a:ext cx="210312" cy="210312"/>
          </a:xfrm>
          <a:prstGeom prst="rect">
            <a:avLst/>
          </a:prstGeom>
        </p:spPr>
      </p:pic>
      <p:sp>
        <p:nvSpPr>
          <p:cNvPr id="7" name="Text 4"/>
          <p:cNvSpPr txBox="1"/>
          <p:nvPr/>
        </p:nvSpPr>
        <p:spPr>
          <a:xfrm>
            <a:off x="1613002"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566928" y="1965960"/>
            <a:ext cx="1302106" cy="475488"/>
          </a:xfrm>
          <a:prstGeom prst="rect">
            <a:avLst/>
          </a:prstGeom>
          <a:noFill/>
          <a:ln/>
        </p:spPr>
        <p:txBody>
          <a:bodyPr wrap="square" lIns="0" tIns="0" rIns="0" bIns="0" rtlCol="0" anchor="t"/>
          <a:lstStyle/>
          <a:p>
            <a:pPr indent="0" marL="0">
              <a:buNone/>
            </a:pPr>
            <a:r>
              <a:rPr lang="en-US" sz="1150" b="1" dirty="0">
                <a:solidFill>
                  <a:srgbClr val="DC2626"/>
                </a:solidFill>
                <a:latin typeface="Calibri" pitchFamily="34" charset="0"/>
                <a:ea typeface="Calibri" pitchFamily="34" charset="-122"/>
                <a:cs typeface="Calibri" pitchFamily="34" charset="-120"/>
              </a:rPr>
              <a:t>Order flagged</a:t>
            </a:r>
            <a:endParaRPr lang="en-US" sz="1150" dirty="0"/>
          </a:p>
        </p:txBody>
      </p:sp>
      <p:sp>
        <p:nvSpPr>
          <p:cNvPr id="9" name="Shape 6"/>
          <p:cNvSpPr/>
          <p:nvPr/>
        </p:nvSpPr>
        <p:spPr>
          <a:xfrm>
            <a:off x="566928" y="2468880"/>
            <a:ext cx="1097280" cy="237744"/>
          </a:xfrm>
          <a:prstGeom prst="roundRect">
            <a:avLst>
              <a:gd name="adj" fmla="val 50000"/>
            </a:avLst>
          </a:prstGeom>
          <a:solidFill>
            <a:srgbClr val="E6F4F1"/>
          </a:solidFill>
          <a:ln w="12700">
            <a:solidFill>
              <a:srgbClr val="E6F4F1"/>
            </a:solidFill>
            <a:prstDash val="solid"/>
          </a:ln>
        </p:spPr>
      </p:sp>
      <p:sp>
        <p:nvSpPr>
          <p:cNvPr id="10" name="Text 7"/>
          <p:cNvSpPr txBox="1"/>
          <p:nvPr/>
        </p:nvSpPr>
        <p:spPr>
          <a:xfrm>
            <a:off x="566928" y="2468880"/>
            <a:ext cx="1097280"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Pharmacy orders</a:t>
            </a:r>
            <a:endParaRPr lang="en-US" sz="850" dirty="0"/>
          </a:p>
        </p:txBody>
      </p:sp>
      <p:sp>
        <p:nvSpPr>
          <p:cNvPr id="11" name="Text 8"/>
          <p:cNvSpPr txBox="1"/>
          <p:nvPr/>
        </p:nvSpPr>
        <p:spPr>
          <a:xfrm>
            <a:off x="566928" y="2788920"/>
            <a:ext cx="1302106"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Decongestant for a patient on amlodipine: blood-pressure warning</a:t>
            </a:r>
            <a:endParaRPr lang="en-US" sz="950" dirty="0"/>
          </a:p>
        </p:txBody>
      </p:sp>
      <p:sp>
        <p:nvSpPr>
          <p:cNvPr id="12" name="Shape 9"/>
          <p:cNvSpPr/>
          <p:nvPr/>
        </p:nvSpPr>
        <p:spPr>
          <a:xfrm>
            <a:off x="1960474" y="2464308"/>
            <a:ext cx="164592" cy="237744"/>
          </a:xfrm>
          <a:prstGeom prst="rightArrow">
            <a:avLst/>
          </a:prstGeom>
          <a:solidFill>
            <a:srgbClr val="2A9D8F"/>
          </a:solidFill>
          <a:ln w="12700">
            <a:solidFill>
              <a:srgbClr val="2A9D8F"/>
            </a:solidFill>
            <a:prstDash val="solid"/>
          </a:ln>
        </p:spPr>
      </p:sp>
      <p:sp>
        <p:nvSpPr>
          <p:cNvPr id="13" name="Shape 10"/>
          <p:cNvSpPr/>
          <p:nvPr/>
        </p:nvSpPr>
        <p:spPr>
          <a:xfrm>
            <a:off x="2143354" y="1325880"/>
            <a:ext cx="1484986" cy="2514600"/>
          </a:xfrm>
          <a:prstGeom prst="roundRect">
            <a:avLst>
              <a:gd name="adj" fmla="val 7389"/>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4" name="Shape 11"/>
          <p:cNvSpPr/>
          <p:nvPr/>
        </p:nvSpPr>
        <p:spPr>
          <a:xfrm>
            <a:off x="2253082" y="1453896"/>
            <a:ext cx="420624" cy="420624"/>
          </a:xfrm>
          <a:prstGeom prst="ellipse">
            <a:avLst/>
          </a:prstGeom>
          <a:solidFill>
            <a:srgbClr val="1B6B63"/>
          </a:solidFill>
          <a:ln w="12700">
            <a:solidFill>
              <a:srgbClr val="1B6B63"/>
            </a:solidFill>
            <a:prstDash val="solid"/>
          </a:ln>
        </p:spPr>
      </p:sp>
      <p:pic>
        <p:nvPicPr>
          <p:cNvPr id="15" name="Image 1" descr="preencoded.png">    </p:cNvPr>
          <p:cNvPicPr>
            <a:picLocks noChangeAspect="1"/>
          </p:cNvPicPr>
          <p:nvPr/>
        </p:nvPicPr>
        <p:blipFill>
          <a:blip r:embed="rId2"/>
          <a:stretch>
            <a:fillRect/>
          </a:stretch>
        </p:blipFill>
        <p:spPr>
          <a:xfrm>
            <a:off x="2358238" y="1559052"/>
            <a:ext cx="210312" cy="210312"/>
          </a:xfrm>
          <a:prstGeom prst="rect">
            <a:avLst/>
          </a:prstGeom>
        </p:spPr>
      </p:pic>
      <p:sp>
        <p:nvSpPr>
          <p:cNvPr id="16" name="Text 12"/>
          <p:cNvSpPr txBox="1"/>
          <p:nvPr/>
        </p:nvSpPr>
        <p:spPr>
          <a:xfrm>
            <a:off x="3299155"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2</a:t>
            </a:r>
            <a:endParaRPr lang="en-US" sz="1200" dirty="0"/>
          </a:p>
        </p:txBody>
      </p:sp>
      <p:sp>
        <p:nvSpPr>
          <p:cNvPr id="17" name="Text 13"/>
          <p:cNvSpPr txBox="1"/>
          <p:nvPr/>
        </p:nvSpPr>
        <p:spPr>
          <a:xfrm>
            <a:off x="2253082" y="1965960"/>
            <a:ext cx="1302106"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Reviews</a:t>
            </a:r>
            <a:endParaRPr lang="en-US" sz="1150" dirty="0"/>
          </a:p>
        </p:txBody>
      </p:sp>
      <p:sp>
        <p:nvSpPr>
          <p:cNvPr id="18" name="Shape 14"/>
          <p:cNvSpPr/>
          <p:nvPr/>
        </p:nvSpPr>
        <p:spPr>
          <a:xfrm>
            <a:off x="2253082" y="2468880"/>
            <a:ext cx="921715" cy="237744"/>
          </a:xfrm>
          <a:prstGeom prst="roundRect">
            <a:avLst>
              <a:gd name="adj" fmla="val 50000"/>
            </a:avLst>
          </a:prstGeom>
          <a:solidFill>
            <a:srgbClr val="E6F4F1"/>
          </a:solidFill>
          <a:ln w="12700">
            <a:solidFill>
              <a:srgbClr val="E6F4F1"/>
            </a:solidFill>
            <a:prstDash val="solid"/>
          </a:ln>
        </p:spPr>
      </p:sp>
      <p:sp>
        <p:nvSpPr>
          <p:cNvPr id="19" name="Text 15"/>
          <p:cNvSpPr txBox="1"/>
          <p:nvPr/>
        </p:nvSpPr>
        <p:spPr>
          <a:xfrm>
            <a:off x="2253082" y="2468880"/>
            <a:ext cx="921715"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Verification</a:t>
            </a:r>
            <a:endParaRPr lang="en-US" sz="850" dirty="0"/>
          </a:p>
        </p:txBody>
      </p:sp>
      <p:sp>
        <p:nvSpPr>
          <p:cNvPr id="20" name="Text 16"/>
          <p:cNvSpPr txBox="1"/>
          <p:nvPr/>
        </p:nvSpPr>
        <p:spPr>
          <a:xfrm>
            <a:off x="2253082" y="2788920"/>
            <a:ext cx="1302106"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Medicines, allergies and check results side by side</a:t>
            </a:r>
            <a:endParaRPr lang="en-US" sz="950" dirty="0"/>
          </a:p>
        </p:txBody>
      </p:sp>
      <p:sp>
        <p:nvSpPr>
          <p:cNvPr id="21" name="Shape 17"/>
          <p:cNvSpPr/>
          <p:nvPr/>
        </p:nvSpPr>
        <p:spPr>
          <a:xfrm>
            <a:off x="3646627" y="2464308"/>
            <a:ext cx="164592" cy="237744"/>
          </a:xfrm>
          <a:prstGeom prst="rightArrow">
            <a:avLst/>
          </a:prstGeom>
          <a:solidFill>
            <a:srgbClr val="2A9D8F"/>
          </a:solidFill>
          <a:ln w="12700">
            <a:solidFill>
              <a:srgbClr val="2A9D8F"/>
            </a:solidFill>
            <a:prstDash val="solid"/>
          </a:ln>
        </p:spPr>
      </p:sp>
      <p:sp>
        <p:nvSpPr>
          <p:cNvPr id="22" name="Shape 18"/>
          <p:cNvSpPr/>
          <p:nvPr/>
        </p:nvSpPr>
        <p:spPr>
          <a:xfrm>
            <a:off x="3829507" y="1325880"/>
            <a:ext cx="1484986" cy="2514600"/>
          </a:xfrm>
          <a:prstGeom prst="roundRect">
            <a:avLst>
              <a:gd name="adj" fmla="val 7389"/>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3" name="Shape 19"/>
          <p:cNvSpPr/>
          <p:nvPr/>
        </p:nvSpPr>
        <p:spPr>
          <a:xfrm>
            <a:off x="3939235" y="1453896"/>
            <a:ext cx="420624" cy="420624"/>
          </a:xfrm>
          <a:prstGeom prst="ellipse">
            <a:avLst/>
          </a:prstGeom>
          <a:solidFill>
            <a:srgbClr val="1B6B63"/>
          </a:solidFill>
          <a:ln w="12700">
            <a:solidFill>
              <a:srgbClr val="1B6B63"/>
            </a:solidFill>
            <a:prstDash val="solid"/>
          </a:ln>
        </p:spPr>
      </p:sp>
      <p:pic>
        <p:nvPicPr>
          <p:cNvPr id="24" name="Image 2" descr="preencoded.png">    </p:cNvPr>
          <p:cNvPicPr>
            <a:picLocks noChangeAspect="1"/>
          </p:cNvPicPr>
          <p:nvPr/>
        </p:nvPicPr>
        <p:blipFill>
          <a:blip r:embed="rId3"/>
          <a:stretch>
            <a:fillRect/>
          </a:stretch>
        </p:blipFill>
        <p:spPr>
          <a:xfrm>
            <a:off x="4044391" y="1559052"/>
            <a:ext cx="210312" cy="210312"/>
          </a:xfrm>
          <a:prstGeom prst="rect">
            <a:avLst/>
          </a:prstGeom>
        </p:spPr>
      </p:pic>
      <p:sp>
        <p:nvSpPr>
          <p:cNvPr id="25" name="Text 20"/>
          <p:cNvSpPr txBox="1"/>
          <p:nvPr/>
        </p:nvSpPr>
        <p:spPr>
          <a:xfrm>
            <a:off x="4985309"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3</a:t>
            </a:r>
            <a:endParaRPr lang="en-US" sz="1200" dirty="0"/>
          </a:p>
        </p:txBody>
      </p:sp>
      <p:sp>
        <p:nvSpPr>
          <p:cNvPr id="26" name="Text 21"/>
          <p:cNvSpPr txBox="1"/>
          <p:nvPr/>
        </p:nvSpPr>
        <p:spPr>
          <a:xfrm>
            <a:off x="3939235" y="1965960"/>
            <a:ext cx="1302106"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Decides</a:t>
            </a:r>
            <a:endParaRPr lang="en-US" sz="1150" dirty="0"/>
          </a:p>
        </p:txBody>
      </p:sp>
      <p:sp>
        <p:nvSpPr>
          <p:cNvPr id="27" name="Shape 22"/>
          <p:cNvSpPr/>
          <p:nvPr/>
        </p:nvSpPr>
        <p:spPr>
          <a:xfrm>
            <a:off x="3939235" y="2468880"/>
            <a:ext cx="1155802" cy="237744"/>
          </a:xfrm>
          <a:prstGeom prst="roundRect">
            <a:avLst>
              <a:gd name="adj" fmla="val 50000"/>
            </a:avLst>
          </a:prstGeom>
          <a:solidFill>
            <a:srgbClr val="E6F4F1"/>
          </a:solidFill>
          <a:ln w="12700">
            <a:solidFill>
              <a:srgbClr val="E6F4F1"/>
            </a:solidFill>
            <a:prstDash val="solid"/>
          </a:ln>
        </p:spPr>
      </p:sp>
      <p:sp>
        <p:nvSpPr>
          <p:cNvPr id="28" name="Text 23"/>
          <p:cNvSpPr txBox="1"/>
          <p:nvPr/>
        </p:nvSpPr>
        <p:spPr>
          <a:xfrm>
            <a:off x="3939235" y="2468880"/>
            <a:ext cx="1155802"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Approve / reject</a:t>
            </a:r>
            <a:endParaRPr lang="en-US" sz="850" dirty="0"/>
          </a:p>
        </p:txBody>
      </p:sp>
      <p:sp>
        <p:nvSpPr>
          <p:cNvPr id="29" name="Text 24"/>
          <p:cNvSpPr txBox="1"/>
          <p:nvPr/>
        </p:nvSpPr>
        <p:spPr>
          <a:xfrm>
            <a:off x="3939235" y="2788920"/>
            <a:ext cx="1302106"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Rejects with a safer alternative, or approves with counseling</a:t>
            </a:r>
            <a:endParaRPr lang="en-US" sz="950" dirty="0"/>
          </a:p>
        </p:txBody>
      </p:sp>
      <p:sp>
        <p:nvSpPr>
          <p:cNvPr id="30" name="Shape 25"/>
          <p:cNvSpPr/>
          <p:nvPr/>
        </p:nvSpPr>
        <p:spPr>
          <a:xfrm>
            <a:off x="5332781" y="2464308"/>
            <a:ext cx="164592" cy="237744"/>
          </a:xfrm>
          <a:prstGeom prst="rightArrow">
            <a:avLst/>
          </a:prstGeom>
          <a:solidFill>
            <a:srgbClr val="2A9D8F"/>
          </a:solidFill>
          <a:ln w="12700">
            <a:solidFill>
              <a:srgbClr val="2A9D8F"/>
            </a:solidFill>
            <a:prstDash val="solid"/>
          </a:ln>
        </p:spPr>
      </p:sp>
      <p:sp>
        <p:nvSpPr>
          <p:cNvPr id="31" name="Shape 26"/>
          <p:cNvSpPr/>
          <p:nvPr/>
        </p:nvSpPr>
        <p:spPr>
          <a:xfrm>
            <a:off x="5515661" y="1325880"/>
            <a:ext cx="1484986" cy="2514600"/>
          </a:xfrm>
          <a:prstGeom prst="roundRect">
            <a:avLst>
              <a:gd name="adj" fmla="val 7389"/>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2" name="Shape 27"/>
          <p:cNvSpPr/>
          <p:nvPr/>
        </p:nvSpPr>
        <p:spPr>
          <a:xfrm>
            <a:off x="5625389" y="1453896"/>
            <a:ext cx="420624" cy="420624"/>
          </a:xfrm>
          <a:prstGeom prst="ellipse">
            <a:avLst/>
          </a:prstGeom>
          <a:solidFill>
            <a:srgbClr val="1B6B63"/>
          </a:solidFill>
          <a:ln w="12700">
            <a:solidFill>
              <a:srgbClr val="1B6B63"/>
            </a:solidFill>
            <a:prstDash val="solid"/>
          </a:ln>
        </p:spPr>
      </p:sp>
      <p:pic>
        <p:nvPicPr>
          <p:cNvPr id="33" name="Image 3" descr="preencoded.png">    </p:cNvPr>
          <p:cNvPicPr>
            <a:picLocks noChangeAspect="1"/>
          </p:cNvPicPr>
          <p:nvPr/>
        </p:nvPicPr>
        <p:blipFill>
          <a:blip r:embed="rId4"/>
          <a:stretch>
            <a:fillRect/>
          </a:stretch>
        </p:blipFill>
        <p:spPr>
          <a:xfrm>
            <a:off x="5730545" y="1559052"/>
            <a:ext cx="210312" cy="210312"/>
          </a:xfrm>
          <a:prstGeom prst="rect">
            <a:avLst/>
          </a:prstGeom>
        </p:spPr>
      </p:pic>
      <p:sp>
        <p:nvSpPr>
          <p:cNvPr id="34" name="Text 28"/>
          <p:cNvSpPr txBox="1"/>
          <p:nvPr/>
        </p:nvSpPr>
        <p:spPr>
          <a:xfrm>
            <a:off x="6671462"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4</a:t>
            </a:r>
            <a:endParaRPr lang="en-US" sz="1200" dirty="0"/>
          </a:p>
        </p:txBody>
      </p:sp>
      <p:sp>
        <p:nvSpPr>
          <p:cNvPr id="35" name="Text 29"/>
          <p:cNvSpPr txBox="1"/>
          <p:nvPr/>
        </p:nvSpPr>
        <p:spPr>
          <a:xfrm>
            <a:off x="5625389" y="1965960"/>
            <a:ext cx="1302106"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Packs &amp; dispatches</a:t>
            </a:r>
            <a:endParaRPr lang="en-US" sz="1150" dirty="0"/>
          </a:p>
        </p:txBody>
      </p:sp>
      <p:sp>
        <p:nvSpPr>
          <p:cNvPr id="36" name="Shape 30"/>
          <p:cNvSpPr/>
          <p:nvPr/>
        </p:nvSpPr>
        <p:spPr>
          <a:xfrm>
            <a:off x="5625389" y="2468880"/>
            <a:ext cx="804672" cy="237744"/>
          </a:xfrm>
          <a:prstGeom prst="roundRect">
            <a:avLst>
              <a:gd name="adj" fmla="val 50000"/>
            </a:avLst>
          </a:prstGeom>
          <a:solidFill>
            <a:srgbClr val="E6F4F1"/>
          </a:solidFill>
          <a:ln w="12700">
            <a:solidFill>
              <a:srgbClr val="E6F4F1"/>
            </a:solidFill>
            <a:prstDash val="solid"/>
          </a:ln>
        </p:spPr>
      </p:sp>
      <p:sp>
        <p:nvSpPr>
          <p:cNvPr id="37" name="Text 31"/>
          <p:cNvSpPr txBox="1"/>
          <p:nvPr/>
        </p:nvSpPr>
        <p:spPr>
          <a:xfrm>
            <a:off x="5625389" y="2468880"/>
            <a:ext cx="804672"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Fulfilment</a:t>
            </a:r>
            <a:endParaRPr lang="en-US" sz="850" dirty="0"/>
          </a:p>
        </p:txBody>
      </p:sp>
      <p:sp>
        <p:nvSpPr>
          <p:cNvPr id="38" name="Text 32"/>
          <p:cNvSpPr txBox="1"/>
          <p:nvPr/>
        </p:nvSpPr>
        <p:spPr>
          <a:xfrm>
            <a:off x="5625389" y="2788920"/>
            <a:ext cx="1302106"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Courier and ETA recorded; patient notified</a:t>
            </a:r>
            <a:endParaRPr lang="en-US" sz="950" dirty="0"/>
          </a:p>
        </p:txBody>
      </p:sp>
      <p:sp>
        <p:nvSpPr>
          <p:cNvPr id="39" name="Shape 33"/>
          <p:cNvSpPr/>
          <p:nvPr/>
        </p:nvSpPr>
        <p:spPr>
          <a:xfrm>
            <a:off x="7018934" y="2464308"/>
            <a:ext cx="164592" cy="237744"/>
          </a:xfrm>
          <a:prstGeom prst="rightArrow">
            <a:avLst/>
          </a:prstGeom>
          <a:solidFill>
            <a:srgbClr val="2A9D8F"/>
          </a:solidFill>
          <a:ln w="12700">
            <a:solidFill>
              <a:srgbClr val="2A9D8F"/>
            </a:solidFill>
            <a:prstDash val="solid"/>
          </a:ln>
        </p:spPr>
      </p:sp>
      <p:sp>
        <p:nvSpPr>
          <p:cNvPr id="40" name="Shape 34"/>
          <p:cNvSpPr/>
          <p:nvPr/>
        </p:nvSpPr>
        <p:spPr>
          <a:xfrm>
            <a:off x="7201814" y="1325880"/>
            <a:ext cx="1484986" cy="2514600"/>
          </a:xfrm>
          <a:prstGeom prst="roundRect">
            <a:avLst>
              <a:gd name="adj" fmla="val 7389"/>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41" name="Shape 35"/>
          <p:cNvSpPr/>
          <p:nvPr/>
        </p:nvSpPr>
        <p:spPr>
          <a:xfrm>
            <a:off x="7311542" y="1453896"/>
            <a:ext cx="420624" cy="420624"/>
          </a:xfrm>
          <a:prstGeom prst="ellipse">
            <a:avLst/>
          </a:prstGeom>
          <a:solidFill>
            <a:srgbClr val="1B6B63"/>
          </a:solidFill>
          <a:ln w="12700">
            <a:solidFill>
              <a:srgbClr val="1B6B63"/>
            </a:solidFill>
            <a:prstDash val="solid"/>
          </a:ln>
        </p:spPr>
      </p:sp>
      <p:pic>
        <p:nvPicPr>
          <p:cNvPr id="42" name="Image 4" descr="preencoded.png">    </p:cNvPr>
          <p:cNvPicPr>
            <a:picLocks noChangeAspect="1"/>
          </p:cNvPicPr>
          <p:nvPr/>
        </p:nvPicPr>
        <p:blipFill>
          <a:blip r:embed="rId5"/>
          <a:stretch>
            <a:fillRect/>
          </a:stretch>
        </p:blipFill>
        <p:spPr>
          <a:xfrm>
            <a:off x="7416698" y="1559052"/>
            <a:ext cx="210312" cy="210312"/>
          </a:xfrm>
          <a:prstGeom prst="rect">
            <a:avLst/>
          </a:prstGeom>
        </p:spPr>
      </p:pic>
      <p:sp>
        <p:nvSpPr>
          <p:cNvPr id="43" name="Text 36"/>
          <p:cNvSpPr txBox="1"/>
          <p:nvPr/>
        </p:nvSpPr>
        <p:spPr>
          <a:xfrm>
            <a:off x="8357616"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5</a:t>
            </a:r>
            <a:endParaRPr lang="en-US" sz="1200" dirty="0"/>
          </a:p>
        </p:txBody>
      </p:sp>
      <p:sp>
        <p:nvSpPr>
          <p:cNvPr id="44" name="Text 37"/>
          <p:cNvSpPr txBox="1"/>
          <p:nvPr/>
        </p:nvSpPr>
        <p:spPr>
          <a:xfrm>
            <a:off x="7311542" y="1965960"/>
            <a:ext cx="1302106"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Delivered</a:t>
            </a:r>
            <a:endParaRPr lang="en-US" sz="1150" dirty="0"/>
          </a:p>
        </p:txBody>
      </p:sp>
      <p:sp>
        <p:nvSpPr>
          <p:cNvPr id="45" name="Shape 38"/>
          <p:cNvSpPr/>
          <p:nvPr/>
        </p:nvSpPr>
        <p:spPr>
          <a:xfrm>
            <a:off x="7311542" y="2468880"/>
            <a:ext cx="1214323" cy="237744"/>
          </a:xfrm>
          <a:prstGeom prst="roundRect">
            <a:avLst>
              <a:gd name="adj" fmla="val 50000"/>
            </a:avLst>
          </a:prstGeom>
          <a:solidFill>
            <a:srgbClr val="E6F4F1"/>
          </a:solidFill>
          <a:ln w="12700">
            <a:solidFill>
              <a:srgbClr val="E6F4F1"/>
            </a:solidFill>
            <a:prstDash val="solid"/>
          </a:ln>
        </p:spPr>
      </p:sp>
      <p:sp>
        <p:nvSpPr>
          <p:cNvPr id="46" name="Text 39"/>
          <p:cNvSpPr txBox="1"/>
          <p:nvPr/>
        </p:nvSpPr>
        <p:spPr>
          <a:xfrm>
            <a:off x="7311542" y="2468880"/>
            <a:ext cx="1214323"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Proof of delivery</a:t>
            </a:r>
            <a:endParaRPr lang="en-US" sz="850" dirty="0"/>
          </a:p>
        </p:txBody>
      </p:sp>
      <p:sp>
        <p:nvSpPr>
          <p:cNvPr id="47" name="Text 40"/>
          <p:cNvSpPr txBox="1"/>
          <p:nvPr/>
        </p:nvSpPr>
        <p:spPr>
          <a:xfrm>
            <a:off x="7311542" y="2788920"/>
            <a:ext cx="1302106"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Recipient recorded; dose reminders start for the patient</a:t>
            </a:r>
            <a:endParaRPr lang="en-US" sz="950" dirty="0"/>
          </a:p>
        </p:txBody>
      </p:sp>
      <p:sp>
        <p:nvSpPr>
          <p:cNvPr id="48" name="Shape 41"/>
          <p:cNvSpPr/>
          <p:nvPr/>
        </p:nvSpPr>
        <p:spPr>
          <a:xfrm>
            <a:off x="457200" y="4023360"/>
            <a:ext cx="8229600" cy="685800"/>
          </a:xfrm>
          <a:prstGeom prst="roundRect">
            <a:avLst>
              <a:gd name="adj" fmla="val 16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49" name="Shape 42"/>
          <p:cNvSpPr/>
          <p:nvPr/>
        </p:nvSpPr>
        <p:spPr>
          <a:xfrm>
            <a:off x="594360" y="4133088"/>
            <a:ext cx="457200" cy="457200"/>
          </a:xfrm>
          <a:prstGeom prst="ellipse">
            <a:avLst/>
          </a:prstGeom>
          <a:solidFill>
            <a:srgbClr val="15803D"/>
          </a:solidFill>
          <a:ln w="12700">
            <a:solidFill>
              <a:srgbClr val="15803D"/>
            </a:solidFill>
            <a:prstDash val="solid"/>
          </a:ln>
        </p:spPr>
      </p:sp>
      <p:pic>
        <p:nvPicPr>
          <p:cNvPr id="50" name="Image 5" descr="preencoded.png">    </p:cNvPr>
          <p:cNvPicPr>
            <a:picLocks noChangeAspect="1"/>
          </p:cNvPicPr>
          <p:nvPr/>
        </p:nvPicPr>
        <p:blipFill>
          <a:blip r:embed="rId6"/>
          <a:stretch>
            <a:fillRect/>
          </a:stretch>
        </p:blipFill>
        <p:spPr>
          <a:xfrm>
            <a:off x="708660" y="4247388"/>
            <a:ext cx="228600" cy="228600"/>
          </a:xfrm>
          <a:prstGeom prst="rect">
            <a:avLst/>
          </a:prstGeom>
        </p:spPr>
      </p:pic>
      <p:sp>
        <p:nvSpPr>
          <p:cNvPr id="51" name="Text 43"/>
          <p:cNvSpPr txBox="1"/>
          <p:nvPr/>
        </p:nvSpPr>
        <p:spPr>
          <a:xfrm>
            <a:off x="1188720" y="4050792"/>
            <a:ext cx="7360920" cy="630936"/>
          </a:xfrm>
          <a:prstGeom prst="rect">
            <a:avLst/>
          </a:prstGeom>
          <a:noFill/>
          <a:ln/>
        </p:spPr>
        <p:txBody>
          <a:bodyPr wrap="square" lIns="0" tIns="0" rIns="0" bIns="0" rtlCol="0" anchor="ctr"/>
          <a:lstStyle/>
          <a:p>
            <a:pPr indent="0" marL="0">
              <a:buNone/>
            </a:pPr>
            <a:r>
              <a:rPr lang="en-US" sz="1250" b="1" dirty="0">
                <a:solidFill>
                  <a:srgbClr val="15803D"/>
                </a:solidFill>
                <a:latin typeface="Calibri" pitchFamily="34" charset="0"/>
                <a:ea typeface="Calibri" pitchFamily="34" charset="-122"/>
                <a:cs typeface="Calibri" pitchFamily="34" charset="-120"/>
              </a:rPr>
              <a:t>Outcome  </a:t>
            </a:r>
            <a:pPr indent="0" marL="0">
              <a:buNone/>
            </a:pPr>
            <a:r>
              <a:rPr lang="en-US" sz="1250" dirty="0">
                <a:solidFill>
                  <a:srgbClr val="134E4A"/>
                </a:solidFill>
                <a:latin typeface="Calibri" pitchFamily="34" charset="0"/>
                <a:ea typeface="Calibri" pitchFamily="34" charset="-122"/>
                <a:cs typeface="Calibri" pitchFamily="34" charset="-120"/>
              </a:rPr>
              <a:t>Unsafe combinations stopped before packing, patients counseled in writing, and every delivery traceable.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Front desk: calm, verified check-ins</a:t>
            </a:r>
            <a:endParaRPr lang="en-US" sz="2800" dirty="0"/>
          </a:p>
        </p:txBody>
      </p:sp>
      <p:sp>
        <p:nvSpPr>
          <p:cNvPr id="3" name="Shape 1"/>
          <p:cNvSpPr/>
          <p:nvPr/>
        </p:nvSpPr>
        <p:spPr>
          <a:xfrm>
            <a:off x="457200" y="960120"/>
            <a:ext cx="8229600" cy="731520"/>
          </a:xfrm>
          <a:prstGeom prst="roundRect">
            <a:avLst>
              <a:gd name="adj" fmla="val 15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4" name="Shape 2"/>
          <p:cNvSpPr/>
          <p:nvPr/>
        </p:nvSpPr>
        <p:spPr>
          <a:xfrm>
            <a:off x="594360" y="1024128"/>
            <a:ext cx="603504" cy="603504"/>
          </a:xfrm>
          <a:prstGeom prst="ellipse">
            <a:avLst/>
          </a:prstGeom>
          <a:solidFill>
            <a:srgbClr val="B45309"/>
          </a:solidFill>
          <a:ln w="25400">
            <a:solidFill>
              <a:srgbClr val="FFFFFF"/>
            </a:solidFill>
            <a:prstDash val="solid"/>
          </a:ln>
        </p:spPr>
      </p:sp>
      <p:sp>
        <p:nvSpPr>
          <p:cNvPr id="5" name="Text 3"/>
          <p:cNvSpPr txBox="1"/>
          <p:nvPr/>
        </p:nvSpPr>
        <p:spPr>
          <a:xfrm>
            <a:off x="594360" y="1024128"/>
            <a:ext cx="603504" cy="603504"/>
          </a:xfrm>
          <a:prstGeom prst="rect">
            <a:avLst/>
          </a:prstGeom>
          <a:noFill/>
          <a:ln/>
        </p:spPr>
        <p:txBody>
          <a:bodyPr wrap="square" lIns="0" tIns="0" rIns="0" bIns="0" rtlCol="0" anchor="ctr"/>
          <a:lstStyle/>
          <a:p>
            <a:pPr algn="ctr" indent="0" marL="0">
              <a:buNone/>
            </a:pPr>
            <a:r>
              <a:rPr lang="en-US" sz="1452" b="1" dirty="0">
                <a:solidFill>
                  <a:srgbClr val="FFFFFF"/>
                </a:solidFill>
                <a:latin typeface="Calibri" pitchFamily="34" charset="0"/>
                <a:ea typeface="Calibri" pitchFamily="34" charset="-122"/>
                <a:cs typeface="Calibri" pitchFamily="34" charset="-120"/>
              </a:rPr>
              <a:t>FD</a:t>
            </a:r>
            <a:endParaRPr lang="en-US" sz="1452" dirty="0"/>
          </a:p>
        </p:txBody>
      </p:sp>
      <p:sp>
        <p:nvSpPr>
          <p:cNvPr id="6" name="Text 4"/>
          <p:cNvSpPr txBox="1"/>
          <p:nvPr/>
        </p:nvSpPr>
        <p:spPr>
          <a:xfrm>
            <a:off x="1325880" y="1005840"/>
            <a:ext cx="7223760" cy="64008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Staff, front desk team</a:t>
            </a:r>
            <a:pPr indent="0" marL="0">
              <a:buNone/>
            </a:pPr>
            <a:r>
              <a:rPr lang="en-US" sz="1150" dirty="0">
                <a:solidFill>
                  <a:srgbClr val="4B5563"/>
                </a:solidFill>
                <a:latin typeface="Calibri" pitchFamily="34" charset="0"/>
                <a:ea typeface="Calibri" pitchFamily="34" charset="-122"/>
                <a:cs typeface="Calibri" pitchFamily="34" charset="-120"/>
              </a:rPr>
              <a:t>   Goal: Patients arrive ready, coverage verified, questions answered fast</a:t>
            </a:r>
            <a:endParaRPr lang="en-US" sz="1150" dirty="0"/>
          </a:p>
        </p:txBody>
      </p:sp>
      <p:sp>
        <p:nvSpPr>
          <p:cNvPr id="7" name="Shape 5"/>
          <p:cNvSpPr/>
          <p:nvPr/>
        </p:nvSpPr>
        <p:spPr>
          <a:xfrm>
            <a:off x="457200" y="1828800"/>
            <a:ext cx="2651760" cy="1097280"/>
          </a:xfrm>
          <a:prstGeom prst="roundRect">
            <a:avLst>
              <a:gd name="adj" fmla="val 10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8" name="Shape 6"/>
          <p:cNvSpPr/>
          <p:nvPr/>
        </p:nvSpPr>
        <p:spPr>
          <a:xfrm>
            <a:off x="585216" y="1956816"/>
            <a:ext cx="420624" cy="420624"/>
          </a:xfrm>
          <a:prstGeom prst="ellipse">
            <a:avLst/>
          </a:prstGeom>
          <a:solidFill>
            <a:srgbClr val="1B6B63"/>
          </a:solidFill>
          <a:ln w="12700">
            <a:solidFill>
              <a:srgbClr val="1B6B63"/>
            </a:solidFill>
            <a:prstDash val="solid"/>
          </a:ln>
        </p:spPr>
      </p:sp>
      <p:pic>
        <p:nvPicPr>
          <p:cNvPr id="9" name="Image 0" descr="preencoded.png">    </p:cNvPr>
          <p:cNvPicPr>
            <a:picLocks noChangeAspect="1"/>
          </p:cNvPicPr>
          <p:nvPr/>
        </p:nvPicPr>
        <p:blipFill>
          <a:blip r:embed="rId1"/>
          <a:stretch>
            <a:fillRect/>
          </a:stretch>
        </p:blipFill>
        <p:spPr>
          <a:xfrm>
            <a:off x="690372" y="2061972"/>
            <a:ext cx="210312" cy="210312"/>
          </a:xfrm>
          <a:prstGeom prst="rect">
            <a:avLst/>
          </a:prstGeom>
        </p:spPr>
      </p:pic>
      <p:sp>
        <p:nvSpPr>
          <p:cNvPr id="10" name="Text 7"/>
          <p:cNvSpPr txBox="1"/>
          <p:nvPr/>
        </p:nvSpPr>
        <p:spPr>
          <a:xfrm>
            <a:off x="1115568" y="1938528"/>
            <a:ext cx="1901952" cy="45720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Invite, don't register</a:t>
            </a:r>
            <a:endParaRPr lang="en-US" sz="1150" dirty="0"/>
          </a:p>
        </p:txBody>
      </p:sp>
      <p:sp>
        <p:nvSpPr>
          <p:cNvPr id="11" name="Text 8"/>
          <p:cNvSpPr txBox="1"/>
          <p:nvPr/>
        </p:nvSpPr>
        <p:spPr>
          <a:xfrm>
            <a:off x="585216" y="2441448"/>
            <a:ext cx="2432304" cy="457200"/>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Send a join link; the patient confirms and signs themselves in</a:t>
            </a:r>
            <a:endParaRPr lang="en-US" sz="950" dirty="0"/>
          </a:p>
        </p:txBody>
      </p:sp>
      <p:sp>
        <p:nvSpPr>
          <p:cNvPr id="12" name="Shape 9"/>
          <p:cNvSpPr/>
          <p:nvPr/>
        </p:nvSpPr>
        <p:spPr>
          <a:xfrm>
            <a:off x="3246120" y="1828800"/>
            <a:ext cx="2651760" cy="1097280"/>
          </a:xfrm>
          <a:prstGeom prst="roundRect">
            <a:avLst>
              <a:gd name="adj" fmla="val 10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3" name="Shape 10"/>
          <p:cNvSpPr/>
          <p:nvPr/>
        </p:nvSpPr>
        <p:spPr>
          <a:xfrm>
            <a:off x="3374136" y="1956816"/>
            <a:ext cx="420624" cy="420624"/>
          </a:xfrm>
          <a:prstGeom prst="ellipse">
            <a:avLst/>
          </a:prstGeom>
          <a:solidFill>
            <a:srgbClr val="1B6B63"/>
          </a:solidFill>
          <a:ln w="12700">
            <a:solidFill>
              <a:srgbClr val="1B6B63"/>
            </a:solidFill>
            <a:prstDash val="solid"/>
          </a:ln>
        </p:spPr>
      </p:sp>
      <p:pic>
        <p:nvPicPr>
          <p:cNvPr id="14" name="Image 1" descr="preencoded.png">    </p:cNvPr>
          <p:cNvPicPr>
            <a:picLocks noChangeAspect="1"/>
          </p:cNvPicPr>
          <p:nvPr/>
        </p:nvPicPr>
        <p:blipFill>
          <a:blip r:embed="rId2"/>
          <a:stretch>
            <a:fillRect/>
          </a:stretch>
        </p:blipFill>
        <p:spPr>
          <a:xfrm>
            <a:off x="3479292" y="2061972"/>
            <a:ext cx="210312" cy="210312"/>
          </a:xfrm>
          <a:prstGeom prst="rect">
            <a:avLst/>
          </a:prstGeom>
        </p:spPr>
      </p:pic>
      <p:sp>
        <p:nvSpPr>
          <p:cNvPr id="15" name="Text 11"/>
          <p:cNvSpPr txBox="1"/>
          <p:nvPr/>
        </p:nvSpPr>
        <p:spPr>
          <a:xfrm>
            <a:off x="3904488" y="1938528"/>
            <a:ext cx="1901952" cy="45720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Coverage before arrival</a:t>
            </a:r>
            <a:endParaRPr lang="en-US" sz="1150" dirty="0"/>
          </a:p>
        </p:txBody>
      </p:sp>
      <p:sp>
        <p:nvSpPr>
          <p:cNvPr id="16" name="Text 12"/>
          <p:cNvSpPr txBox="1"/>
          <p:nvPr/>
        </p:nvSpPr>
        <p:spPr>
          <a:xfrm>
            <a:off x="3374136" y="2441448"/>
            <a:ext cx="2432304" cy="457200"/>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Eligibility flagged days ahead; scan the card's QR code at check-in</a:t>
            </a:r>
            <a:endParaRPr lang="en-US" sz="950" dirty="0"/>
          </a:p>
        </p:txBody>
      </p:sp>
      <p:sp>
        <p:nvSpPr>
          <p:cNvPr id="17" name="Shape 13"/>
          <p:cNvSpPr/>
          <p:nvPr/>
        </p:nvSpPr>
        <p:spPr>
          <a:xfrm>
            <a:off x="6035040" y="1828800"/>
            <a:ext cx="2651760" cy="1097280"/>
          </a:xfrm>
          <a:prstGeom prst="roundRect">
            <a:avLst>
              <a:gd name="adj" fmla="val 10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8" name="Shape 14"/>
          <p:cNvSpPr/>
          <p:nvPr/>
        </p:nvSpPr>
        <p:spPr>
          <a:xfrm>
            <a:off x="6163056" y="1956816"/>
            <a:ext cx="420624" cy="420624"/>
          </a:xfrm>
          <a:prstGeom prst="ellipse">
            <a:avLst/>
          </a:prstGeom>
          <a:solidFill>
            <a:srgbClr val="1B6B63"/>
          </a:solidFill>
          <a:ln w="12700">
            <a:solidFill>
              <a:srgbClr val="1B6B63"/>
            </a:solidFill>
            <a:prstDash val="solid"/>
          </a:ln>
        </p:spPr>
      </p:sp>
      <p:pic>
        <p:nvPicPr>
          <p:cNvPr id="19" name="Image 2" descr="preencoded.png">    </p:cNvPr>
          <p:cNvPicPr>
            <a:picLocks noChangeAspect="1"/>
          </p:cNvPicPr>
          <p:nvPr/>
        </p:nvPicPr>
        <p:blipFill>
          <a:blip r:embed="rId3"/>
          <a:stretch>
            <a:fillRect/>
          </a:stretch>
        </p:blipFill>
        <p:spPr>
          <a:xfrm>
            <a:off x="6268212" y="2061972"/>
            <a:ext cx="210312" cy="210312"/>
          </a:xfrm>
          <a:prstGeom prst="rect">
            <a:avLst/>
          </a:prstGeom>
        </p:spPr>
      </p:pic>
      <p:sp>
        <p:nvSpPr>
          <p:cNvPr id="20" name="Text 15"/>
          <p:cNvSpPr txBox="1"/>
          <p:nvPr/>
        </p:nvSpPr>
        <p:spPr>
          <a:xfrm>
            <a:off x="6693408" y="1938528"/>
            <a:ext cx="1901952" cy="45720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One record per patient</a:t>
            </a:r>
            <a:endParaRPr lang="en-US" sz="1150" dirty="0"/>
          </a:p>
        </p:txBody>
      </p:sp>
      <p:sp>
        <p:nvSpPr>
          <p:cNvPr id="21" name="Text 16"/>
          <p:cNvSpPr txBox="1"/>
          <p:nvPr/>
        </p:nvSpPr>
        <p:spPr>
          <a:xfrm>
            <a:off x="6163056" y="2441448"/>
            <a:ext cx="2432304" cy="457200"/>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Duplicates caught and merged, with the reasons shown side by side</a:t>
            </a:r>
            <a:endParaRPr lang="en-US" sz="950" dirty="0"/>
          </a:p>
        </p:txBody>
      </p:sp>
      <p:sp>
        <p:nvSpPr>
          <p:cNvPr id="22" name="Text 17"/>
          <p:cNvSpPr txBox="1"/>
          <p:nvPr/>
        </p:nvSpPr>
        <p:spPr>
          <a:xfrm>
            <a:off x="457200" y="3035808"/>
            <a:ext cx="2743200" cy="274320"/>
          </a:xfrm>
          <a:prstGeom prst="rect">
            <a:avLst/>
          </a:prstGeom>
          <a:noFill/>
          <a:ln/>
        </p:spPr>
        <p:txBody>
          <a:bodyPr wrap="square" lIns="0" tIns="0" rIns="0" bIns="0" rtlCol="0" anchor="t"/>
          <a:lstStyle/>
          <a:p>
            <a:pPr indent="0" marL="0">
              <a:buNone/>
            </a:pPr>
            <a:r>
              <a:rPr lang="en-US" sz="1200" b="1" dirty="0">
                <a:solidFill>
                  <a:srgbClr val="134E4A"/>
                </a:solidFill>
                <a:latin typeface="Calibri" pitchFamily="34" charset="0"/>
                <a:ea typeface="Calibri" pitchFamily="34" charset="-122"/>
                <a:cs typeface="Calibri" pitchFamily="34" charset="-120"/>
              </a:rPr>
              <a:t>Journey</a:t>
            </a:r>
            <a:endParaRPr lang="en-US" sz="1200" dirty="0"/>
          </a:p>
        </p:txBody>
      </p:sp>
      <p:sp>
        <p:nvSpPr>
          <p:cNvPr id="23" name="Shape 18"/>
          <p:cNvSpPr/>
          <p:nvPr/>
        </p:nvSpPr>
        <p:spPr>
          <a:xfrm>
            <a:off x="457200"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24" name="Text 19"/>
          <p:cNvSpPr txBox="1"/>
          <p:nvPr/>
        </p:nvSpPr>
        <p:spPr>
          <a:xfrm>
            <a:off x="566928"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1  Invites a patient</a:t>
            </a:r>
            <a:endParaRPr lang="en-US" sz="1050" dirty="0"/>
          </a:p>
        </p:txBody>
      </p:sp>
      <p:sp>
        <p:nvSpPr>
          <p:cNvPr id="25" name="Shape 20"/>
          <p:cNvSpPr/>
          <p:nvPr/>
        </p:nvSpPr>
        <p:spPr>
          <a:xfrm>
            <a:off x="566928" y="3867912"/>
            <a:ext cx="1155802" cy="237744"/>
          </a:xfrm>
          <a:prstGeom prst="roundRect">
            <a:avLst>
              <a:gd name="adj" fmla="val 50000"/>
            </a:avLst>
          </a:prstGeom>
          <a:solidFill>
            <a:srgbClr val="FFFFFF"/>
          </a:solidFill>
          <a:ln w="12700">
            <a:solidFill>
              <a:srgbClr val="FFFFFF"/>
            </a:solidFill>
            <a:prstDash val="solid"/>
          </a:ln>
        </p:spPr>
      </p:sp>
      <p:sp>
        <p:nvSpPr>
          <p:cNvPr id="26" name="Text 21"/>
          <p:cNvSpPr txBox="1"/>
          <p:nvPr/>
        </p:nvSpPr>
        <p:spPr>
          <a:xfrm>
            <a:off x="566928" y="3867912"/>
            <a:ext cx="1155802"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Invite a patient</a:t>
            </a:r>
            <a:endParaRPr lang="en-US" sz="850" dirty="0"/>
          </a:p>
        </p:txBody>
      </p:sp>
      <p:sp>
        <p:nvSpPr>
          <p:cNvPr id="27" name="Text 22"/>
          <p:cNvSpPr txBox="1"/>
          <p:nvPr/>
        </p:nvSpPr>
        <p:spPr>
          <a:xfrm>
            <a:off x="566928"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Link sent; she joins that evening</a:t>
            </a:r>
            <a:endParaRPr lang="en-US" sz="900" dirty="0"/>
          </a:p>
        </p:txBody>
      </p:sp>
      <p:sp>
        <p:nvSpPr>
          <p:cNvPr id="28" name="Shape 23"/>
          <p:cNvSpPr/>
          <p:nvPr/>
        </p:nvSpPr>
        <p:spPr>
          <a:xfrm>
            <a:off x="1960474" y="3904488"/>
            <a:ext cx="164592" cy="237744"/>
          </a:xfrm>
          <a:prstGeom prst="rightArrow">
            <a:avLst/>
          </a:prstGeom>
          <a:solidFill>
            <a:srgbClr val="2A9D8F"/>
          </a:solidFill>
          <a:ln w="12700">
            <a:solidFill>
              <a:srgbClr val="2A9D8F"/>
            </a:solidFill>
            <a:prstDash val="solid"/>
          </a:ln>
        </p:spPr>
      </p:sp>
      <p:sp>
        <p:nvSpPr>
          <p:cNvPr id="29" name="Shape 24"/>
          <p:cNvSpPr/>
          <p:nvPr/>
        </p:nvSpPr>
        <p:spPr>
          <a:xfrm>
            <a:off x="2143354"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30" name="Text 25"/>
          <p:cNvSpPr txBox="1"/>
          <p:nvPr/>
        </p:nvSpPr>
        <p:spPr>
          <a:xfrm>
            <a:off x="2253082"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2  Merges a duplicate</a:t>
            </a:r>
            <a:endParaRPr lang="en-US" sz="1050" dirty="0"/>
          </a:p>
        </p:txBody>
      </p:sp>
      <p:sp>
        <p:nvSpPr>
          <p:cNvPr id="31" name="Shape 26"/>
          <p:cNvSpPr/>
          <p:nvPr/>
        </p:nvSpPr>
        <p:spPr>
          <a:xfrm>
            <a:off x="2253082" y="3867912"/>
            <a:ext cx="1214323" cy="237744"/>
          </a:xfrm>
          <a:prstGeom prst="roundRect">
            <a:avLst>
              <a:gd name="adj" fmla="val 50000"/>
            </a:avLst>
          </a:prstGeom>
          <a:solidFill>
            <a:srgbClr val="FFFFFF"/>
          </a:solidFill>
          <a:ln w="12700">
            <a:solidFill>
              <a:srgbClr val="FFFFFF"/>
            </a:solidFill>
            <a:prstDash val="solid"/>
          </a:ln>
        </p:spPr>
      </p:sp>
      <p:sp>
        <p:nvSpPr>
          <p:cNvPr id="32" name="Text 27"/>
          <p:cNvSpPr txBox="1"/>
          <p:nvPr/>
        </p:nvSpPr>
        <p:spPr>
          <a:xfrm>
            <a:off x="2253082" y="3867912"/>
            <a:ext cx="1214323"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Duplicate records</a:t>
            </a:r>
            <a:endParaRPr lang="en-US" sz="850" dirty="0"/>
          </a:p>
        </p:txBody>
      </p:sp>
      <p:sp>
        <p:nvSpPr>
          <p:cNvPr id="33" name="Text 28"/>
          <p:cNvSpPr txBox="1"/>
          <p:nvPr/>
        </p:nvSpPr>
        <p:spPr>
          <a:xfrm>
            <a:off x="2253082"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Lab-feed record folded into hers</a:t>
            </a:r>
            <a:endParaRPr lang="en-US" sz="900" dirty="0"/>
          </a:p>
        </p:txBody>
      </p:sp>
      <p:sp>
        <p:nvSpPr>
          <p:cNvPr id="34" name="Shape 29"/>
          <p:cNvSpPr/>
          <p:nvPr/>
        </p:nvSpPr>
        <p:spPr>
          <a:xfrm>
            <a:off x="3646627" y="3904488"/>
            <a:ext cx="164592" cy="237744"/>
          </a:xfrm>
          <a:prstGeom prst="rightArrow">
            <a:avLst/>
          </a:prstGeom>
          <a:solidFill>
            <a:srgbClr val="2A9D8F"/>
          </a:solidFill>
          <a:ln w="12700">
            <a:solidFill>
              <a:srgbClr val="2A9D8F"/>
            </a:solidFill>
            <a:prstDash val="solid"/>
          </a:ln>
        </p:spPr>
      </p:sp>
      <p:sp>
        <p:nvSpPr>
          <p:cNvPr id="35" name="Shape 30"/>
          <p:cNvSpPr/>
          <p:nvPr/>
        </p:nvSpPr>
        <p:spPr>
          <a:xfrm>
            <a:off x="3829507"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36" name="Text 31"/>
          <p:cNvSpPr txBox="1"/>
          <p:nvPr/>
        </p:nvSpPr>
        <p:spPr>
          <a:xfrm>
            <a:off x="3939235"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3  Morning flag</a:t>
            </a:r>
            <a:endParaRPr lang="en-US" sz="1050" dirty="0"/>
          </a:p>
        </p:txBody>
      </p:sp>
      <p:sp>
        <p:nvSpPr>
          <p:cNvPr id="37" name="Shape 32"/>
          <p:cNvSpPr/>
          <p:nvPr/>
        </p:nvSpPr>
        <p:spPr>
          <a:xfrm>
            <a:off x="3939235" y="3867912"/>
            <a:ext cx="863194" cy="237744"/>
          </a:xfrm>
          <a:prstGeom prst="roundRect">
            <a:avLst>
              <a:gd name="adj" fmla="val 50000"/>
            </a:avLst>
          </a:prstGeom>
          <a:solidFill>
            <a:srgbClr val="FFFFFF"/>
          </a:solidFill>
          <a:ln w="12700">
            <a:solidFill>
              <a:srgbClr val="FFFFFF"/>
            </a:solidFill>
            <a:prstDash val="solid"/>
          </a:ln>
        </p:spPr>
      </p:sp>
      <p:sp>
        <p:nvSpPr>
          <p:cNvPr id="38" name="Text 33"/>
          <p:cNvSpPr txBox="1"/>
          <p:nvPr/>
        </p:nvSpPr>
        <p:spPr>
          <a:xfrm>
            <a:off x="3939235" y="3867912"/>
            <a:ext cx="863194"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Eligibility</a:t>
            </a:r>
            <a:endParaRPr lang="en-US" sz="850" dirty="0"/>
          </a:p>
        </p:txBody>
      </p:sp>
      <p:sp>
        <p:nvSpPr>
          <p:cNvPr id="39" name="Text 34"/>
          <p:cNvSpPr txBox="1"/>
          <p:nvPr/>
        </p:nvSpPr>
        <p:spPr>
          <a:xfrm>
            <a:off x="3939235"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Inactive coverage for a visit</a:t>
            </a:r>
            <a:endParaRPr lang="en-US" sz="900" dirty="0"/>
          </a:p>
        </p:txBody>
      </p:sp>
      <p:sp>
        <p:nvSpPr>
          <p:cNvPr id="40" name="Shape 35"/>
          <p:cNvSpPr/>
          <p:nvPr/>
        </p:nvSpPr>
        <p:spPr>
          <a:xfrm>
            <a:off x="5332781" y="3904488"/>
            <a:ext cx="164592" cy="237744"/>
          </a:xfrm>
          <a:prstGeom prst="rightArrow">
            <a:avLst/>
          </a:prstGeom>
          <a:solidFill>
            <a:srgbClr val="2A9D8F"/>
          </a:solidFill>
          <a:ln w="12700">
            <a:solidFill>
              <a:srgbClr val="2A9D8F"/>
            </a:solidFill>
            <a:prstDash val="solid"/>
          </a:ln>
        </p:spPr>
      </p:sp>
      <p:sp>
        <p:nvSpPr>
          <p:cNvPr id="41" name="Shape 36"/>
          <p:cNvSpPr/>
          <p:nvPr/>
        </p:nvSpPr>
        <p:spPr>
          <a:xfrm>
            <a:off x="5515661"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42" name="Text 37"/>
          <p:cNvSpPr txBox="1"/>
          <p:nvPr/>
        </p:nvSpPr>
        <p:spPr>
          <a:xfrm>
            <a:off x="5625389"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4  Patient arrives</a:t>
            </a:r>
            <a:endParaRPr lang="en-US" sz="1050" dirty="0"/>
          </a:p>
        </p:txBody>
      </p:sp>
      <p:sp>
        <p:nvSpPr>
          <p:cNvPr id="43" name="Shape 38"/>
          <p:cNvSpPr/>
          <p:nvPr/>
        </p:nvSpPr>
        <p:spPr>
          <a:xfrm>
            <a:off x="5625389" y="3867912"/>
            <a:ext cx="804672" cy="237744"/>
          </a:xfrm>
          <a:prstGeom prst="roundRect">
            <a:avLst>
              <a:gd name="adj" fmla="val 50000"/>
            </a:avLst>
          </a:prstGeom>
          <a:solidFill>
            <a:srgbClr val="FFFFFF"/>
          </a:solidFill>
          <a:ln w="12700">
            <a:solidFill>
              <a:srgbClr val="FFFFFF"/>
            </a:solidFill>
            <a:prstDash val="solid"/>
          </a:ln>
        </p:spPr>
      </p:sp>
      <p:sp>
        <p:nvSpPr>
          <p:cNvPr id="44" name="Text 39"/>
          <p:cNvSpPr txBox="1"/>
          <p:nvPr/>
        </p:nvSpPr>
        <p:spPr>
          <a:xfrm>
            <a:off x="5625389" y="3867912"/>
            <a:ext cx="804672"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Card check</a:t>
            </a:r>
            <a:endParaRPr lang="en-US" sz="850" dirty="0"/>
          </a:p>
        </p:txBody>
      </p:sp>
      <p:sp>
        <p:nvSpPr>
          <p:cNvPr id="45" name="Text 40"/>
          <p:cNvSpPr txBox="1"/>
          <p:nvPr/>
        </p:nvSpPr>
        <p:spPr>
          <a:xfrm>
            <a:off x="5625389"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QR scanned; checked in</a:t>
            </a:r>
            <a:endParaRPr lang="en-US" sz="900" dirty="0"/>
          </a:p>
        </p:txBody>
      </p:sp>
      <p:sp>
        <p:nvSpPr>
          <p:cNvPr id="46" name="Shape 41"/>
          <p:cNvSpPr/>
          <p:nvPr/>
        </p:nvSpPr>
        <p:spPr>
          <a:xfrm>
            <a:off x="7018934" y="3904488"/>
            <a:ext cx="164592" cy="237744"/>
          </a:xfrm>
          <a:prstGeom prst="rightArrow">
            <a:avLst/>
          </a:prstGeom>
          <a:solidFill>
            <a:srgbClr val="2A9D8F"/>
          </a:solidFill>
          <a:ln w="12700">
            <a:solidFill>
              <a:srgbClr val="2A9D8F"/>
            </a:solidFill>
            <a:prstDash val="solid"/>
          </a:ln>
        </p:spPr>
      </p:sp>
      <p:sp>
        <p:nvSpPr>
          <p:cNvPr id="47" name="Shape 42"/>
          <p:cNvSpPr/>
          <p:nvPr/>
        </p:nvSpPr>
        <p:spPr>
          <a:xfrm>
            <a:off x="7201814"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48" name="Text 43"/>
          <p:cNvSpPr txBox="1"/>
          <p:nvPr/>
        </p:nvSpPr>
        <p:spPr>
          <a:xfrm>
            <a:off x="7311542"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5  Books follow-up</a:t>
            </a:r>
            <a:endParaRPr lang="en-US" sz="1050" dirty="0"/>
          </a:p>
        </p:txBody>
      </p:sp>
      <p:sp>
        <p:nvSpPr>
          <p:cNvPr id="49" name="Shape 44"/>
          <p:cNvSpPr/>
          <p:nvPr/>
        </p:nvSpPr>
        <p:spPr>
          <a:xfrm>
            <a:off x="7311542" y="3867912"/>
            <a:ext cx="921715" cy="237744"/>
          </a:xfrm>
          <a:prstGeom prst="roundRect">
            <a:avLst>
              <a:gd name="adj" fmla="val 50000"/>
            </a:avLst>
          </a:prstGeom>
          <a:solidFill>
            <a:srgbClr val="FFFFFF"/>
          </a:solidFill>
          <a:ln w="12700">
            <a:solidFill>
              <a:srgbClr val="FFFFFF"/>
            </a:solidFill>
            <a:prstDash val="solid"/>
          </a:ln>
        </p:spPr>
      </p:sp>
      <p:sp>
        <p:nvSpPr>
          <p:cNvPr id="50" name="Text 45"/>
          <p:cNvSpPr txBox="1"/>
          <p:nvPr/>
        </p:nvSpPr>
        <p:spPr>
          <a:xfrm>
            <a:off x="7311542" y="3867912"/>
            <a:ext cx="921715"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Availability</a:t>
            </a:r>
            <a:endParaRPr lang="en-US" sz="850" dirty="0"/>
          </a:p>
        </p:txBody>
      </p:sp>
      <p:sp>
        <p:nvSpPr>
          <p:cNvPr id="51" name="Text 46"/>
          <p:cNvSpPr txBox="1"/>
          <p:nvPr/>
        </p:nvSpPr>
        <p:spPr>
          <a:xfrm>
            <a:off x="7311542"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Slot from the doctor's hours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Meet Northside Operations</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Hospital administrators responsible for flow, compliance, access and safe AI</a:t>
            </a:r>
            <a:endParaRPr lang="en-US" sz="1300" dirty="0"/>
          </a:p>
        </p:txBody>
      </p:sp>
      <p:sp>
        <p:nvSpPr>
          <p:cNvPr id="4" name="Shape 2"/>
          <p:cNvSpPr/>
          <p:nvPr/>
        </p:nvSpPr>
        <p:spPr>
          <a:xfrm>
            <a:off x="457200" y="1325880"/>
            <a:ext cx="3063240" cy="3429000"/>
          </a:xfrm>
          <a:prstGeom prst="roundRect">
            <a:avLst>
              <a:gd name="adj" fmla="val 358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658368" y="1481328"/>
            <a:ext cx="658368" cy="658368"/>
          </a:xfrm>
          <a:prstGeom prst="ellipse">
            <a:avLst/>
          </a:prstGeom>
          <a:solidFill>
            <a:srgbClr val="374151"/>
          </a:solidFill>
          <a:ln w="25400">
            <a:solidFill>
              <a:srgbClr val="FFFFFF"/>
            </a:solidFill>
            <a:prstDash val="solid"/>
          </a:ln>
        </p:spPr>
      </p:sp>
      <p:sp>
        <p:nvSpPr>
          <p:cNvPr id="6" name="Text 4"/>
          <p:cNvSpPr txBox="1"/>
          <p:nvPr/>
        </p:nvSpPr>
        <p:spPr>
          <a:xfrm>
            <a:off x="658368" y="1481328"/>
            <a:ext cx="658368" cy="658368"/>
          </a:xfrm>
          <a:prstGeom prst="rect">
            <a:avLst/>
          </a:prstGeom>
          <a:noFill/>
          <a:ln/>
        </p:spPr>
        <p:txBody>
          <a:bodyPr wrap="square" lIns="0" tIns="0" rIns="0" bIns="0" rtlCol="0" anchor="ctr"/>
          <a:lstStyle/>
          <a:p>
            <a:pPr algn="ctr" indent="0" marL="0">
              <a:buNone/>
            </a:pPr>
            <a:r>
              <a:rPr lang="en-US" sz="1584" b="1" dirty="0">
                <a:solidFill>
                  <a:srgbClr val="FFFFFF"/>
                </a:solidFill>
                <a:latin typeface="Calibri" pitchFamily="34" charset="0"/>
                <a:ea typeface="Calibri" pitchFamily="34" charset="-122"/>
                <a:cs typeface="Calibri" pitchFamily="34" charset="-120"/>
              </a:rPr>
              <a:t>NO</a:t>
            </a:r>
            <a:endParaRPr lang="en-US" sz="1584" dirty="0"/>
          </a:p>
        </p:txBody>
      </p:sp>
      <p:sp>
        <p:nvSpPr>
          <p:cNvPr id="7" name="Text 5"/>
          <p:cNvSpPr txBox="1"/>
          <p:nvPr/>
        </p:nvSpPr>
        <p:spPr>
          <a:xfrm>
            <a:off x="1444752" y="1481328"/>
            <a:ext cx="2011680" cy="658368"/>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Northside Operations</a:t>
            </a:r>
            <a:endParaRPr lang="en-US" sz="1400" dirty="0"/>
          </a:p>
        </p:txBody>
      </p:sp>
      <p:sp>
        <p:nvSpPr>
          <p:cNvPr id="8" name="Text 6"/>
          <p:cNvSpPr txBox="1"/>
          <p:nvPr/>
        </p:nvSpPr>
        <p:spPr>
          <a:xfrm>
            <a:off x="658368" y="2212848"/>
            <a:ext cx="2743200" cy="384048"/>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Administrator · signs in with Entra ID · owns People &amp; sign-in</a:t>
            </a:r>
            <a:endParaRPr lang="en-US" sz="1000" dirty="0"/>
          </a:p>
        </p:txBody>
      </p:sp>
      <p:sp>
        <p:nvSpPr>
          <p:cNvPr id="9" name="Text 7"/>
          <p:cNvSpPr txBox="1"/>
          <p:nvPr/>
        </p:nvSpPr>
        <p:spPr>
          <a:xfrm>
            <a:off x="658368" y="2651760"/>
            <a:ext cx="2743200" cy="237744"/>
          </a:xfrm>
          <a:prstGeom prst="rect">
            <a:avLst/>
          </a:prstGeom>
          <a:noFill/>
          <a:ln/>
        </p:spPr>
        <p:txBody>
          <a:bodyPr wrap="square" lIns="0" tIns="0" rIns="0" bIns="0" rtlCol="0" anchor="t"/>
          <a:lstStyle/>
          <a:p>
            <a:pPr indent="0" marL="0">
              <a:buNone/>
            </a:pPr>
            <a:r>
              <a:rPr lang="en-US" sz="1150" b="1" dirty="0">
                <a:solidFill>
                  <a:srgbClr val="134E4A"/>
                </a:solidFill>
                <a:latin typeface="Calibri" pitchFamily="34" charset="0"/>
                <a:ea typeface="Calibri" pitchFamily="34" charset="-122"/>
                <a:cs typeface="Calibri" pitchFamily="34" charset="-120"/>
              </a:rPr>
              <a:t>Goals</a:t>
            </a:r>
            <a:endParaRPr lang="en-US" sz="1150" dirty="0"/>
          </a:p>
        </p:txBody>
      </p:sp>
      <p:sp>
        <p:nvSpPr>
          <p:cNvPr id="10" name="Text 8"/>
          <p:cNvSpPr txBox="1"/>
          <p:nvPr/>
        </p:nvSpPr>
        <p:spPr>
          <a:xfrm>
            <a:off x="658368" y="2889504"/>
            <a:ext cx="2697480" cy="822960"/>
          </a:xfrm>
          <a:prstGeom prst="rect">
            <a:avLst/>
          </a:prstGeom>
          <a:noFill/>
          <a:ln/>
        </p:spPr>
        <p:txBody>
          <a:bodyPr wrap="square" lIns="0" tIns="0" rIns="0" bIns="0" rtlCol="0" anchor="t"/>
          <a:lstStyle/>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Run capacity and patient flow smoothly</a:t>
            </a:r>
            <a:endParaRPr lang="en-US" sz="1000" dirty="0"/>
          </a:p>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Stay compliant and audit-ready</a:t>
            </a:r>
            <a:endParaRPr lang="en-US" sz="1000" dirty="0"/>
          </a:p>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Adopt AI safely, with proof</a:t>
            </a:r>
            <a:endParaRPr lang="en-US" sz="1000" dirty="0"/>
          </a:p>
        </p:txBody>
      </p:sp>
      <p:sp>
        <p:nvSpPr>
          <p:cNvPr id="11" name="Text 9"/>
          <p:cNvSpPr txBox="1"/>
          <p:nvPr/>
        </p:nvSpPr>
        <p:spPr>
          <a:xfrm>
            <a:off x="658368" y="3730752"/>
            <a:ext cx="2743200" cy="237744"/>
          </a:xfrm>
          <a:prstGeom prst="rect">
            <a:avLst/>
          </a:prstGeom>
          <a:noFill/>
          <a:ln/>
        </p:spPr>
        <p:txBody>
          <a:bodyPr wrap="square" lIns="0" tIns="0" rIns="0" bIns="0" rtlCol="0" anchor="t"/>
          <a:lstStyle/>
          <a:p>
            <a:pPr indent="0" marL="0">
              <a:buNone/>
            </a:pPr>
            <a:r>
              <a:rPr lang="en-US" sz="1150" b="1" dirty="0">
                <a:solidFill>
                  <a:srgbClr val="DC2626"/>
                </a:solidFill>
                <a:latin typeface="Calibri" pitchFamily="34" charset="0"/>
                <a:ea typeface="Calibri" pitchFamily="34" charset="-122"/>
                <a:cs typeface="Calibri" pitchFamily="34" charset="-120"/>
              </a:rPr>
              <a:t>Frustrations today</a:t>
            </a:r>
            <a:endParaRPr lang="en-US" sz="1150" dirty="0"/>
          </a:p>
        </p:txBody>
      </p:sp>
      <p:sp>
        <p:nvSpPr>
          <p:cNvPr id="12" name="Text 10"/>
          <p:cNvSpPr txBox="1"/>
          <p:nvPr/>
        </p:nvSpPr>
        <p:spPr>
          <a:xfrm>
            <a:off x="658368" y="3968496"/>
            <a:ext cx="2697480" cy="749808"/>
          </a:xfrm>
          <a:prstGeom prst="rect">
            <a:avLst/>
          </a:prstGeom>
          <a:noFill/>
          <a:ln/>
        </p:spPr>
        <p:txBody>
          <a:bodyPr wrap="square" lIns="0" tIns="0" rIns="0" bIns="0" rtlCol="0" anchor="t"/>
          <a:lstStyle/>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Access, audit and operations in separate tools</a:t>
            </a:r>
            <a:endParaRPr lang="en-US" sz="1000" dirty="0"/>
          </a:p>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Onboarding by ticket</a:t>
            </a:r>
            <a:endParaRPr lang="en-US" sz="1000" dirty="0"/>
          </a:p>
          <a:p>
            <a:pPr marL="342900" indent="-342900">
              <a:spcAft>
                <a:spcPts val="100"/>
              </a:spcAft>
              <a:buSzPct val="100000"/>
              <a:buChar char="•"/>
            </a:pPr>
            <a:r>
              <a:rPr lang="en-US" sz="1000" dirty="0">
                <a:solidFill>
                  <a:srgbClr val="111827"/>
                </a:solidFill>
                <a:latin typeface="Calibri" pitchFamily="34" charset="0"/>
                <a:ea typeface="Calibri" pitchFamily="34" charset="-122"/>
                <a:cs typeface="Calibri" pitchFamily="34" charset="-120"/>
              </a:rPr>
              <a:t>No proof of how AI behaves</a:t>
            </a:r>
            <a:endParaRPr lang="en-US" sz="1000" dirty="0"/>
          </a:p>
        </p:txBody>
      </p:sp>
      <p:sp>
        <p:nvSpPr>
          <p:cNvPr id="13" name="Text 11"/>
          <p:cNvSpPr txBox="1"/>
          <p:nvPr/>
        </p:nvSpPr>
        <p:spPr>
          <a:xfrm>
            <a:off x="3794760" y="1325880"/>
            <a:ext cx="4892040" cy="320040"/>
          </a:xfrm>
          <a:prstGeom prst="rect">
            <a:avLst/>
          </a:prstGeom>
          <a:noFill/>
          <a:ln/>
        </p:spPr>
        <p:txBody>
          <a:bodyPr wrap="square" lIns="0" tIns="0" rIns="0" bIns="0" rtlCol="0" anchor="t"/>
          <a:lstStyle/>
          <a:p>
            <a:pPr indent="0" marL="0">
              <a:buNone/>
            </a:pPr>
            <a:r>
              <a:rPr lang="en-US" sz="1400" b="1" dirty="0">
                <a:solidFill>
                  <a:srgbClr val="134E4A"/>
                </a:solidFill>
                <a:latin typeface="Calibri" pitchFamily="34" charset="0"/>
                <a:ea typeface="Calibri" pitchFamily="34" charset="-122"/>
                <a:cs typeface="Calibri" pitchFamily="34" charset="-120"/>
              </a:rPr>
              <a:t>What Bioverse One gives them</a:t>
            </a:r>
            <a:endParaRPr lang="en-US" sz="1400" dirty="0"/>
          </a:p>
        </p:txBody>
      </p:sp>
      <p:sp>
        <p:nvSpPr>
          <p:cNvPr id="14" name="Shape 12"/>
          <p:cNvSpPr/>
          <p:nvPr/>
        </p:nvSpPr>
        <p:spPr>
          <a:xfrm>
            <a:off x="3794760" y="1737360"/>
            <a:ext cx="4892040" cy="685800"/>
          </a:xfrm>
          <a:prstGeom prst="roundRect">
            <a:avLst>
              <a:gd name="adj" fmla="val 16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5" name="Shape 13"/>
          <p:cNvSpPr/>
          <p:nvPr/>
        </p:nvSpPr>
        <p:spPr>
          <a:xfrm>
            <a:off x="3904488" y="1869948"/>
            <a:ext cx="420624" cy="420624"/>
          </a:xfrm>
          <a:prstGeom prst="ellipse">
            <a:avLst/>
          </a:prstGeom>
          <a:solidFill>
            <a:srgbClr val="1B6B63"/>
          </a:solidFill>
          <a:ln w="12700">
            <a:solidFill>
              <a:srgbClr val="1B6B63"/>
            </a:solidFill>
            <a:prstDash val="solid"/>
          </a:ln>
        </p:spPr>
      </p:sp>
      <p:pic>
        <p:nvPicPr>
          <p:cNvPr id="16" name="Image 0" descr="preencoded.png">    </p:cNvPr>
          <p:cNvPicPr>
            <a:picLocks noChangeAspect="1"/>
          </p:cNvPicPr>
          <p:nvPr/>
        </p:nvPicPr>
        <p:blipFill>
          <a:blip r:embed="rId1"/>
          <a:stretch>
            <a:fillRect/>
          </a:stretch>
        </p:blipFill>
        <p:spPr>
          <a:xfrm>
            <a:off x="4009644" y="1975104"/>
            <a:ext cx="210312" cy="210312"/>
          </a:xfrm>
          <a:prstGeom prst="rect">
            <a:avLst/>
          </a:prstGeom>
        </p:spPr>
      </p:pic>
      <p:sp>
        <p:nvSpPr>
          <p:cNvPr id="17" name="Text 14"/>
          <p:cNvSpPr txBox="1"/>
          <p:nvPr/>
        </p:nvSpPr>
        <p:spPr>
          <a:xfrm>
            <a:off x="4434840" y="1792224"/>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Operations at a glance</a:t>
            </a:r>
            <a:endParaRPr lang="en-US" sz="1200" dirty="0"/>
          </a:p>
        </p:txBody>
      </p:sp>
      <p:sp>
        <p:nvSpPr>
          <p:cNvPr id="18" name="Text 15"/>
          <p:cNvSpPr txBox="1"/>
          <p:nvPr/>
        </p:nvSpPr>
        <p:spPr>
          <a:xfrm>
            <a:off x="4434840" y="2029968"/>
            <a:ext cx="4160520" cy="374904"/>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Capacity, demand, escalations and a Hospital Agent that answers in plain language</a:t>
            </a:r>
            <a:endParaRPr lang="en-US" sz="950" dirty="0"/>
          </a:p>
        </p:txBody>
      </p:sp>
      <p:sp>
        <p:nvSpPr>
          <p:cNvPr id="19" name="Shape 16"/>
          <p:cNvSpPr/>
          <p:nvPr/>
        </p:nvSpPr>
        <p:spPr>
          <a:xfrm>
            <a:off x="3794760" y="2514600"/>
            <a:ext cx="4892040" cy="685800"/>
          </a:xfrm>
          <a:prstGeom prst="roundRect">
            <a:avLst>
              <a:gd name="adj" fmla="val 16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0" name="Shape 17"/>
          <p:cNvSpPr/>
          <p:nvPr/>
        </p:nvSpPr>
        <p:spPr>
          <a:xfrm>
            <a:off x="3904488" y="2647188"/>
            <a:ext cx="420624" cy="420624"/>
          </a:xfrm>
          <a:prstGeom prst="ellipse">
            <a:avLst/>
          </a:prstGeom>
          <a:solidFill>
            <a:srgbClr val="1B6B63"/>
          </a:solidFill>
          <a:ln w="12700">
            <a:solidFill>
              <a:srgbClr val="1B6B63"/>
            </a:solidFill>
            <a:prstDash val="solid"/>
          </a:ln>
        </p:spPr>
      </p:sp>
      <p:pic>
        <p:nvPicPr>
          <p:cNvPr id="21" name="Image 1" descr="preencoded.png">    </p:cNvPr>
          <p:cNvPicPr>
            <a:picLocks noChangeAspect="1"/>
          </p:cNvPicPr>
          <p:nvPr/>
        </p:nvPicPr>
        <p:blipFill>
          <a:blip r:embed="rId2"/>
          <a:stretch>
            <a:fillRect/>
          </a:stretch>
        </p:blipFill>
        <p:spPr>
          <a:xfrm>
            <a:off x="4009644" y="2752344"/>
            <a:ext cx="210312" cy="210312"/>
          </a:xfrm>
          <a:prstGeom prst="rect">
            <a:avLst/>
          </a:prstGeom>
        </p:spPr>
      </p:pic>
      <p:sp>
        <p:nvSpPr>
          <p:cNvPr id="22" name="Text 18"/>
          <p:cNvSpPr txBox="1"/>
          <p:nvPr/>
        </p:nvSpPr>
        <p:spPr>
          <a:xfrm>
            <a:off x="4434840" y="2569464"/>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Onboarding without tickets</a:t>
            </a:r>
            <a:endParaRPr lang="en-US" sz="1200" dirty="0"/>
          </a:p>
        </p:txBody>
      </p:sp>
      <p:sp>
        <p:nvSpPr>
          <p:cNvPr id="23" name="Text 19"/>
          <p:cNvSpPr txBox="1"/>
          <p:nvPr/>
        </p:nvSpPr>
        <p:spPr>
          <a:xfrm>
            <a:off x="4434840" y="2807208"/>
            <a:ext cx="4160520" cy="374904"/>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Single sign-on, CSV staff import, directory-group sign-in rules, credentialing, instant sign-out</a:t>
            </a:r>
            <a:endParaRPr lang="en-US" sz="950" dirty="0"/>
          </a:p>
        </p:txBody>
      </p:sp>
      <p:sp>
        <p:nvSpPr>
          <p:cNvPr id="24" name="Shape 20"/>
          <p:cNvSpPr/>
          <p:nvPr/>
        </p:nvSpPr>
        <p:spPr>
          <a:xfrm>
            <a:off x="3794760" y="3291840"/>
            <a:ext cx="4892040" cy="685800"/>
          </a:xfrm>
          <a:prstGeom prst="roundRect">
            <a:avLst>
              <a:gd name="adj" fmla="val 16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5" name="Shape 21"/>
          <p:cNvSpPr/>
          <p:nvPr/>
        </p:nvSpPr>
        <p:spPr>
          <a:xfrm>
            <a:off x="3904488" y="3424428"/>
            <a:ext cx="420624" cy="420624"/>
          </a:xfrm>
          <a:prstGeom prst="ellipse">
            <a:avLst/>
          </a:prstGeom>
          <a:solidFill>
            <a:srgbClr val="1B6B63"/>
          </a:solidFill>
          <a:ln w="12700">
            <a:solidFill>
              <a:srgbClr val="1B6B63"/>
            </a:solidFill>
            <a:prstDash val="solid"/>
          </a:ln>
        </p:spPr>
      </p:sp>
      <p:pic>
        <p:nvPicPr>
          <p:cNvPr id="26" name="Image 2" descr="preencoded.png">    </p:cNvPr>
          <p:cNvPicPr>
            <a:picLocks noChangeAspect="1"/>
          </p:cNvPicPr>
          <p:nvPr/>
        </p:nvPicPr>
        <p:blipFill>
          <a:blip r:embed="rId3"/>
          <a:stretch>
            <a:fillRect/>
          </a:stretch>
        </p:blipFill>
        <p:spPr>
          <a:xfrm>
            <a:off x="4009644" y="3529584"/>
            <a:ext cx="210312" cy="210312"/>
          </a:xfrm>
          <a:prstGeom prst="rect">
            <a:avLst/>
          </a:prstGeom>
        </p:spPr>
      </p:pic>
      <p:sp>
        <p:nvSpPr>
          <p:cNvPr id="27" name="Text 22"/>
          <p:cNvSpPr txBox="1"/>
          <p:nvPr/>
        </p:nvSpPr>
        <p:spPr>
          <a:xfrm>
            <a:off x="4434840" y="3346704"/>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AI you can govern</a:t>
            </a:r>
            <a:endParaRPr lang="en-US" sz="1200" dirty="0"/>
          </a:p>
        </p:txBody>
      </p:sp>
      <p:sp>
        <p:nvSpPr>
          <p:cNvPr id="28" name="Text 23"/>
          <p:cNvSpPr txBox="1"/>
          <p:nvPr/>
        </p:nvSpPr>
        <p:spPr>
          <a:xfrm>
            <a:off x="4434840" y="3584448"/>
            <a:ext cx="4160520" cy="374904"/>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Registry of every AI agent, live model, evaluations, and a hash-chained audit trail</a:t>
            </a:r>
            <a:endParaRPr lang="en-US" sz="950" dirty="0"/>
          </a:p>
        </p:txBody>
      </p:sp>
      <p:sp>
        <p:nvSpPr>
          <p:cNvPr id="29" name="Shape 24"/>
          <p:cNvSpPr/>
          <p:nvPr/>
        </p:nvSpPr>
        <p:spPr>
          <a:xfrm>
            <a:off x="3794760" y="4069080"/>
            <a:ext cx="4892040" cy="685800"/>
          </a:xfrm>
          <a:prstGeom prst="roundRect">
            <a:avLst>
              <a:gd name="adj" fmla="val 16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0" name="Shape 25"/>
          <p:cNvSpPr/>
          <p:nvPr/>
        </p:nvSpPr>
        <p:spPr>
          <a:xfrm>
            <a:off x="3904488" y="4201668"/>
            <a:ext cx="420624" cy="420624"/>
          </a:xfrm>
          <a:prstGeom prst="ellipse">
            <a:avLst/>
          </a:prstGeom>
          <a:solidFill>
            <a:srgbClr val="1B6B63"/>
          </a:solidFill>
          <a:ln w="12700">
            <a:solidFill>
              <a:srgbClr val="1B6B63"/>
            </a:solidFill>
            <a:prstDash val="solid"/>
          </a:ln>
        </p:spPr>
      </p:sp>
      <p:pic>
        <p:nvPicPr>
          <p:cNvPr id="31" name="Image 3" descr="preencoded.png">    </p:cNvPr>
          <p:cNvPicPr>
            <a:picLocks noChangeAspect="1"/>
          </p:cNvPicPr>
          <p:nvPr/>
        </p:nvPicPr>
        <p:blipFill>
          <a:blip r:embed="rId4"/>
          <a:stretch>
            <a:fillRect/>
          </a:stretch>
        </p:blipFill>
        <p:spPr>
          <a:xfrm>
            <a:off x="4009644" y="4306824"/>
            <a:ext cx="210312" cy="210312"/>
          </a:xfrm>
          <a:prstGeom prst="rect">
            <a:avLst/>
          </a:prstGeom>
        </p:spPr>
      </p:pic>
      <p:sp>
        <p:nvSpPr>
          <p:cNvPr id="32" name="Text 26"/>
          <p:cNvSpPr txBox="1"/>
          <p:nvPr/>
        </p:nvSpPr>
        <p:spPr>
          <a:xfrm>
            <a:off x="4434840" y="4123944"/>
            <a:ext cx="4160520"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Revenue cycle connected</a:t>
            </a:r>
            <a:endParaRPr lang="en-US" sz="1200" dirty="0"/>
          </a:p>
        </p:txBody>
      </p:sp>
      <p:sp>
        <p:nvSpPr>
          <p:cNvPr id="33" name="Text 27"/>
          <p:cNvSpPr txBox="1"/>
          <p:nvPr/>
        </p:nvSpPr>
        <p:spPr>
          <a:xfrm>
            <a:off x="4434840" y="4361688"/>
            <a:ext cx="4160520" cy="374904"/>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Payer connections, eligibility, claims and remittances with plain-language denials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The administrators' journey</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A week of running the hospital from one console</a:t>
            </a:r>
            <a:endParaRPr lang="en-US" sz="1300" dirty="0"/>
          </a:p>
        </p:txBody>
      </p:sp>
      <p:sp>
        <p:nvSpPr>
          <p:cNvPr id="4" name="Shape 2"/>
          <p:cNvSpPr/>
          <p:nvPr/>
        </p:nvSpPr>
        <p:spPr>
          <a:xfrm>
            <a:off x="457200" y="1325880"/>
            <a:ext cx="1484986" cy="2514600"/>
          </a:xfrm>
          <a:prstGeom prst="roundRect">
            <a:avLst>
              <a:gd name="adj" fmla="val 7389"/>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566928" y="1453896"/>
            <a:ext cx="420624" cy="420624"/>
          </a:xfrm>
          <a:prstGeom prst="ellipse">
            <a:avLst/>
          </a:prstGeom>
          <a:solidFill>
            <a:srgbClr val="1B6B63"/>
          </a:solidFill>
          <a:ln w="12700">
            <a:solidFill>
              <a:srgbClr val="1B6B63"/>
            </a:solidFill>
            <a:prstDash val="solid"/>
          </a:ln>
        </p:spPr>
      </p:sp>
      <p:pic>
        <p:nvPicPr>
          <p:cNvPr id="6" name="Image 0" descr="preencoded.png">    </p:cNvPr>
          <p:cNvPicPr>
            <a:picLocks noChangeAspect="1"/>
          </p:cNvPicPr>
          <p:nvPr/>
        </p:nvPicPr>
        <p:blipFill>
          <a:blip r:embed="rId1"/>
          <a:stretch>
            <a:fillRect/>
          </a:stretch>
        </p:blipFill>
        <p:spPr>
          <a:xfrm>
            <a:off x="672084" y="1559052"/>
            <a:ext cx="210312" cy="210312"/>
          </a:xfrm>
          <a:prstGeom prst="rect">
            <a:avLst/>
          </a:prstGeom>
        </p:spPr>
      </p:pic>
      <p:sp>
        <p:nvSpPr>
          <p:cNvPr id="7" name="Text 4"/>
          <p:cNvSpPr txBox="1"/>
          <p:nvPr/>
        </p:nvSpPr>
        <p:spPr>
          <a:xfrm>
            <a:off x="1613002"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1</a:t>
            </a:r>
            <a:endParaRPr lang="en-US" sz="1200" dirty="0"/>
          </a:p>
        </p:txBody>
      </p:sp>
      <p:sp>
        <p:nvSpPr>
          <p:cNvPr id="8" name="Text 5"/>
          <p:cNvSpPr txBox="1"/>
          <p:nvPr/>
        </p:nvSpPr>
        <p:spPr>
          <a:xfrm>
            <a:off x="566928" y="1965960"/>
            <a:ext cx="1302106"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Imports the staff list</a:t>
            </a:r>
            <a:endParaRPr lang="en-US" sz="1150" dirty="0"/>
          </a:p>
        </p:txBody>
      </p:sp>
      <p:sp>
        <p:nvSpPr>
          <p:cNvPr id="9" name="Shape 6"/>
          <p:cNvSpPr/>
          <p:nvPr/>
        </p:nvSpPr>
        <p:spPr>
          <a:xfrm>
            <a:off x="566928" y="2468880"/>
            <a:ext cx="980237" cy="237744"/>
          </a:xfrm>
          <a:prstGeom prst="roundRect">
            <a:avLst>
              <a:gd name="adj" fmla="val 50000"/>
            </a:avLst>
          </a:prstGeom>
          <a:solidFill>
            <a:srgbClr val="E6F4F1"/>
          </a:solidFill>
          <a:ln w="12700">
            <a:solidFill>
              <a:srgbClr val="E6F4F1"/>
            </a:solidFill>
            <a:prstDash val="solid"/>
          </a:ln>
        </p:spPr>
      </p:sp>
      <p:sp>
        <p:nvSpPr>
          <p:cNvPr id="10" name="Text 7"/>
          <p:cNvSpPr txBox="1"/>
          <p:nvPr/>
        </p:nvSpPr>
        <p:spPr>
          <a:xfrm>
            <a:off x="566928" y="2468880"/>
            <a:ext cx="980237"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Import people</a:t>
            </a:r>
            <a:endParaRPr lang="en-US" sz="850" dirty="0"/>
          </a:p>
        </p:txBody>
      </p:sp>
      <p:sp>
        <p:nvSpPr>
          <p:cNvPr id="11" name="Text 8"/>
          <p:cNvSpPr txBox="1"/>
          <p:nvPr/>
        </p:nvSpPr>
        <p:spPr>
          <a:xfrm>
            <a:off x="566928" y="2788920"/>
            <a:ext cx="1302106"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CSV checked row by row in a trial run, then 40 people added at once</a:t>
            </a:r>
            <a:endParaRPr lang="en-US" sz="950" dirty="0"/>
          </a:p>
        </p:txBody>
      </p:sp>
      <p:sp>
        <p:nvSpPr>
          <p:cNvPr id="12" name="Shape 9"/>
          <p:cNvSpPr/>
          <p:nvPr/>
        </p:nvSpPr>
        <p:spPr>
          <a:xfrm>
            <a:off x="1960474" y="2464308"/>
            <a:ext cx="164592" cy="237744"/>
          </a:xfrm>
          <a:prstGeom prst="rightArrow">
            <a:avLst/>
          </a:prstGeom>
          <a:solidFill>
            <a:srgbClr val="2A9D8F"/>
          </a:solidFill>
          <a:ln w="12700">
            <a:solidFill>
              <a:srgbClr val="2A9D8F"/>
            </a:solidFill>
            <a:prstDash val="solid"/>
          </a:ln>
        </p:spPr>
      </p:sp>
      <p:sp>
        <p:nvSpPr>
          <p:cNvPr id="13" name="Shape 10"/>
          <p:cNvSpPr/>
          <p:nvPr/>
        </p:nvSpPr>
        <p:spPr>
          <a:xfrm>
            <a:off x="2143354" y="1325880"/>
            <a:ext cx="1484986" cy="2514600"/>
          </a:xfrm>
          <a:prstGeom prst="roundRect">
            <a:avLst>
              <a:gd name="adj" fmla="val 7389"/>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4" name="Shape 11"/>
          <p:cNvSpPr/>
          <p:nvPr/>
        </p:nvSpPr>
        <p:spPr>
          <a:xfrm>
            <a:off x="2253082" y="1453896"/>
            <a:ext cx="420624" cy="420624"/>
          </a:xfrm>
          <a:prstGeom prst="ellipse">
            <a:avLst/>
          </a:prstGeom>
          <a:solidFill>
            <a:srgbClr val="1B6B63"/>
          </a:solidFill>
          <a:ln w="12700">
            <a:solidFill>
              <a:srgbClr val="1B6B63"/>
            </a:solidFill>
            <a:prstDash val="solid"/>
          </a:ln>
        </p:spPr>
      </p:sp>
      <p:pic>
        <p:nvPicPr>
          <p:cNvPr id="15" name="Image 1" descr="preencoded.png">    </p:cNvPr>
          <p:cNvPicPr>
            <a:picLocks noChangeAspect="1"/>
          </p:cNvPicPr>
          <p:nvPr/>
        </p:nvPicPr>
        <p:blipFill>
          <a:blip r:embed="rId2"/>
          <a:stretch>
            <a:fillRect/>
          </a:stretch>
        </p:blipFill>
        <p:spPr>
          <a:xfrm>
            <a:off x="2358238" y="1559052"/>
            <a:ext cx="210312" cy="210312"/>
          </a:xfrm>
          <a:prstGeom prst="rect">
            <a:avLst/>
          </a:prstGeom>
        </p:spPr>
      </p:pic>
      <p:sp>
        <p:nvSpPr>
          <p:cNvPr id="16" name="Text 12"/>
          <p:cNvSpPr txBox="1"/>
          <p:nvPr/>
        </p:nvSpPr>
        <p:spPr>
          <a:xfrm>
            <a:off x="3299155"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2</a:t>
            </a:r>
            <a:endParaRPr lang="en-US" sz="1200" dirty="0"/>
          </a:p>
        </p:txBody>
      </p:sp>
      <p:sp>
        <p:nvSpPr>
          <p:cNvPr id="17" name="Text 13"/>
          <p:cNvSpPr txBox="1"/>
          <p:nvPr/>
        </p:nvSpPr>
        <p:spPr>
          <a:xfrm>
            <a:off x="2253082" y="1965960"/>
            <a:ext cx="1302106"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Maps directory groups</a:t>
            </a:r>
            <a:endParaRPr lang="en-US" sz="1150" dirty="0"/>
          </a:p>
        </p:txBody>
      </p:sp>
      <p:sp>
        <p:nvSpPr>
          <p:cNvPr id="18" name="Shape 14"/>
          <p:cNvSpPr/>
          <p:nvPr/>
        </p:nvSpPr>
        <p:spPr>
          <a:xfrm>
            <a:off x="2253082" y="2468880"/>
            <a:ext cx="980237" cy="237744"/>
          </a:xfrm>
          <a:prstGeom prst="roundRect">
            <a:avLst>
              <a:gd name="adj" fmla="val 50000"/>
            </a:avLst>
          </a:prstGeom>
          <a:solidFill>
            <a:srgbClr val="E6F4F1"/>
          </a:solidFill>
          <a:ln w="12700">
            <a:solidFill>
              <a:srgbClr val="E6F4F1"/>
            </a:solidFill>
            <a:prstDash val="solid"/>
          </a:ln>
        </p:spPr>
      </p:sp>
      <p:sp>
        <p:nvSpPr>
          <p:cNvPr id="19" name="Text 15"/>
          <p:cNvSpPr txBox="1"/>
          <p:nvPr/>
        </p:nvSpPr>
        <p:spPr>
          <a:xfrm>
            <a:off x="2253082" y="2468880"/>
            <a:ext cx="980237"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Sign-in rules</a:t>
            </a:r>
            <a:endParaRPr lang="en-US" sz="850" dirty="0"/>
          </a:p>
        </p:txBody>
      </p:sp>
      <p:sp>
        <p:nvSpPr>
          <p:cNvPr id="20" name="Text 16"/>
          <p:cNvSpPr txBox="1"/>
          <p:nvPr/>
        </p:nvSpPr>
        <p:spPr>
          <a:xfrm>
            <a:off x="2253082" y="2788920"/>
            <a:ext cx="1302106"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Entra group "Cardiology" becomes clinicians on first sign-in</a:t>
            </a:r>
            <a:endParaRPr lang="en-US" sz="950" dirty="0"/>
          </a:p>
        </p:txBody>
      </p:sp>
      <p:sp>
        <p:nvSpPr>
          <p:cNvPr id="21" name="Shape 17"/>
          <p:cNvSpPr/>
          <p:nvPr/>
        </p:nvSpPr>
        <p:spPr>
          <a:xfrm>
            <a:off x="3646627" y="2464308"/>
            <a:ext cx="164592" cy="237744"/>
          </a:xfrm>
          <a:prstGeom prst="rightArrow">
            <a:avLst/>
          </a:prstGeom>
          <a:solidFill>
            <a:srgbClr val="2A9D8F"/>
          </a:solidFill>
          <a:ln w="12700">
            <a:solidFill>
              <a:srgbClr val="2A9D8F"/>
            </a:solidFill>
            <a:prstDash val="solid"/>
          </a:ln>
        </p:spPr>
      </p:sp>
      <p:sp>
        <p:nvSpPr>
          <p:cNvPr id="22" name="Shape 18"/>
          <p:cNvSpPr/>
          <p:nvPr/>
        </p:nvSpPr>
        <p:spPr>
          <a:xfrm>
            <a:off x="3829507" y="1325880"/>
            <a:ext cx="1484986" cy="2514600"/>
          </a:xfrm>
          <a:prstGeom prst="roundRect">
            <a:avLst>
              <a:gd name="adj" fmla="val 7389"/>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3" name="Shape 19"/>
          <p:cNvSpPr/>
          <p:nvPr/>
        </p:nvSpPr>
        <p:spPr>
          <a:xfrm>
            <a:off x="3939235" y="1453896"/>
            <a:ext cx="420624" cy="420624"/>
          </a:xfrm>
          <a:prstGeom prst="ellipse">
            <a:avLst/>
          </a:prstGeom>
          <a:solidFill>
            <a:srgbClr val="1B6B63"/>
          </a:solidFill>
          <a:ln w="12700">
            <a:solidFill>
              <a:srgbClr val="1B6B63"/>
            </a:solidFill>
            <a:prstDash val="solid"/>
          </a:ln>
        </p:spPr>
      </p:sp>
      <p:pic>
        <p:nvPicPr>
          <p:cNvPr id="24" name="Image 2" descr="preencoded.png">    </p:cNvPr>
          <p:cNvPicPr>
            <a:picLocks noChangeAspect="1"/>
          </p:cNvPicPr>
          <p:nvPr/>
        </p:nvPicPr>
        <p:blipFill>
          <a:blip r:embed="rId3"/>
          <a:stretch>
            <a:fillRect/>
          </a:stretch>
        </p:blipFill>
        <p:spPr>
          <a:xfrm>
            <a:off x="4044391" y="1559052"/>
            <a:ext cx="210312" cy="210312"/>
          </a:xfrm>
          <a:prstGeom prst="rect">
            <a:avLst/>
          </a:prstGeom>
        </p:spPr>
      </p:pic>
      <p:sp>
        <p:nvSpPr>
          <p:cNvPr id="25" name="Text 20"/>
          <p:cNvSpPr txBox="1"/>
          <p:nvPr/>
        </p:nvSpPr>
        <p:spPr>
          <a:xfrm>
            <a:off x="4985309"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3</a:t>
            </a:r>
            <a:endParaRPr lang="en-US" sz="1200" dirty="0"/>
          </a:p>
        </p:txBody>
      </p:sp>
      <p:sp>
        <p:nvSpPr>
          <p:cNvPr id="26" name="Text 21"/>
          <p:cNvSpPr txBox="1"/>
          <p:nvPr/>
        </p:nvSpPr>
        <p:spPr>
          <a:xfrm>
            <a:off x="3939235" y="1965960"/>
            <a:ext cx="1302106"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Verifies license</a:t>
            </a:r>
            <a:endParaRPr lang="en-US" sz="1150" dirty="0"/>
          </a:p>
        </p:txBody>
      </p:sp>
      <p:sp>
        <p:nvSpPr>
          <p:cNvPr id="27" name="Shape 22"/>
          <p:cNvSpPr/>
          <p:nvPr/>
        </p:nvSpPr>
        <p:spPr>
          <a:xfrm>
            <a:off x="3939235" y="2468880"/>
            <a:ext cx="980237" cy="237744"/>
          </a:xfrm>
          <a:prstGeom prst="roundRect">
            <a:avLst>
              <a:gd name="adj" fmla="val 50000"/>
            </a:avLst>
          </a:prstGeom>
          <a:solidFill>
            <a:srgbClr val="E6F4F1"/>
          </a:solidFill>
          <a:ln w="12700">
            <a:solidFill>
              <a:srgbClr val="E6F4F1"/>
            </a:solidFill>
            <a:prstDash val="solid"/>
          </a:ln>
        </p:spPr>
      </p:sp>
      <p:sp>
        <p:nvSpPr>
          <p:cNvPr id="28" name="Text 23"/>
          <p:cNvSpPr txBox="1"/>
          <p:nvPr/>
        </p:nvSpPr>
        <p:spPr>
          <a:xfrm>
            <a:off x="3939235" y="2468880"/>
            <a:ext cx="980237"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Credentialing</a:t>
            </a:r>
            <a:endParaRPr lang="en-US" sz="850" dirty="0"/>
          </a:p>
        </p:txBody>
      </p:sp>
      <p:sp>
        <p:nvSpPr>
          <p:cNvPr id="29" name="Text 24"/>
          <p:cNvSpPr txBox="1"/>
          <p:nvPr/>
        </p:nvSpPr>
        <p:spPr>
          <a:xfrm>
            <a:off x="3939235" y="2788920"/>
            <a:ext cx="1302106"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Checked and verified before she can take consults</a:t>
            </a:r>
            <a:endParaRPr lang="en-US" sz="950" dirty="0"/>
          </a:p>
        </p:txBody>
      </p:sp>
      <p:sp>
        <p:nvSpPr>
          <p:cNvPr id="30" name="Shape 25"/>
          <p:cNvSpPr/>
          <p:nvPr/>
        </p:nvSpPr>
        <p:spPr>
          <a:xfrm>
            <a:off x="5332781" y="2464308"/>
            <a:ext cx="164592" cy="237744"/>
          </a:xfrm>
          <a:prstGeom prst="rightArrow">
            <a:avLst/>
          </a:prstGeom>
          <a:solidFill>
            <a:srgbClr val="2A9D8F"/>
          </a:solidFill>
          <a:ln w="12700">
            <a:solidFill>
              <a:srgbClr val="2A9D8F"/>
            </a:solidFill>
            <a:prstDash val="solid"/>
          </a:ln>
        </p:spPr>
      </p:sp>
      <p:sp>
        <p:nvSpPr>
          <p:cNvPr id="31" name="Shape 26"/>
          <p:cNvSpPr/>
          <p:nvPr/>
        </p:nvSpPr>
        <p:spPr>
          <a:xfrm>
            <a:off x="5515661" y="1325880"/>
            <a:ext cx="1484986" cy="2514600"/>
          </a:xfrm>
          <a:prstGeom prst="roundRect">
            <a:avLst>
              <a:gd name="adj" fmla="val 7389"/>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2" name="Shape 27"/>
          <p:cNvSpPr/>
          <p:nvPr/>
        </p:nvSpPr>
        <p:spPr>
          <a:xfrm>
            <a:off x="5625389" y="1453896"/>
            <a:ext cx="420624" cy="420624"/>
          </a:xfrm>
          <a:prstGeom prst="ellipse">
            <a:avLst/>
          </a:prstGeom>
          <a:solidFill>
            <a:srgbClr val="1B6B63"/>
          </a:solidFill>
          <a:ln w="12700">
            <a:solidFill>
              <a:srgbClr val="1B6B63"/>
            </a:solidFill>
            <a:prstDash val="solid"/>
          </a:ln>
        </p:spPr>
      </p:sp>
      <p:pic>
        <p:nvPicPr>
          <p:cNvPr id="33" name="Image 3" descr="preencoded.png">    </p:cNvPr>
          <p:cNvPicPr>
            <a:picLocks noChangeAspect="1"/>
          </p:cNvPicPr>
          <p:nvPr/>
        </p:nvPicPr>
        <p:blipFill>
          <a:blip r:embed="rId4"/>
          <a:stretch>
            <a:fillRect/>
          </a:stretch>
        </p:blipFill>
        <p:spPr>
          <a:xfrm>
            <a:off x="5730545" y="1559052"/>
            <a:ext cx="210312" cy="210312"/>
          </a:xfrm>
          <a:prstGeom prst="rect">
            <a:avLst/>
          </a:prstGeom>
        </p:spPr>
      </p:pic>
      <p:sp>
        <p:nvSpPr>
          <p:cNvPr id="34" name="Text 28"/>
          <p:cNvSpPr txBox="1"/>
          <p:nvPr/>
        </p:nvSpPr>
        <p:spPr>
          <a:xfrm>
            <a:off x="6671462"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4</a:t>
            </a:r>
            <a:endParaRPr lang="en-US" sz="1200" dirty="0"/>
          </a:p>
        </p:txBody>
      </p:sp>
      <p:sp>
        <p:nvSpPr>
          <p:cNvPr id="35" name="Text 29"/>
          <p:cNvSpPr txBox="1"/>
          <p:nvPr/>
        </p:nvSpPr>
        <p:spPr>
          <a:xfrm>
            <a:off x="5625389" y="1965960"/>
            <a:ext cx="1302106"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Checks flow</a:t>
            </a:r>
            <a:endParaRPr lang="en-US" sz="1150" dirty="0"/>
          </a:p>
        </p:txBody>
      </p:sp>
      <p:sp>
        <p:nvSpPr>
          <p:cNvPr id="36" name="Shape 30"/>
          <p:cNvSpPr/>
          <p:nvPr/>
        </p:nvSpPr>
        <p:spPr>
          <a:xfrm>
            <a:off x="5625389" y="2468880"/>
            <a:ext cx="804672" cy="237744"/>
          </a:xfrm>
          <a:prstGeom prst="roundRect">
            <a:avLst>
              <a:gd name="adj" fmla="val 50000"/>
            </a:avLst>
          </a:prstGeom>
          <a:solidFill>
            <a:srgbClr val="E6F4F1"/>
          </a:solidFill>
          <a:ln w="12700">
            <a:solidFill>
              <a:srgbClr val="E6F4F1"/>
            </a:solidFill>
            <a:prstDash val="solid"/>
          </a:ln>
        </p:spPr>
      </p:sp>
      <p:sp>
        <p:nvSpPr>
          <p:cNvPr id="37" name="Text 31"/>
          <p:cNvSpPr txBox="1"/>
          <p:nvPr/>
        </p:nvSpPr>
        <p:spPr>
          <a:xfrm>
            <a:off x="5625389" y="2468880"/>
            <a:ext cx="804672"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Operations</a:t>
            </a:r>
            <a:endParaRPr lang="en-US" sz="850" dirty="0"/>
          </a:p>
        </p:txBody>
      </p:sp>
      <p:sp>
        <p:nvSpPr>
          <p:cNvPr id="38" name="Text 32"/>
          <p:cNvSpPr txBox="1"/>
          <p:nvPr/>
        </p:nvSpPr>
        <p:spPr>
          <a:xfrm>
            <a:off x="5625389" y="2788920"/>
            <a:ext cx="1302106"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Capacity, escalations; asks the Hospital Agent</a:t>
            </a:r>
            <a:endParaRPr lang="en-US" sz="950" dirty="0"/>
          </a:p>
        </p:txBody>
      </p:sp>
      <p:sp>
        <p:nvSpPr>
          <p:cNvPr id="39" name="Shape 33"/>
          <p:cNvSpPr/>
          <p:nvPr/>
        </p:nvSpPr>
        <p:spPr>
          <a:xfrm>
            <a:off x="7018934" y="2464308"/>
            <a:ext cx="164592" cy="237744"/>
          </a:xfrm>
          <a:prstGeom prst="rightArrow">
            <a:avLst/>
          </a:prstGeom>
          <a:solidFill>
            <a:srgbClr val="2A9D8F"/>
          </a:solidFill>
          <a:ln w="12700">
            <a:solidFill>
              <a:srgbClr val="2A9D8F"/>
            </a:solidFill>
            <a:prstDash val="solid"/>
          </a:ln>
        </p:spPr>
      </p:sp>
      <p:sp>
        <p:nvSpPr>
          <p:cNvPr id="40" name="Shape 34"/>
          <p:cNvSpPr/>
          <p:nvPr/>
        </p:nvSpPr>
        <p:spPr>
          <a:xfrm>
            <a:off x="7201814" y="1325880"/>
            <a:ext cx="1484986" cy="2514600"/>
          </a:xfrm>
          <a:prstGeom prst="roundRect">
            <a:avLst>
              <a:gd name="adj" fmla="val 7389"/>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41" name="Shape 35"/>
          <p:cNvSpPr/>
          <p:nvPr/>
        </p:nvSpPr>
        <p:spPr>
          <a:xfrm>
            <a:off x="7311542" y="1453896"/>
            <a:ext cx="420624" cy="420624"/>
          </a:xfrm>
          <a:prstGeom prst="ellipse">
            <a:avLst/>
          </a:prstGeom>
          <a:solidFill>
            <a:srgbClr val="1B6B63"/>
          </a:solidFill>
          <a:ln w="12700">
            <a:solidFill>
              <a:srgbClr val="1B6B63"/>
            </a:solidFill>
            <a:prstDash val="solid"/>
          </a:ln>
        </p:spPr>
      </p:sp>
      <p:pic>
        <p:nvPicPr>
          <p:cNvPr id="42" name="Image 4" descr="preencoded.png">    </p:cNvPr>
          <p:cNvPicPr>
            <a:picLocks noChangeAspect="1"/>
          </p:cNvPicPr>
          <p:nvPr/>
        </p:nvPicPr>
        <p:blipFill>
          <a:blip r:embed="rId5"/>
          <a:stretch>
            <a:fillRect/>
          </a:stretch>
        </p:blipFill>
        <p:spPr>
          <a:xfrm>
            <a:off x="7416698" y="1559052"/>
            <a:ext cx="210312" cy="210312"/>
          </a:xfrm>
          <a:prstGeom prst="rect">
            <a:avLst/>
          </a:prstGeom>
        </p:spPr>
      </p:pic>
      <p:sp>
        <p:nvSpPr>
          <p:cNvPr id="43" name="Text 36"/>
          <p:cNvSpPr txBox="1"/>
          <p:nvPr/>
        </p:nvSpPr>
        <p:spPr>
          <a:xfrm>
            <a:off x="8357616" y="1453896"/>
            <a:ext cx="237744" cy="256032"/>
          </a:xfrm>
          <a:prstGeom prst="rect">
            <a:avLst/>
          </a:prstGeom>
          <a:noFill/>
          <a:ln/>
        </p:spPr>
        <p:txBody>
          <a:bodyPr wrap="square" lIns="0" tIns="0" rIns="0" bIns="0" rtlCol="0" anchor="t"/>
          <a:lstStyle/>
          <a:p>
            <a:pPr algn="r" indent="0" marL="0">
              <a:buNone/>
            </a:pPr>
            <a:r>
              <a:rPr lang="en-US" sz="1200" b="1" dirty="0">
                <a:solidFill>
                  <a:srgbClr val="2A9D8F"/>
                </a:solidFill>
                <a:latin typeface="Calibri" pitchFamily="34" charset="0"/>
                <a:ea typeface="Calibri" pitchFamily="34" charset="-122"/>
                <a:cs typeface="Calibri" pitchFamily="34" charset="-120"/>
              </a:rPr>
              <a:t>5</a:t>
            </a:r>
            <a:endParaRPr lang="en-US" sz="1200" dirty="0"/>
          </a:p>
        </p:txBody>
      </p:sp>
      <p:sp>
        <p:nvSpPr>
          <p:cNvPr id="44" name="Text 37"/>
          <p:cNvSpPr txBox="1"/>
          <p:nvPr/>
        </p:nvSpPr>
        <p:spPr>
          <a:xfrm>
            <a:off x="7311542" y="1965960"/>
            <a:ext cx="1302106" cy="47548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Reviews AI</a:t>
            </a:r>
            <a:endParaRPr lang="en-US" sz="1150" dirty="0"/>
          </a:p>
        </p:txBody>
      </p:sp>
      <p:sp>
        <p:nvSpPr>
          <p:cNvPr id="45" name="Shape 38"/>
          <p:cNvSpPr/>
          <p:nvPr/>
        </p:nvSpPr>
        <p:spPr>
          <a:xfrm>
            <a:off x="7311542" y="2468880"/>
            <a:ext cx="980237" cy="237744"/>
          </a:xfrm>
          <a:prstGeom prst="roundRect">
            <a:avLst>
              <a:gd name="adj" fmla="val 50000"/>
            </a:avLst>
          </a:prstGeom>
          <a:solidFill>
            <a:srgbClr val="E6F4F1"/>
          </a:solidFill>
          <a:ln w="12700">
            <a:solidFill>
              <a:srgbClr val="E6F4F1"/>
            </a:solidFill>
            <a:prstDash val="solid"/>
          </a:ln>
        </p:spPr>
      </p:sp>
      <p:sp>
        <p:nvSpPr>
          <p:cNvPr id="46" name="Text 39"/>
          <p:cNvSpPr txBox="1"/>
          <p:nvPr/>
        </p:nvSpPr>
        <p:spPr>
          <a:xfrm>
            <a:off x="7311542" y="2468880"/>
            <a:ext cx="980237"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AI governance</a:t>
            </a:r>
            <a:endParaRPr lang="en-US" sz="850" dirty="0"/>
          </a:p>
        </p:txBody>
      </p:sp>
      <p:sp>
        <p:nvSpPr>
          <p:cNvPr id="47" name="Text 40"/>
          <p:cNvSpPr txBox="1"/>
          <p:nvPr/>
        </p:nvSpPr>
        <p:spPr>
          <a:xfrm>
            <a:off x="7311542" y="2788920"/>
            <a:ext cx="1302106" cy="996696"/>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Emergency-screening evaluations and agent activity</a:t>
            </a:r>
            <a:endParaRPr lang="en-US" sz="950" dirty="0"/>
          </a:p>
        </p:txBody>
      </p:sp>
      <p:sp>
        <p:nvSpPr>
          <p:cNvPr id="48" name="Shape 41"/>
          <p:cNvSpPr/>
          <p:nvPr/>
        </p:nvSpPr>
        <p:spPr>
          <a:xfrm>
            <a:off x="457200" y="4023360"/>
            <a:ext cx="8229600" cy="685800"/>
          </a:xfrm>
          <a:prstGeom prst="roundRect">
            <a:avLst>
              <a:gd name="adj" fmla="val 16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49" name="Shape 42"/>
          <p:cNvSpPr/>
          <p:nvPr/>
        </p:nvSpPr>
        <p:spPr>
          <a:xfrm>
            <a:off x="594360" y="4133088"/>
            <a:ext cx="457200" cy="457200"/>
          </a:xfrm>
          <a:prstGeom prst="ellipse">
            <a:avLst/>
          </a:prstGeom>
          <a:solidFill>
            <a:srgbClr val="15803D"/>
          </a:solidFill>
          <a:ln w="12700">
            <a:solidFill>
              <a:srgbClr val="15803D"/>
            </a:solidFill>
            <a:prstDash val="solid"/>
          </a:ln>
        </p:spPr>
      </p:sp>
      <p:pic>
        <p:nvPicPr>
          <p:cNvPr id="50" name="Image 5" descr="preencoded.png">    </p:cNvPr>
          <p:cNvPicPr>
            <a:picLocks noChangeAspect="1"/>
          </p:cNvPicPr>
          <p:nvPr/>
        </p:nvPicPr>
        <p:blipFill>
          <a:blip r:embed="rId6"/>
          <a:stretch>
            <a:fillRect/>
          </a:stretch>
        </p:blipFill>
        <p:spPr>
          <a:xfrm>
            <a:off x="708660" y="4247388"/>
            <a:ext cx="228600" cy="228600"/>
          </a:xfrm>
          <a:prstGeom prst="rect">
            <a:avLst/>
          </a:prstGeom>
        </p:spPr>
      </p:pic>
      <p:sp>
        <p:nvSpPr>
          <p:cNvPr id="51" name="Text 43"/>
          <p:cNvSpPr txBox="1"/>
          <p:nvPr/>
        </p:nvSpPr>
        <p:spPr>
          <a:xfrm>
            <a:off x="1188720" y="4050792"/>
            <a:ext cx="7360920" cy="630936"/>
          </a:xfrm>
          <a:prstGeom prst="rect">
            <a:avLst/>
          </a:prstGeom>
          <a:noFill/>
          <a:ln/>
        </p:spPr>
        <p:txBody>
          <a:bodyPr wrap="square" lIns="0" tIns="0" rIns="0" bIns="0" rtlCol="0" anchor="ctr"/>
          <a:lstStyle/>
          <a:p>
            <a:pPr indent="0" marL="0">
              <a:buNone/>
            </a:pPr>
            <a:r>
              <a:rPr lang="en-US" sz="1250" b="1" dirty="0">
                <a:solidFill>
                  <a:srgbClr val="15803D"/>
                </a:solidFill>
                <a:latin typeface="Calibri" pitchFamily="34" charset="0"/>
                <a:ea typeface="Calibri" pitchFamily="34" charset="-122"/>
                <a:cs typeface="Calibri" pitchFamily="34" charset="-120"/>
              </a:rPr>
              <a:t>Outcome  </a:t>
            </a:r>
            <a:pPr indent="0" marL="0">
              <a:buNone/>
            </a:pPr>
            <a:r>
              <a:rPr lang="en-US" sz="1250" dirty="0">
                <a:solidFill>
                  <a:srgbClr val="134E4A"/>
                </a:solidFill>
                <a:latin typeface="Calibri" pitchFamily="34" charset="0"/>
                <a:ea typeface="Calibri" pitchFamily="34" charset="-122"/>
                <a:cs typeface="Calibri" pitchFamily="34" charset="-120"/>
              </a:rPr>
              <a:t>Whole teams onboarded in an afternoon; access, operations, revenue and AI oversight in one audited place.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Priya: learning from real cases</a:t>
            </a:r>
            <a:endParaRPr lang="en-US" sz="2800" dirty="0"/>
          </a:p>
        </p:txBody>
      </p:sp>
      <p:sp>
        <p:nvSpPr>
          <p:cNvPr id="3" name="Shape 1"/>
          <p:cNvSpPr/>
          <p:nvPr/>
        </p:nvSpPr>
        <p:spPr>
          <a:xfrm>
            <a:off x="457200" y="960120"/>
            <a:ext cx="8229600" cy="731520"/>
          </a:xfrm>
          <a:prstGeom prst="roundRect">
            <a:avLst>
              <a:gd name="adj" fmla="val 15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4" name="Shape 2"/>
          <p:cNvSpPr/>
          <p:nvPr/>
        </p:nvSpPr>
        <p:spPr>
          <a:xfrm>
            <a:off x="594360" y="1024128"/>
            <a:ext cx="603504" cy="603504"/>
          </a:xfrm>
          <a:prstGeom prst="ellipse">
            <a:avLst/>
          </a:prstGeom>
          <a:solidFill>
            <a:srgbClr val="BE185D"/>
          </a:solidFill>
          <a:ln w="25400">
            <a:solidFill>
              <a:srgbClr val="FFFFFF"/>
            </a:solidFill>
            <a:prstDash val="solid"/>
          </a:ln>
        </p:spPr>
      </p:sp>
      <p:sp>
        <p:nvSpPr>
          <p:cNvPr id="5" name="Text 3"/>
          <p:cNvSpPr txBox="1"/>
          <p:nvPr/>
        </p:nvSpPr>
        <p:spPr>
          <a:xfrm>
            <a:off x="594360" y="1024128"/>
            <a:ext cx="603504" cy="603504"/>
          </a:xfrm>
          <a:prstGeom prst="rect">
            <a:avLst/>
          </a:prstGeom>
          <a:noFill/>
          <a:ln/>
        </p:spPr>
        <p:txBody>
          <a:bodyPr wrap="square" lIns="0" tIns="0" rIns="0" bIns="0" rtlCol="0" anchor="ctr"/>
          <a:lstStyle/>
          <a:p>
            <a:pPr algn="ctr" indent="0" marL="0">
              <a:buNone/>
            </a:pPr>
            <a:r>
              <a:rPr lang="en-US" sz="1452" b="1" dirty="0">
                <a:solidFill>
                  <a:srgbClr val="FFFFFF"/>
                </a:solidFill>
                <a:latin typeface="Calibri" pitchFamily="34" charset="0"/>
                <a:ea typeface="Calibri" pitchFamily="34" charset="-122"/>
                <a:cs typeface="Calibri" pitchFamily="34" charset="-120"/>
              </a:rPr>
              <a:t>PR</a:t>
            </a:r>
            <a:endParaRPr lang="en-US" sz="1452" dirty="0"/>
          </a:p>
        </p:txBody>
      </p:sp>
      <p:sp>
        <p:nvSpPr>
          <p:cNvPr id="6" name="Text 4"/>
          <p:cNvSpPr txBox="1"/>
          <p:nvPr/>
        </p:nvSpPr>
        <p:spPr>
          <a:xfrm>
            <a:off x="1325880" y="1005840"/>
            <a:ext cx="7223760" cy="64008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Medical student, joins with her university Google account</a:t>
            </a:r>
            <a:pPr indent="0" marL="0">
              <a:buNone/>
            </a:pPr>
            <a:r>
              <a:rPr lang="en-US" sz="1150" dirty="0">
                <a:solidFill>
                  <a:srgbClr val="4B5563"/>
                </a:solidFill>
                <a:latin typeface="Calibri" pitchFamily="34" charset="0"/>
                <a:ea typeface="Calibri" pitchFamily="34" charset="-122"/>
                <a:cs typeface="Calibri" pitchFamily="34" charset="-120"/>
              </a:rPr>
              <a:t>   Goal: Practice clinical reasoning on real-world cases without touching patient records</a:t>
            </a:r>
            <a:endParaRPr lang="en-US" sz="1150" dirty="0"/>
          </a:p>
        </p:txBody>
      </p:sp>
      <p:sp>
        <p:nvSpPr>
          <p:cNvPr id="7" name="Shape 5"/>
          <p:cNvSpPr/>
          <p:nvPr/>
        </p:nvSpPr>
        <p:spPr>
          <a:xfrm>
            <a:off x="457200" y="1828800"/>
            <a:ext cx="2651760" cy="1097280"/>
          </a:xfrm>
          <a:prstGeom prst="roundRect">
            <a:avLst>
              <a:gd name="adj" fmla="val 10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8" name="Shape 6"/>
          <p:cNvSpPr/>
          <p:nvPr/>
        </p:nvSpPr>
        <p:spPr>
          <a:xfrm>
            <a:off x="585216" y="1956816"/>
            <a:ext cx="420624" cy="420624"/>
          </a:xfrm>
          <a:prstGeom prst="ellipse">
            <a:avLst/>
          </a:prstGeom>
          <a:solidFill>
            <a:srgbClr val="1B6B63"/>
          </a:solidFill>
          <a:ln w="12700">
            <a:solidFill>
              <a:srgbClr val="1B6B63"/>
            </a:solidFill>
            <a:prstDash val="solid"/>
          </a:ln>
        </p:spPr>
      </p:sp>
      <p:pic>
        <p:nvPicPr>
          <p:cNvPr id="9" name="Image 0" descr="preencoded.png">    </p:cNvPr>
          <p:cNvPicPr>
            <a:picLocks noChangeAspect="1"/>
          </p:cNvPicPr>
          <p:nvPr/>
        </p:nvPicPr>
        <p:blipFill>
          <a:blip r:embed="rId1"/>
          <a:stretch>
            <a:fillRect/>
          </a:stretch>
        </p:blipFill>
        <p:spPr>
          <a:xfrm>
            <a:off x="690372" y="2061972"/>
            <a:ext cx="210312" cy="210312"/>
          </a:xfrm>
          <a:prstGeom prst="rect">
            <a:avLst/>
          </a:prstGeom>
        </p:spPr>
      </p:pic>
      <p:sp>
        <p:nvSpPr>
          <p:cNvPr id="10" name="Text 7"/>
          <p:cNvSpPr txBox="1"/>
          <p:nvPr/>
        </p:nvSpPr>
        <p:spPr>
          <a:xfrm>
            <a:off x="1115568" y="1938528"/>
            <a:ext cx="1901952" cy="45720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De-identified cases</a:t>
            </a:r>
            <a:endParaRPr lang="en-US" sz="1150" dirty="0"/>
          </a:p>
        </p:txBody>
      </p:sp>
      <p:sp>
        <p:nvSpPr>
          <p:cNvPr id="11" name="Text 8"/>
          <p:cNvSpPr txBox="1"/>
          <p:nvPr/>
        </p:nvSpPr>
        <p:spPr>
          <a:xfrm>
            <a:off x="585216" y="2441448"/>
            <a:ext cx="2432304" cy="457200"/>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Built from real records with names, dates and identifiers removed</a:t>
            </a:r>
            <a:endParaRPr lang="en-US" sz="950" dirty="0"/>
          </a:p>
        </p:txBody>
      </p:sp>
      <p:sp>
        <p:nvSpPr>
          <p:cNvPr id="12" name="Shape 9"/>
          <p:cNvSpPr/>
          <p:nvPr/>
        </p:nvSpPr>
        <p:spPr>
          <a:xfrm>
            <a:off x="3246120" y="1828800"/>
            <a:ext cx="2651760" cy="1097280"/>
          </a:xfrm>
          <a:prstGeom prst="roundRect">
            <a:avLst>
              <a:gd name="adj" fmla="val 10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3" name="Shape 10"/>
          <p:cNvSpPr/>
          <p:nvPr/>
        </p:nvSpPr>
        <p:spPr>
          <a:xfrm>
            <a:off x="3374136" y="1956816"/>
            <a:ext cx="420624" cy="420624"/>
          </a:xfrm>
          <a:prstGeom prst="ellipse">
            <a:avLst/>
          </a:prstGeom>
          <a:solidFill>
            <a:srgbClr val="1B6B63"/>
          </a:solidFill>
          <a:ln w="12700">
            <a:solidFill>
              <a:srgbClr val="1B6B63"/>
            </a:solidFill>
            <a:prstDash val="solid"/>
          </a:ln>
        </p:spPr>
      </p:sp>
      <p:pic>
        <p:nvPicPr>
          <p:cNvPr id="14" name="Image 1" descr="preencoded.png">    </p:cNvPr>
          <p:cNvPicPr>
            <a:picLocks noChangeAspect="1"/>
          </p:cNvPicPr>
          <p:nvPr/>
        </p:nvPicPr>
        <p:blipFill>
          <a:blip r:embed="rId2"/>
          <a:stretch>
            <a:fillRect/>
          </a:stretch>
        </p:blipFill>
        <p:spPr>
          <a:xfrm>
            <a:off x="3479292" y="2061972"/>
            <a:ext cx="210312" cy="210312"/>
          </a:xfrm>
          <a:prstGeom prst="rect">
            <a:avLst/>
          </a:prstGeom>
        </p:spPr>
      </p:pic>
      <p:sp>
        <p:nvSpPr>
          <p:cNvPr id="15" name="Text 11"/>
          <p:cNvSpPr txBox="1"/>
          <p:nvPr/>
        </p:nvSpPr>
        <p:spPr>
          <a:xfrm>
            <a:off x="3904488" y="1938528"/>
            <a:ext cx="1901952" cy="45720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Socratic tutor</a:t>
            </a:r>
            <a:endParaRPr lang="en-US" sz="1150" dirty="0"/>
          </a:p>
        </p:txBody>
      </p:sp>
      <p:sp>
        <p:nvSpPr>
          <p:cNvPr id="16" name="Text 12"/>
          <p:cNvSpPr txBox="1"/>
          <p:nvPr/>
        </p:nvSpPr>
        <p:spPr>
          <a:xfrm>
            <a:off x="3374136" y="2441448"/>
            <a:ext cx="2432304" cy="457200"/>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Commit an answer, then the next findings are revealed</a:t>
            </a:r>
            <a:endParaRPr lang="en-US" sz="950" dirty="0"/>
          </a:p>
        </p:txBody>
      </p:sp>
      <p:sp>
        <p:nvSpPr>
          <p:cNvPr id="17" name="Shape 13"/>
          <p:cNvSpPr/>
          <p:nvPr/>
        </p:nvSpPr>
        <p:spPr>
          <a:xfrm>
            <a:off x="6035040" y="1828800"/>
            <a:ext cx="2651760" cy="1097280"/>
          </a:xfrm>
          <a:prstGeom prst="roundRect">
            <a:avLst>
              <a:gd name="adj" fmla="val 10000"/>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8" name="Shape 14"/>
          <p:cNvSpPr/>
          <p:nvPr/>
        </p:nvSpPr>
        <p:spPr>
          <a:xfrm>
            <a:off x="6163056" y="1956816"/>
            <a:ext cx="420624" cy="420624"/>
          </a:xfrm>
          <a:prstGeom prst="ellipse">
            <a:avLst/>
          </a:prstGeom>
          <a:solidFill>
            <a:srgbClr val="1B6B63"/>
          </a:solidFill>
          <a:ln w="12700">
            <a:solidFill>
              <a:srgbClr val="1B6B63"/>
            </a:solidFill>
            <a:prstDash val="solid"/>
          </a:ln>
        </p:spPr>
      </p:sp>
      <p:pic>
        <p:nvPicPr>
          <p:cNvPr id="19" name="Image 2" descr="preencoded.png">    </p:cNvPr>
          <p:cNvPicPr>
            <a:picLocks noChangeAspect="1"/>
          </p:cNvPicPr>
          <p:nvPr/>
        </p:nvPicPr>
        <p:blipFill>
          <a:blip r:embed="rId3"/>
          <a:stretch>
            <a:fillRect/>
          </a:stretch>
        </p:blipFill>
        <p:spPr>
          <a:xfrm>
            <a:off x="6268212" y="2061972"/>
            <a:ext cx="210312" cy="210312"/>
          </a:xfrm>
          <a:prstGeom prst="rect">
            <a:avLst/>
          </a:prstGeom>
        </p:spPr>
      </p:pic>
      <p:sp>
        <p:nvSpPr>
          <p:cNvPr id="20" name="Text 15"/>
          <p:cNvSpPr txBox="1"/>
          <p:nvPr/>
        </p:nvSpPr>
        <p:spPr>
          <a:xfrm>
            <a:off x="6693408" y="1938528"/>
            <a:ext cx="1901952" cy="457200"/>
          </a:xfrm>
          <a:prstGeom prst="rect">
            <a:avLst/>
          </a:prstGeom>
          <a:noFill/>
          <a:ln/>
        </p:spPr>
        <p:txBody>
          <a:bodyPr wrap="square" lIns="0" tIns="0" rIns="0" bIns="0" rtlCol="0" anchor="ctr"/>
          <a:lstStyle/>
          <a:p>
            <a:pPr indent="0" marL="0">
              <a:buNone/>
            </a:pPr>
            <a:r>
              <a:rPr lang="en-US" sz="1150" b="1" dirty="0">
                <a:solidFill>
                  <a:srgbClr val="111827"/>
                </a:solidFill>
                <a:latin typeface="Calibri" pitchFamily="34" charset="0"/>
                <a:ea typeface="Calibri" pitchFamily="34" charset="-122"/>
                <a:cs typeface="Calibri" pitchFamily="34" charset="-120"/>
              </a:rPr>
              <a:t>No patient access</a:t>
            </a:r>
            <a:endParaRPr lang="en-US" sz="1150" dirty="0"/>
          </a:p>
        </p:txBody>
      </p:sp>
      <p:sp>
        <p:nvSpPr>
          <p:cNvPr id="21" name="Text 16"/>
          <p:cNvSpPr txBox="1"/>
          <p:nvPr/>
        </p:nvSpPr>
        <p:spPr>
          <a:xfrm>
            <a:off x="6163056" y="2441448"/>
            <a:ext cx="2432304" cy="457200"/>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Tested on every patient route: students are always refused</a:t>
            </a:r>
            <a:endParaRPr lang="en-US" sz="950" dirty="0"/>
          </a:p>
        </p:txBody>
      </p:sp>
      <p:sp>
        <p:nvSpPr>
          <p:cNvPr id="22" name="Text 17"/>
          <p:cNvSpPr txBox="1"/>
          <p:nvPr/>
        </p:nvSpPr>
        <p:spPr>
          <a:xfrm>
            <a:off x="457200" y="3035808"/>
            <a:ext cx="2743200" cy="274320"/>
          </a:xfrm>
          <a:prstGeom prst="rect">
            <a:avLst/>
          </a:prstGeom>
          <a:noFill/>
          <a:ln/>
        </p:spPr>
        <p:txBody>
          <a:bodyPr wrap="square" lIns="0" tIns="0" rIns="0" bIns="0" rtlCol="0" anchor="t"/>
          <a:lstStyle/>
          <a:p>
            <a:pPr indent="0" marL="0">
              <a:buNone/>
            </a:pPr>
            <a:r>
              <a:rPr lang="en-US" sz="1200" b="1" dirty="0">
                <a:solidFill>
                  <a:srgbClr val="134E4A"/>
                </a:solidFill>
                <a:latin typeface="Calibri" pitchFamily="34" charset="0"/>
                <a:ea typeface="Calibri" pitchFamily="34" charset="-122"/>
                <a:cs typeface="Calibri" pitchFamily="34" charset="-120"/>
              </a:rPr>
              <a:t>Journey</a:t>
            </a:r>
            <a:endParaRPr lang="en-US" sz="1200" dirty="0"/>
          </a:p>
        </p:txBody>
      </p:sp>
      <p:sp>
        <p:nvSpPr>
          <p:cNvPr id="23" name="Shape 18"/>
          <p:cNvSpPr/>
          <p:nvPr/>
        </p:nvSpPr>
        <p:spPr>
          <a:xfrm>
            <a:off x="457200"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24" name="Text 19"/>
          <p:cNvSpPr txBox="1"/>
          <p:nvPr/>
        </p:nvSpPr>
        <p:spPr>
          <a:xfrm>
            <a:off x="566928"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1  Picks a case</a:t>
            </a:r>
            <a:endParaRPr lang="en-US" sz="1050" dirty="0"/>
          </a:p>
        </p:txBody>
      </p:sp>
      <p:sp>
        <p:nvSpPr>
          <p:cNvPr id="25" name="Shape 20"/>
          <p:cNvSpPr/>
          <p:nvPr/>
        </p:nvSpPr>
        <p:spPr>
          <a:xfrm>
            <a:off x="566928" y="3867912"/>
            <a:ext cx="921715" cy="237744"/>
          </a:xfrm>
          <a:prstGeom prst="roundRect">
            <a:avLst>
              <a:gd name="adj" fmla="val 50000"/>
            </a:avLst>
          </a:prstGeom>
          <a:solidFill>
            <a:srgbClr val="FFFFFF"/>
          </a:solidFill>
          <a:ln w="12700">
            <a:solidFill>
              <a:srgbClr val="FFFFFF"/>
            </a:solidFill>
            <a:prstDash val="solid"/>
          </a:ln>
        </p:spPr>
      </p:sp>
      <p:sp>
        <p:nvSpPr>
          <p:cNvPr id="26" name="Text 21"/>
          <p:cNvSpPr txBox="1"/>
          <p:nvPr/>
        </p:nvSpPr>
        <p:spPr>
          <a:xfrm>
            <a:off x="566928" y="3867912"/>
            <a:ext cx="921715"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Case library</a:t>
            </a:r>
            <a:endParaRPr lang="en-US" sz="850" dirty="0"/>
          </a:p>
        </p:txBody>
      </p:sp>
      <p:sp>
        <p:nvSpPr>
          <p:cNvPr id="27" name="Text 22"/>
          <p:cNvSpPr txBox="1"/>
          <p:nvPr/>
        </p:nvSpPr>
        <p:spPr>
          <a:xfrm>
            <a:off x="566928"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A de-identified cardiology case</a:t>
            </a:r>
            <a:endParaRPr lang="en-US" sz="900" dirty="0"/>
          </a:p>
        </p:txBody>
      </p:sp>
      <p:sp>
        <p:nvSpPr>
          <p:cNvPr id="28" name="Shape 23"/>
          <p:cNvSpPr/>
          <p:nvPr/>
        </p:nvSpPr>
        <p:spPr>
          <a:xfrm>
            <a:off x="1960474" y="3904488"/>
            <a:ext cx="164592" cy="237744"/>
          </a:xfrm>
          <a:prstGeom prst="rightArrow">
            <a:avLst/>
          </a:prstGeom>
          <a:solidFill>
            <a:srgbClr val="2A9D8F"/>
          </a:solidFill>
          <a:ln w="12700">
            <a:solidFill>
              <a:srgbClr val="2A9D8F"/>
            </a:solidFill>
            <a:prstDash val="solid"/>
          </a:ln>
        </p:spPr>
      </p:sp>
      <p:sp>
        <p:nvSpPr>
          <p:cNvPr id="29" name="Shape 24"/>
          <p:cNvSpPr/>
          <p:nvPr/>
        </p:nvSpPr>
        <p:spPr>
          <a:xfrm>
            <a:off x="2143354"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30" name="Text 25"/>
          <p:cNvSpPr txBox="1"/>
          <p:nvPr/>
        </p:nvSpPr>
        <p:spPr>
          <a:xfrm>
            <a:off x="2253082"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2  Commits a differential</a:t>
            </a:r>
            <a:endParaRPr lang="en-US" sz="1050" dirty="0"/>
          </a:p>
        </p:txBody>
      </p:sp>
      <p:sp>
        <p:nvSpPr>
          <p:cNvPr id="31" name="Shape 26"/>
          <p:cNvSpPr/>
          <p:nvPr/>
        </p:nvSpPr>
        <p:spPr>
          <a:xfrm>
            <a:off x="2253082" y="3867912"/>
            <a:ext cx="512064" cy="237744"/>
          </a:xfrm>
          <a:prstGeom prst="roundRect">
            <a:avLst>
              <a:gd name="adj" fmla="val 50000"/>
            </a:avLst>
          </a:prstGeom>
          <a:solidFill>
            <a:srgbClr val="FFFFFF"/>
          </a:solidFill>
          <a:ln w="12700">
            <a:solidFill>
              <a:srgbClr val="FFFFFF"/>
            </a:solidFill>
            <a:prstDash val="solid"/>
          </a:ln>
        </p:spPr>
      </p:sp>
      <p:sp>
        <p:nvSpPr>
          <p:cNvPr id="32" name="Text 27"/>
          <p:cNvSpPr txBox="1"/>
          <p:nvPr/>
        </p:nvSpPr>
        <p:spPr>
          <a:xfrm>
            <a:off x="2253082" y="3867912"/>
            <a:ext cx="512064"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Tutor</a:t>
            </a:r>
            <a:endParaRPr lang="en-US" sz="850" dirty="0"/>
          </a:p>
        </p:txBody>
      </p:sp>
      <p:sp>
        <p:nvSpPr>
          <p:cNvPr id="33" name="Text 28"/>
          <p:cNvSpPr txBox="1"/>
          <p:nvPr/>
        </p:nvSpPr>
        <p:spPr>
          <a:xfrm>
            <a:off x="2253082"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Before seeing the results</a:t>
            </a:r>
            <a:endParaRPr lang="en-US" sz="900" dirty="0"/>
          </a:p>
        </p:txBody>
      </p:sp>
      <p:sp>
        <p:nvSpPr>
          <p:cNvPr id="34" name="Shape 29"/>
          <p:cNvSpPr/>
          <p:nvPr/>
        </p:nvSpPr>
        <p:spPr>
          <a:xfrm>
            <a:off x="3646627" y="3904488"/>
            <a:ext cx="164592" cy="237744"/>
          </a:xfrm>
          <a:prstGeom prst="rightArrow">
            <a:avLst/>
          </a:prstGeom>
          <a:solidFill>
            <a:srgbClr val="2A9D8F"/>
          </a:solidFill>
          <a:ln w="12700">
            <a:solidFill>
              <a:srgbClr val="2A9D8F"/>
            </a:solidFill>
            <a:prstDash val="solid"/>
          </a:ln>
        </p:spPr>
      </p:sp>
      <p:sp>
        <p:nvSpPr>
          <p:cNvPr id="35" name="Shape 30"/>
          <p:cNvSpPr/>
          <p:nvPr/>
        </p:nvSpPr>
        <p:spPr>
          <a:xfrm>
            <a:off x="3829507"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36" name="Text 31"/>
          <p:cNvSpPr txBox="1"/>
          <p:nvPr/>
        </p:nvSpPr>
        <p:spPr>
          <a:xfrm>
            <a:off x="3939235"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3  Sees the next data</a:t>
            </a:r>
            <a:endParaRPr lang="en-US" sz="1050" dirty="0"/>
          </a:p>
        </p:txBody>
      </p:sp>
      <p:sp>
        <p:nvSpPr>
          <p:cNvPr id="37" name="Shape 32"/>
          <p:cNvSpPr/>
          <p:nvPr/>
        </p:nvSpPr>
        <p:spPr>
          <a:xfrm>
            <a:off x="3939235" y="3867912"/>
            <a:ext cx="512064" cy="237744"/>
          </a:xfrm>
          <a:prstGeom prst="roundRect">
            <a:avLst>
              <a:gd name="adj" fmla="val 50000"/>
            </a:avLst>
          </a:prstGeom>
          <a:solidFill>
            <a:srgbClr val="FFFFFF"/>
          </a:solidFill>
          <a:ln w="12700">
            <a:solidFill>
              <a:srgbClr val="FFFFFF"/>
            </a:solidFill>
            <a:prstDash val="solid"/>
          </a:ln>
        </p:spPr>
      </p:sp>
      <p:sp>
        <p:nvSpPr>
          <p:cNvPr id="38" name="Text 33"/>
          <p:cNvSpPr txBox="1"/>
          <p:nvPr/>
        </p:nvSpPr>
        <p:spPr>
          <a:xfrm>
            <a:off x="3939235" y="3867912"/>
            <a:ext cx="512064"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Tutor</a:t>
            </a:r>
            <a:endParaRPr lang="en-US" sz="850" dirty="0"/>
          </a:p>
        </p:txBody>
      </p:sp>
      <p:sp>
        <p:nvSpPr>
          <p:cNvPr id="39" name="Text 34"/>
          <p:cNvSpPr txBox="1"/>
          <p:nvPr/>
        </p:nvSpPr>
        <p:spPr>
          <a:xfrm>
            <a:off x="3939235"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Labs and ECG revealed with feedback</a:t>
            </a:r>
            <a:endParaRPr lang="en-US" sz="900" dirty="0"/>
          </a:p>
        </p:txBody>
      </p:sp>
      <p:sp>
        <p:nvSpPr>
          <p:cNvPr id="40" name="Shape 35"/>
          <p:cNvSpPr/>
          <p:nvPr/>
        </p:nvSpPr>
        <p:spPr>
          <a:xfrm>
            <a:off x="5332781" y="3904488"/>
            <a:ext cx="164592" cy="237744"/>
          </a:xfrm>
          <a:prstGeom prst="rightArrow">
            <a:avLst/>
          </a:prstGeom>
          <a:solidFill>
            <a:srgbClr val="2A9D8F"/>
          </a:solidFill>
          <a:ln w="12700">
            <a:solidFill>
              <a:srgbClr val="2A9D8F"/>
            </a:solidFill>
            <a:prstDash val="solid"/>
          </a:ln>
        </p:spPr>
      </p:sp>
      <p:sp>
        <p:nvSpPr>
          <p:cNvPr id="41" name="Shape 36"/>
          <p:cNvSpPr/>
          <p:nvPr/>
        </p:nvSpPr>
        <p:spPr>
          <a:xfrm>
            <a:off x="5515661"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42" name="Text 37"/>
          <p:cNvSpPr txBox="1"/>
          <p:nvPr/>
        </p:nvSpPr>
        <p:spPr>
          <a:xfrm>
            <a:off x="5625389"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4  Takes the quiz</a:t>
            </a:r>
            <a:endParaRPr lang="en-US" sz="1050" dirty="0"/>
          </a:p>
        </p:txBody>
      </p:sp>
      <p:sp>
        <p:nvSpPr>
          <p:cNvPr id="43" name="Shape 38"/>
          <p:cNvSpPr/>
          <p:nvPr/>
        </p:nvSpPr>
        <p:spPr>
          <a:xfrm>
            <a:off x="5625389" y="3867912"/>
            <a:ext cx="453542" cy="237744"/>
          </a:xfrm>
          <a:prstGeom prst="roundRect">
            <a:avLst>
              <a:gd name="adj" fmla="val 50000"/>
            </a:avLst>
          </a:prstGeom>
          <a:solidFill>
            <a:srgbClr val="FFFFFF"/>
          </a:solidFill>
          <a:ln w="12700">
            <a:solidFill>
              <a:srgbClr val="FFFFFF"/>
            </a:solidFill>
            <a:prstDash val="solid"/>
          </a:ln>
        </p:spPr>
      </p:sp>
      <p:sp>
        <p:nvSpPr>
          <p:cNvPr id="44" name="Text 39"/>
          <p:cNvSpPr txBox="1"/>
          <p:nvPr/>
        </p:nvSpPr>
        <p:spPr>
          <a:xfrm>
            <a:off x="5625389" y="3867912"/>
            <a:ext cx="453542"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Quiz</a:t>
            </a:r>
            <a:endParaRPr lang="en-US" sz="850" dirty="0"/>
          </a:p>
        </p:txBody>
      </p:sp>
      <p:sp>
        <p:nvSpPr>
          <p:cNvPr id="45" name="Text 40"/>
          <p:cNvSpPr txBox="1"/>
          <p:nvPr/>
        </p:nvSpPr>
        <p:spPr>
          <a:xfrm>
            <a:off x="5625389"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Questions from the case's own values</a:t>
            </a:r>
            <a:endParaRPr lang="en-US" sz="900" dirty="0"/>
          </a:p>
        </p:txBody>
      </p:sp>
      <p:sp>
        <p:nvSpPr>
          <p:cNvPr id="46" name="Shape 41"/>
          <p:cNvSpPr/>
          <p:nvPr/>
        </p:nvSpPr>
        <p:spPr>
          <a:xfrm>
            <a:off x="7018934" y="3904488"/>
            <a:ext cx="164592" cy="237744"/>
          </a:xfrm>
          <a:prstGeom prst="rightArrow">
            <a:avLst/>
          </a:prstGeom>
          <a:solidFill>
            <a:srgbClr val="2A9D8F"/>
          </a:solidFill>
          <a:ln w="12700">
            <a:solidFill>
              <a:srgbClr val="2A9D8F"/>
            </a:solidFill>
            <a:prstDash val="solid"/>
          </a:ln>
        </p:spPr>
      </p:sp>
      <p:sp>
        <p:nvSpPr>
          <p:cNvPr id="47" name="Shape 42"/>
          <p:cNvSpPr/>
          <p:nvPr/>
        </p:nvSpPr>
        <p:spPr>
          <a:xfrm>
            <a:off x="7201814" y="3337560"/>
            <a:ext cx="1484986" cy="1371600"/>
          </a:xfrm>
          <a:prstGeom prst="roundRect">
            <a:avLst>
              <a:gd name="adj" fmla="val 8000"/>
            </a:avLst>
          </a:prstGeom>
          <a:solidFill>
            <a:srgbClr val="E6F4F1"/>
          </a:solidFill>
          <a:ln w="9525">
            <a:solidFill>
              <a:srgbClr val="E6F4F1"/>
            </a:solidFill>
            <a:prstDash val="solid"/>
          </a:ln>
          <a:effectLst>
            <a:outerShdw sx="100000" sy="100000" kx="0" ky="0" algn="bl" rotWithShape="0" blurRad="76200" dist="19050" dir="5400000">
              <a:srgbClr val="000000">
                <a:alpha val="8000"/>
              </a:srgbClr>
            </a:outerShdw>
          </a:effectLst>
        </p:spPr>
      </p:sp>
      <p:sp>
        <p:nvSpPr>
          <p:cNvPr id="48" name="Text 43"/>
          <p:cNvSpPr txBox="1"/>
          <p:nvPr/>
        </p:nvSpPr>
        <p:spPr>
          <a:xfrm>
            <a:off x="7311542" y="3429000"/>
            <a:ext cx="1302106" cy="411480"/>
          </a:xfrm>
          <a:prstGeom prst="rect">
            <a:avLst/>
          </a:prstGeom>
          <a:noFill/>
          <a:ln/>
        </p:spPr>
        <p:txBody>
          <a:bodyPr wrap="square" lIns="0" tIns="0" rIns="0" bIns="0" rtlCol="0" anchor="t"/>
          <a:lstStyle/>
          <a:p>
            <a:pPr indent="0" marL="0">
              <a:buNone/>
            </a:pPr>
            <a:r>
              <a:rPr lang="en-US" sz="1050" b="1" dirty="0">
                <a:solidFill>
                  <a:srgbClr val="134E4A"/>
                </a:solidFill>
                <a:latin typeface="Calibri" pitchFamily="34" charset="0"/>
                <a:ea typeface="Calibri" pitchFamily="34" charset="-122"/>
                <a:cs typeface="Calibri" pitchFamily="34" charset="-120"/>
              </a:rPr>
              <a:t>5  Checks evidence</a:t>
            </a:r>
            <a:endParaRPr lang="en-US" sz="1050" dirty="0"/>
          </a:p>
        </p:txBody>
      </p:sp>
      <p:sp>
        <p:nvSpPr>
          <p:cNvPr id="49" name="Shape 44"/>
          <p:cNvSpPr/>
          <p:nvPr/>
        </p:nvSpPr>
        <p:spPr>
          <a:xfrm>
            <a:off x="7311542" y="3867912"/>
            <a:ext cx="1097280" cy="237744"/>
          </a:xfrm>
          <a:prstGeom prst="roundRect">
            <a:avLst>
              <a:gd name="adj" fmla="val 50000"/>
            </a:avLst>
          </a:prstGeom>
          <a:solidFill>
            <a:srgbClr val="FFFFFF"/>
          </a:solidFill>
          <a:ln w="12700">
            <a:solidFill>
              <a:srgbClr val="FFFFFF"/>
            </a:solidFill>
            <a:prstDash val="solid"/>
          </a:ln>
        </p:spPr>
      </p:sp>
      <p:sp>
        <p:nvSpPr>
          <p:cNvPr id="50" name="Text 45"/>
          <p:cNvSpPr txBox="1"/>
          <p:nvPr/>
        </p:nvSpPr>
        <p:spPr>
          <a:xfrm>
            <a:off x="7311542" y="3867912"/>
            <a:ext cx="1097280" cy="237744"/>
          </a:xfrm>
          <a:prstGeom prst="rect">
            <a:avLst/>
          </a:prstGeom>
          <a:noFill/>
          <a:ln/>
        </p:spPr>
        <p:txBody>
          <a:bodyPr wrap="square" lIns="0" tIns="0" rIns="0" bIns="0" rtlCol="0" anchor="ctr"/>
          <a:lstStyle/>
          <a:p>
            <a:pPr algn="ctr" indent="0" marL="0">
              <a:buNone/>
            </a:pPr>
            <a:r>
              <a:rPr lang="en-US" sz="850" b="1" dirty="0">
                <a:solidFill>
                  <a:srgbClr val="134E4A"/>
                </a:solidFill>
                <a:latin typeface="Calibri" pitchFamily="34" charset="0"/>
                <a:ea typeface="Calibri" pitchFamily="34" charset="-122"/>
                <a:cs typeface="Calibri" pitchFamily="34" charset="-120"/>
              </a:rPr>
              <a:t>Evidence search</a:t>
            </a:r>
            <a:endParaRPr lang="en-US" sz="850" dirty="0"/>
          </a:p>
        </p:txBody>
      </p:sp>
      <p:sp>
        <p:nvSpPr>
          <p:cNvPr id="51" name="Text 46"/>
          <p:cNvSpPr txBox="1"/>
          <p:nvPr/>
        </p:nvSpPr>
        <p:spPr>
          <a:xfrm>
            <a:off x="7311542" y="4160520"/>
            <a:ext cx="1302106" cy="51206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Guidelines behind the answer</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One event, every persona in step</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Maya's high reading, seen from each side</a:t>
            </a:r>
            <a:endParaRPr lang="en-US" sz="1300" dirty="0"/>
          </a:p>
        </p:txBody>
      </p:sp>
      <p:sp>
        <p:nvSpPr>
          <p:cNvPr id="4" name="Shape 2"/>
          <p:cNvSpPr/>
          <p:nvPr/>
        </p:nvSpPr>
        <p:spPr>
          <a:xfrm>
            <a:off x="457200" y="1280160"/>
            <a:ext cx="8229600" cy="484632"/>
          </a:xfrm>
          <a:prstGeom prst="roundRect">
            <a:avLst>
              <a:gd name="adj" fmla="val 22642"/>
            </a:avLst>
          </a:prstGeom>
          <a:solidFill>
            <a:srgbClr val="F5F7F8"/>
          </a:solidFill>
          <a:ln w="9525">
            <a:solidFill>
              <a:srgbClr val="F5F7F8"/>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548640" y="1325880"/>
            <a:ext cx="393192" cy="393192"/>
          </a:xfrm>
          <a:prstGeom prst="ellipse">
            <a:avLst/>
          </a:prstGeom>
          <a:solidFill>
            <a:srgbClr val="1B6B63"/>
          </a:solidFill>
          <a:ln w="25400">
            <a:solidFill>
              <a:srgbClr val="FFFFFF"/>
            </a:solidFill>
            <a:prstDash val="solid"/>
          </a:ln>
        </p:spPr>
      </p:sp>
      <p:sp>
        <p:nvSpPr>
          <p:cNvPr id="6" name="Text 4"/>
          <p:cNvSpPr txBox="1"/>
          <p:nvPr/>
        </p:nvSpPr>
        <p:spPr>
          <a:xfrm>
            <a:off x="548640" y="1325880"/>
            <a:ext cx="393192" cy="393192"/>
          </a:xfrm>
          <a:prstGeom prst="rect">
            <a:avLst/>
          </a:prstGeom>
          <a:noFill/>
          <a:ln/>
        </p:spPr>
        <p:txBody>
          <a:bodyPr wrap="square" lIns="0" tIns="0" rIns="0" bIns="0" rtlCol="0" anchor="ctr"/>
          <a:lstStyle/>
          <a:p>
            <a:pPr algn="ctr" indent="0" marL="0">
              <a:buNone/>
            </a:pPr>
            <a:r>
              <a:rPr lang="en-US" sz="946" b="1" dirty="0">
                <a:solidFill>
                  <a:srgbClr val="FFFFFF"/>
                </a:solidFill>
                <a:latin typeface="Calibri" pitchFamily="34" charset="0"/>
                <a:ea typeface="Calibri" pitchFamily="34" charset="-122"/>
                <a:cs typeface="Calibri" pitchFamily="34" charset="-120"/>
              </a:rPr>
              <a:t>MT</a:t>
            </a:r>
            <a:endParaRPr lang="en-US" sz="946" dirty="0"/>
          </a:p>
        </p:txBody>
      </p:sp>
      <p:sp>
        <p:nvSpPr>
          <p:cNvPr id="7" name="Text 5"/>
          <p:cNvSpPr txBox="1"/>
          <p:nvPr/>
        </p:nvSpPr>
        <p:spPr>
          <a:xfrm>
            <a:off x="1051560" y="1316736"/>
            <a:ext cx="1463040" cy="41148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Maya</a:t>
            </a:r>
            <a:endParaRPr lang="en-US" sz="1200" dirty="0"/>
          </a:p>
        </p:txBody>
      </p:sp>
      <p:sp>
        <p:nvSpPr>
          <p:cNvPr id="8" name="Text 6"/>
          <p:cNvSpPr txBox="1"/>
          <p:nvPr/>
        </p:nvSpPr>
        <p:spPr>
          <a:xfrm>
            <a:off x="2514600" y="1316736"/>
            <a:ext cx="6080760" cy="41148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Snaps 186/121 · sees safety guidance · books a video consult · gets medicine and reminders</a:t>
            </a:r>
            <a:endParaRPr lang="en-US" sz="1100" dirty="0"/>
          </a:p>
        </p:txBody>
      </p:sp>
      <p:sp>
        <p:nvSpPr>
          <p:cNvPr id="9" name="Shape 7"/>
          <p:cNvSpPr/>
          <p:nvPr/>
        </p:nvSpPr>
        <p:spPr>
          <a:xfrm>
            <a:off x="457200" y="1856232"/>
            <a:ext cx="8229600" cy="484632"/>
          </a:xfrm>
          <a:prstGeom prst="roundRect">
            <a:avLst>
              <a:gd name="adj" fmla="val 2264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10" name="Shape 8"/>
          <p:cNvSpPr/>
          <p:nvPr/>
        </p:nvSpPr>
        <p:spPr>
          <a:xfrm>
            <a:off x="548640" y="1901952"/>
            <a:ext cx="393192" cy="393192"/>
          </a:xfrm>
          <a:prstGeom prst="ellipse">
            <a:avLst/>
          </a:prstGeom>
          <a:solidFill>
            <a:srgbClr val="134E4A"/>
          </a:solidFill>
          <a:ln w="25400">
            <a:solidFill>
              <a:srgbClr val="FFFFFF"/>
            </a:solidFill>
            <a:prstDash val="solid"/>
          </a:ln>
        </p:spPr>
      </p:sp>
      <p:sp>
        <p:nvSpPr>
          <p:cNvPr id="11" name="Text 9"/>
          <p:cNvSpPr txBox="1"/>
          <p:nvPr/>
        </p:nvSpPr>
        <p:spPr>
          <a:xfrm>
            <a:off x="548640" y="1901952"/>
            <a:ext cx="393192" cy="393192"/>
          </a:xfrm>
          <a:prstGeom prst="rect">
            <a:avLst/>
          </a:prstGeom>
          <a:noFill/>
          <a:ln/>
        </p:spPr>
        <p:txBody>
          <a:bodyPr wrap="square" lIns="0" tIns="0" rIns="0" bIns="0" rtlCol="0" anchor="ctr"/>
          <a:lstStyle/>
          <a:p>
            <a:pPr algn="ctr" indent="0" marL="0">
              <a:buNone/>
            </a:pPr>
            <a:r>
              <a:rPr lang="en-US" sz="946" b="1" dirty="0">
                <a:solidFill>
                  <a:srgbClr val="FFFFFF"/>
                </a:solidFill>
                <a:latin typeface="Calibri" pitchFamily="34" charset="0"/>
                <a:ea typeface="Calibri" pitchFamily="34" charset="-122"/>
                <a:cs typeface="Calibri" pitchFamily="34" charset="-120"/>
              </a:rPr>
              <a:t>AO</a:t>
            </a:r>
            <a:endParaRPr lang="en-US" sz="946" dirty="0"/>
          </a:p>
        </p:txBody>
      </p:sp>
      <p:sp>
        <p:nvSpPr>
          <p:cNvPr id="12" name="Text 10"/>
          <p:cNvSpPr txBox="1"/>
          <p:nvPr/>
        </p:nvSpPr>
        <p:spPr>
          <a:xfrm>
            <a:off x="1051560" y="1892808"/>
            <a:ext cx="1463040" cy="41148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Dr. Okafor</a:t>
            </a:r>
            <a:endParaRPr lang="en-US" sz="1200" dirty="0"/>
          </a:p>
        </p:txBody>
      </p:sp>
      <p:sp>
        <p:nvSpPr>
          <p:cNvPr id="13" name="Text 11"/>
          <p:cNvSpPr txBox="1"/>
          <p:nvPr/>
        </p:nvSpPr>
        <p:spPr>
          <a:xfrm>
            <a:off x="2514600" y="1892808"/>
            <a:ext cx="6080760" cy="41148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Urgent item at the top of her queue · sets a monitoring plan · consults · prescribes</a:t>
            </a:r>
            <a:endParaRPr lang="en-US" sz="1100" dirty="0"/>
          </a:p>
        </p:txBody>
      </p:sp>
      <p:sp>
        <p:nvSpPr>
          <p:cNvPr id="14" name="Shape 12"/>
          <p:cNvSpPr/>
          <p:nvPr/>
        </p:nvSpPr>
        <p:spPr>
          <a:xfrm>
            <a:off x="457200" y="2432304"/>
            <a:ext cx="8229600" cy="484632"/>
          </a:xfrm>
          <a:prstGeom prst="roundRect">
            <a:avLst>
              <a:gd name="adj" fmla="val 22642"/>
            </a:avLst>
          </a:prstGeom>
          <a:solidFill>
            <a:srgbClr val="F5F7F8"/>
          </a:solidFill>
          <a:ln w="9525">
            <a:solidFill>
              <a:srgbClr val="F5F7F8"/>
            </a:solidFill>
            <a:prstDash val="solid"/>
          </a:ln>
          <a:effectLst>
            <a:outerShdw sx="100000" sy="100000" kx="0" ky="0" algn="bl" rotWithShape="0" blurRad="76200" dist="19050" dir="5400000">
              <a:srgbClr val="000000">
                <a:alpha val="8000"/>
              </a:srgbClr>
            </a:outerShdw>
          </a:effectLst>
        </p:spPr>
      </p:sp>
      <p:sp>
        <p:nvSpPr>
          <p:cNvPr id="15" name="Shape 13"/>
          <p:cNvSpPr/>
          <p:nvPr/>
        </p:nvSpPr>
        <p:spPr>
          <a:xfrm>
            <a:off x="548640" y="2478024"/>
            <a:ext cx="393192" cy="393192"/>
          </a:xfrm>
          <a:prstGeom prst="ellipse">
            <a:avLst/>
          </a:prstGeom>
          <a:solidFill>
            <a:srgbClr val="0F766E"/>
          </a:solidFill>
          <a:ln w="25400">
            <a:solidFill>
              <a:srgbClr val="FFFFFF"/>
            </a:solidFill>
            <a:prstDash val="solid"/>
          </a:ln>
        </p:spPr>
      </p:sp>
      <p:sp>
        <p:nvSpPr>
          <p:cNvPr id="16" name="Text 14"/>
          <p:cNvSpPr txBox="1"/>
          <p:nvPr/>
        </p:nvSpPr>
        <p:spPr>
          <a:xfrm>
            <a:off x="548640" y="2478024"/>
            <a:ext cx="393192" cy="393192"/>
          </a:xfrm>
          <a:prstGeom prst="rect">
            <a:avLst/>
          </a:prstGeom>
          <a:noFill/>
          <a:ln/>
        </p:spPr>
        <p:txBody>
          <a:bodyPr wrap="square" lIns="0" tIns="0" rIns="0" bIns="0" rtlCol="0" anchor="ctr"/>
          <a:lstStyle/>
          <a:p>
            <a:pPr algn="ctr" indent="0" marL="0">
              <a:buNone/>
            </a:pPr>
            <a:r>
              <a:rPr lang="en-US" sz="946" b="1" dirty="0">
                <a:solidFill>
                  <a:srgbClr val="FFFFFF"/>
                </a:solidFill>
                <a:latin typeface="Calibri" pitchFamily="34" charset="0"/>
                <a:ea typeface="Calibri" pitchFamily="34" charset="-122"/>
                <a:cs typeface="Calibri" pitchFamily="34" charset="-120"/>
              </a:rPr>
              <a:t>LM</a:t>
            </a:r>
            <a:endParaRPr lang="en-US" sz="946" dirty="0"/>
          </a:p>
        </p:txBody>
      </p:sp>
      <p:sp>
        <p:nvSpPr>
          <p:cNvPr id="17" name="Text 15"/>
          <p:cNvSpPr txBox="1"/>
          <p:nvPr/>
        </p:nvSpPr>
        <p:spPr>
          <a:xfrm>
            <a:off x="1051560" y="2468880"/>
            <a:ext cx="1463040" cy="41148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Lena</a:t>
            </a:r>
            <a:endParaRPr lang="en-US" sz="1200" dirty="0"/>
          </a:p>
        </p:txBody>
      </p:sp>
      <p:sp>
        <p:nvSpPr>
          <p:cNvPr id="18" name="Text 16"/>
          <p:cNvSpPr txBox="1"/>
          <p:nvPr/>
        </p:nvSpPr>
        <p:spPr>
          <a:xfrm>
            <a:off x="2514600" y="2468880"/>
            <a:ext cx="6080760" cy="41148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Verifies the new prescription · checks interactions and allergies · dispatches</a:t>
            </a:r>
            <a:endParaRPr lang="en-US" sz="1100" dirty="0"/>
          </a:p>
        </p:txBody>
      </p:sp>
      <p:sp>
        <p:nvSpPr>
          <p:cNvPr id="19" name="Shape 17"/>
          <p:cNvSpPr/>
          <p:nvPr/>
        </p:nvSpPr>
        <p:spPr>
          <a:xfrm>
            <a:off x="457200" y="3008376"/>
            <a:ext cx="8229600" cy="484632"/>
          </a:xfrm>
          <a:prstGeom prst="roundRect">
            <a:avLst>
              <a:gd name="adj" fmla="val 2264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20" name="Shape 18"/>
          <p:cNvSpPr/>
          <p:nvPr/>
        </p:nvSpPr>
        <p:spPr>
          <a:xfrm>
            <a:off x="548640" y="3054096"/>
            <a:ext cx="393192" cy="393192"/>
          </a:xfrm>
          <a:prstGeom prst="ellipse">
            <a:avLst/>
          </a:prstGeom>
          <a:solidFill>
            <a:srgbClr val="B45309"/>
          </a:solidFill>
          <a:ln w="25400">
            <a:solidFill>
              <a:srgbClr val="FFFFFF"/>
            </a:solidFill>
            <a:prstDash val="solid"/>
          </a:ln>
        </p:spPr>
      </p:sp>
      <p:sp>
        <p:nvSpPr>
          <p:cNvPr id="21" name="Text 19"/>
          <p:cNvSpPr txBox="1"/>
          <p:nvPr/>
        </p:nvSpPr>
        <p:spPr>
          <a:xfrm>
            <a:off x="548640" y="3054096"/>
            <a:ext cx="393192" cy="393192"/>
          </a:xfrm>
          <a:prstGeom prst="rect">
            <a:avLst/>
          </a:prstGeom>
          <a:noFill/>
          <a:ln/>
        </p:spPr>
        <p:txBody>
          <a:bodyPr wrap="square" lIns="0" tIns="0" rIns="0" bIns="0" rtlCol="0" anchor="ctr"/>
          <a:lstStyle/>
          <a:p>
            <a:pPr algn="ctr" indent="0" marL="0">
              <a:buNone/>
            </a:pPr>
            <a:r>
              <a:rPr lang="en-US" sz="946" b="1" dirty="0">
                <a:solidFill>
                  <a:srgbClr val="FFFFFF"/>
                </a:solidFill>
                <a:latin typeface="Calibri" pitchFamily="34" charset="0"/>
                <a:ea typeface="Calibri" pitchFamily="34" charset="-122"/>
                <a:cs typeface="Calibri" pitchFamily="34" charset="-120"/>
              </a:rPr>
              <a:t>FD</a:t>
            </a:r>
            <a:endParaRPr lang="en-US" sz="946" dirty="0"/>
          </a:p>
        </p:txBody>
      </p:sp>
      <p:sp>
        <p:nvSpPr>
          <p:cNvPr id="22" name="Text 20"/>
          <p:cNvSpPr txBox="1"/>
          <p:nvPr/>
        </p:nvSpPr>
        <p:spPr>
          <a:xfrm>
            <a:off x="1051560" y="3044952"/>
            <a:ext cx="1463040" cy="41148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Front desk</a:t>
            </a:r>
            <a:endParaRPr lang="en-US" sz="1200" dirty="0"/>
          </a:p>
        </p:txBody>
      </p:sp>
      <p:sp>
        <p:nvSpPr>
          <p:cNvPr id="23" name="Text 21"/>
          <p:cNvSpPr txBox="1"/>
          <p:nvPr/>
        </p:nvSpPr>
        <p:spPr>
          <a:xfrm>
            <a:off x="2514600" y="3044952"/>
            <a:ext cx="6080760" cy="41148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Eligibility confirmed before the follow-up visit · claim sent after it</a:t>
            </a:r>
            <a:endParaRPr lang="en-US" sz="1100" dirty="0"/>
          </a:p>
        </p:txBody>
      </p:sp>
      <p:sp>
        <p:nvSpPr>
          <p:cNvPr id="24" name="Shape 22"/>
          <p:cNvSpPr/>
          <p:nvPr/>
        </p:nvSpPr>
        <p:spPr>
          <a:xfrm>
            <a:off x="457200" y="3584448"/>
            <a:ext cx="8229600" cy="484632"/>
          </a:xfrm>
          <a:prstGeom prst="roundRect">
            <a:avLst>
              <a:gd name="adj" fmla="val 22642"/>
            </a:avLst>
          </a:prstGeom>
          <a:solidFill>
            <a:srgbClr val="F5F7F8"/>
          </a:solidFill>
          <a:ln w="9525">
            <a:solidFill>
              <a:srgbClr val="F5F7F8"/>
            </a:solidFill>
            <a:prstDash val="solid"/>
          </a:ln>
          <a:effectLst>
            <a:outerShdw sx="100000" sy="100000" kx="0" ky="0" algn="bl" rotWithShape="0" blurRad="76200" dist="19050" dir="5400000">
              <a:srgbClr val="000000">
                <a:alpha val="8000"/>
              </a:srgbClr>
            </a:outerShdw>
          </a:effectLst>
        </p:spPr>
      </p:sp>
      <p:sp>
        <p:nvSpPr>
          <p:cNvPr id="25" name="Shape 23"/>
          <p:cNvSpPr/>
          <p:nvPr/>
        </p:nvSpPr>
        <p:spPr>
          <a:xfrm>
            <a:off x="548640" y="3630168"/>
            <a:ext cx="393192" cy="393192"/>
          </a:xfrm>
          <a:prstGeom prst="ellipse">
            <a:avLst/>
          </a:prstGeom>
          <a:solidFill>
            <a:srgbClr val="0369A1"/>
          </a:solidFill>
          <a:ln w="25400">
            <a:solidFill>
              <a:srgbClr val="FFFFFF"/>
            </a:solidFill>
            <a:prstDash val="solid"/>
          </a:ln>
        </p:spPr>
      </p:sp>
      <p:sp>
        <p:nvSpPr>
          <p:cNvPr id="26" name="Text 24"/>
          <p:cNvSpPr txBox="1"/>
          <p:nvPr/>
        </p:nvSpPr>
        <p:spPr>
          <a:xfrm>
            <a:off x="548640" y="3630168"/>
            <a:ext cx="393192" cy="393192"/>
          </a:xfrm>
          <a:prstGeom prst="rect">
            <a:avLst/>
          </a:prstGeom>
          <a:noFill/>
          <a:ln/>
        </p:spPr>
        <p:txBody>
          <a:bodyPr wrap="square" lIns="0" tIns="0" rIns="0" bIns="0" rtlCol="0" anchor="ctr"/>
          <a:lstStyle/>
          <a:p>
            <a:pPr algn="ctr" indent="0" marL="0">
              <a:buNone/>
            </a:pPr>
            <a:r>
              <a:rPr lang="en-US" sz="946" b="1" dirty="0">
                <a:solidFill>
                  <a:srgbClr val="FFFFFF"/>
                </a:solidFill>
                <a:latin typeface="Calibri" pitchFamily="34" charset="0"/>
                <a:ea typeface="Calibri" pitchFamily="34" charset="-122"/>
                <a:cs typeface="Calibri" pitchFamily="34" charset="-120"/>
              </a:rPr>
              <a:t>DT</a:t>
            </a:r>
            <a:endParaRPr lang="en-US" sz="946" dirty="0"/>
          </a:p>
        </p:txBody>
      </p:sp>
      <p:sp>
        <p:nvSpPr>
          <p:cNvPr id="27" name="Text 25"/>
          <p:cNvSpPr txBox="1"/>
          <p:nvPr/>
        </p:nvSpPr>
        <p:spPr>
          <a:xfrm>
            <a:off x="1051560" y="3621024"/>
            <a:ext cx="1463040" cy="41148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David</a:t>
            </a:r>
            <a:endParaRPr lang="en-US" sz="1200" dirty="0"/>
          </a:p>
        </p:txBody>
      </p:sp>
      <p:sp>
        <p:nvSpPr>
          <p:cNvPr id="28" name="Text 26"/>
          <p:cNvSpPr txBox="1"/>
          <p:nvPr/>
        </p:nvSpPr>
        <p:spPr>
          <a:xfrm>
            <a:off x="2514600" y="3621024"/>
            <a:ext cx="6080760" cy="41148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Sees the new appointment and reminder that Maya shared with him</a:t>
            </a:r>
            <a:endParaRPr lang="en-US" sz="1100" dirty="0"/>
          </a:p>
        </p:txBody>
      </p:sp>
      <p:sp>
        <p:nvSpPr>
          <p:cNvPr id="29" name="Shape 27"/>
          <p:cNvSpPr/>
          <p:nvPr/>
        </p:nvSpPr>
        <p:spPr>
          <a:xfrm>
            <a:off x="457200" y="4160520"/>
            <a:ext cx="8229600" cy="484632"/>
          </a:xfrm>
          <a:prstGeom prst="roundRect">
            <a:avLst>
              <a:gd name="adj" fmla="val 22642"/>
            </a:avLst>
          </a:prstGeom>
          <a:solidFill>
            <a:srgbClr val="FFFFFF"/>
          </a:solidFill>
          <a:ln w="9525">
            <a:solidFill>
              <a:srgbClr val="E5E7EB"/>
            </a:solidFill>
            <a:prstDash val="solid"/>
          </a:ln>
          <a:effectLst>
            <a:outerShdw sx="100000" sy="100000" kx="0" ky="0" algn="bl" rotWithShape="0" blurRad="76200" dist="19050" dir="5400000">
              <a:srgbClr val="000000">
                <a:alpha val="8000"/>
              </a:srgbClr>
            </a:outerShdw>
          </a:effectLst>
        </p:spPr>
      </p:sp>
      <p:sp>
        <p:nvSpPr>
          <p:cNvPr id="30" name="Shape 28"/>
          <p:cNvSpPr/>
          <p:nvPr/>
        </p:nvSpPr>
        <p:spPr>
          <a:xfrm>
            <a:off x="548640" y="4206240"/>
            <a:ext cx="393192" cy="393192"/>
          </a:xfrm>
          <a:prstGeom prst="ellipse">
            <a:avLst/>
          </a:prstGeom>
          <a:solidFill>
            <a:srgbClr val="374151"/>
          </a:solidFill>
          <a:ln w="25400">
            <a:solidFill>
              <a:srgbClr val="FFFFFF"/>
            </a:solidFill>
            <a:prstDash val="solid"/>
          </a:ln>
        </p:spPr>
      </p:sp>
      <p:sp>
        <p:nvSpPr>
          <p:cNvPr id="31" name="Text 29"/>
          <p:cNvSpPr txBox="1"/>
          <p:nvPr/>
        </p:nvSpPr>
        <p:spPr>
          <a:xfrm>
            <a:off x="548640" y="4206240"/>
            <a:ext cx="393192" cy="393192"/>
          </a:xfrm>
          <a:prstGeom prst="rect">
            <a:avLst/>
          </a:prstGeom>
          <a:noFill/>
          <a:ln/>
        </p:spPr>
        <p:txBody>
          <a:bodyPr wrap="square" lIns="0" tIns="0" rIns="0" bIns="0" rtlCol="0" anchor="ctr"/>
          <a:lstStyle/>
          <a:p>
            <a:pPr algn="ctr" indent="0" marL="0">
              <a:buNone/>
            </a:pPr>
            <a:r>
              <a:rPr lang="en-US" sz="946" b="1" dirty="0">
                <a:solidFill>
                  <a:srgbClr val="FFFFFF"/>
                </a:solidFill>
                <a:latin typeface="Calibri" pitchFamily="34" charset="0"/>
                <a:ea typeface="Calibri" pitchFamily="34" charset="-122"/>
                <a:cs typeface="Calibri" pitchFamily="34" charset="-120"/>
              </a:rPr>
              <a:t>NO</a:t>
            </a:r>
            <a:endParaRPr lang="en-US" sz="946" dirty="0"/>
          </a:p>
        </p:txBody>
      </p:sp>
      <p:sp>
        <p:nvSpPr>
          <p:cNvPr id="32" name="Text 30"/>
          <p:cNvSpPr txBox="1"/>
          <p:nvPr/>
        </p:nvSpPr>
        <p:spPr>
          <a:xfrm>
            <a:off x="1051560" y="4197096"/>
            <a:ext cx="1463040" cy="41148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Administrators</a:t>
            </a:r>
            <a:endParaRPr lang="en-US" sz="1200" dirty="0"/>
          </a:p>
        </p:txBody>
      </p:sp>
      <p:sp>
        <p:nvSpPr>
          <p:cNvPr id="33" name="Text 31"/>
          <p:cNvSpPr txBox="1"/>
          <p:nvPr/>
        </p:nvSpPr>
        <p:spPr>
          <a:xfrm>
            <a:off x="2514600" y="4197096"/>
            <a:ext cx="6080760" cy="41148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Everything recorded in the audit trail · AI agents' activity visible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8"/>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Value, and how to measure it in a pilot</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Benefits to prove with your own data, not promises</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463040"/>
                <a:gridCol w="2926080"/>
                <a:gridCol w="3840480"/>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Persona</a:t>
                      </a:r>
                      <a:endParaRPr lang="en-US" sz="11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6B6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Primary value</a:t>
                      </a:r>
                      <a:endParaRPr lang="en-US" sz="11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6B6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Measure in a pilot</a:t>
                      </a:r>
                      <a:endParaRPr lang="en-US" sz="11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6B63"/>
                    </a:solidFill>
                  </a:tcPr>
                </a:tc>
              </a:tr>
              <a:tr h="402336">
                <a:tc>
                  <a:txBody>
                    <a:bodyPr/>
                    <a:lstStyle/>
                    <a:p>
                      <a:pPr indent="0" marL="0">
                        <a:buNone/>
                      </a:pPr>
                      <a:r>
                        <a:rPr lang="en-US" sz="1050" b="1" dirty="0">
                          <a:solidFill>
                            <a:srgbClr val="134E4A"/>
                          </a:solidFill>
                          <a:latin typeface="Calibri" pitchFamily="34" charset="0"/>
                          <a:ea typeface="Calibri" pitchFamily="34" charset="-122"/>
                          <a:cs typeface="Calibri" pitchFamily="34" charset="-120"/>
                        </a:rPr>
                        <a:t>Patients</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50" dirty="0">
                          <a:solidFill>
                            <a:srgbClr val="111827"/>
                          </a:solidFill>
                          <a:latin typeface="Calibri" pitchFamily="34" charset="0"/>
                          <a:ea typeface="Calibri" pitchFamily="34" charset="-122"/>
                          <a:cs typeface="Calibri" pitchFamily="34" charset="-120"/>
                        </a:rPr>
                        <a:t>Answers and care without phone tag</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50" dirty="0">
                          <a:solidFill>
                            <a:srgbClr val="111827"/>
                          </a:solidFill>
                          <a:latin typeface="Calibri" pitchFamily="34" charset="0"/>
                          <a:ea typeface="Calibri" pitchFamily="34" charset="-122"/>
                          <a:cs typeface="Calibri" pitchFamily="34" charset="-120"/>
                        </a:rPr>
                        <a:t>Invite-to-joined rate, calls to the clinic, time to first answer</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050" b="1" dirty="0">
                          <a:solidFill>
                            <a:srgbClr val="134E4A"/>
                          </a:solidFill>
                          <a:latin typeface="Calibri" pitchFamily="34" charset="0"/>
                          <a:ea typeface="Calibri" pitchFamily="34" charset="-122"/>
                          <a:cs typeface="Calibri" pitchFamily="34" charset="-120"/>
                        </a:rPr>
                        <a:t>Older patients</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050" dirty="0">
                          <a:solidFill>
                            <a:srgbClr val="111827"/>
                          </a:solidFill>
                          <a:latin typeface="Calibri" pitchFamily="34" charset="0"/>
                          <a:ea typeface="Calibri" pitchFamily="34" charset="-122"/>
                          <a:cs typeface="Calibri" pitchFamily="34" charset="-120"/>
                        </a:rPr>
                        <a:t>Independent use with safety checks</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050" dirty="0">
                          <a:solidFill>
                            <a:srgbClr val="111827"/>
                          </a:solidFill>
                          <a:latin typeface="Calibri" pitchFamily="34" charset="0"/>
                          <a:ea typeface="Calibri" pitchFamily="34" charset="-122"/>
                          <a:cs typeface="Calibri" pitchFamily="34" charset="-120"/>
                        </a:rPr>
                        <a:t>Share of senior-mode users completing tasks unaided</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r>
              <a:tr h="402336">
                <a:tc>
                  <a:txBody>
                    <a:bodyPr/>
                    <a:lstStyle/>
                    <a:p>
                      <a:pPr indent="0" marL="0">
                        <a:buNone/>
                      </a:pPr>
                      <a:r>
                        <a:rPr lang="en-US" sz="1050" b="1" dirty="0">
                          <a:solidFill>
                            <a:srgbClr val="134E4A"/>
                          </a:solidFill>
                          <a:latin typeface="Calibri" pitchFamily="34" charset="0"/>
                          <a:ea typeface="Calibri" pitchFamily="34" charset="-122"/>
                          <a:cs typeface="Calibri" pitchFamily="34" charset="-120"/>
                        </a:rPr>
                        <a:t>Clinicians</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50" dirty="0">
                          <a:solidFill>
                            <a:srgbClr val="111827"/>
                          </a:solidFill>
                          <a:latin typeface="Calibri" pitchFamily="34" charset="0"/>
                          <a:ea typeface="Calibri" pitchFamily="34" charset="-122"/>
                          <a:cs typeface="Calibri" pitchFamily="34" charset="-120"/>
                        </a:rPr>
                        <a:t>Context first, urgent first, approve not draft</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50" dirty="0">
                          <a:solidFill>
                            <a:srgbClr val="111827"/>
                          </a:solidFill>
                          <a:latin typeface="Calibri" pitchFamily="34" charset="0"/>
                          <a:ea typeface="Calibri" pitchFamily="34" charset="-122"/>
                          <a:cs typeface="Calibri" pitchFamily="34" charset="-120"/>
                        </a:rPr>
                        <a:t>Prep time per visit, time to act on critical readings, fill rate</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050" b="1" dirty="0">
                          <a:solidFill>
                            <a:srgbClr val="134E4A"/>
                          </a:solidFill>
                          <a:latin typeface="Calibri" pitchFamily="34" charset="0"/>
                          <a:ea typeface="Calibri" pitchFamily="34" charset="-122"/>
                          <a:cs typeface="Calibri" pitchFamily="34" charset="-120"/>
                        </a:rPr>
                        <a:t>Pharmacists</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050" dirty="0">
                          <a:solidFill>
                            <a:srgbClr val="111827"/>
                          </a:solidFill>
                          <a:latin typeface="Calibri" pitchFamily="34" charset="0"/>
                          <a:ea typeface="Calibri" pitchFamily="34" charset="-122"/>
                          <a:cs typeface="Calibri" pitchFamily="34" charset="-120"/>
                        </a:rPr>
                        <a:t>Unsafe orders stopped early</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050" dirty="0">
                          <a:solidFill>
                            <a:srgbClr val="111827"/>
                          </a:solidFill>
                          <a:latin typeface="Calibri" pitchFamily="34" charset="0"/>
                          <a:ea typeface="Calibri" pitchFamily="34" charset="-122"/>
                          <a:cs typeface="Calibri" pitchFamily="34" charset="-120"/>
                        </a:rPr>
                        <a:t>Interventions per 100 orders, callbacks, delivery on time</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r>
              <a:tr h="402336">
                <a:tc>
                  <a:txBody>
                    <a:bodyPr/>
                    <a:lstStyle/>
                    <a:p>
                      <a:pPr indent="0" marL="0">
                        <a:buNone/>
                      </a:pPr>
                      <a:r>
                        <a:rPr lang="en-US" sz="1050" b="1" dirty="0">
                          <a:solidFill>
                            <a:srgbClr val="134E4A"/>
                          </a:solidFill>
                          <a:latin typeface="Calibri" pitchFamily="34" charset="0"/>
                          <a:ea typeface="Calibri" pitchFamily="34" charset="-122"/>
                          <a:cs typeface="Calibri" pitchFamily="34" charset="-120"/>
                        </a:rPr>
                        <a:t>Front desk</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50" dirty="0">
                          <a:solidFill>
                            <a:srgbClr val="111827"/>
                          </a:solidFill>
                          <a:latin typeface="Calibri" pitchFamily="34" charset="0"/>
                          <a:ea typeface="Calibri" pitchFamily="34" charset="-122"/>
                          <a:cs typeface="Calibri" pitchFamily="34" charset="-120"/>
                        </a:rPr>
                        <a:t>Invites, clean records, coverage verified early</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50" dirty="0">
                          <a:solidFill>
                            <a:srgbClr val="111827"/>
                          </a:solidFill>
                          <a:latin typeface="Calibri" pitchFamily="34" charset="0"/>
                          <a:ea typeface="Calibri" pitchFamily="34" charset="-122"/>
                          <a:cs typeface="Calibri" pitchFamily="34" charset="-120"/>
                        </a:rPr>
                        <a:t>Registration time, duplicate rate, eligibility denials</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050" b="1" dirty="0">
                          <a:solidFill>
                            <a:srgbClr val="134E4A"/>
                          </a:solidFill>
                          <a:latin typeface="Calibri" pitchFamily="34" charset="0"/>
                          <a:ea typeface="Calibri" pitchFamily="34" charset="-122"/>
                          <a:cs typeface="Calibri" pitchFamily="34" charset="-120"/>
                        </a:rPr>
                        <a:t>Administrators</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050" dirty="0">
                          <a:solidFill>
                            <a:srgbClr val="111827"/>
                          </a:solidFill>
                          <a:latin typeface="Calibri" pitchFamily="34" charset="0"/>
                          <a:ea typeface="Calibri" pitchFamily="34" charset="-122"/>
                          <a:cs typeface="Calibri" pitchFamily="34" charset="-120"/>
                        </a:rPr>
                        <a:t>Onboarding, access and AI oversight in one place</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c>
                  <a:txBody>
                    <a:bodyPr/>
                    <a:lstStyle/>
                    <a:p>
                      <a:pPr indent="0" marL="0">
                        <a:buNone/>
                      </a:pPr>
                      <a:r>
                        <a:rPr lang="en-US" sz="1050" dirty="0">
                          <a:solidFill>
                            <a:srgbClr val="111827"/>
                          </a:solidFill>
                          <a:latin typeface="Calibri" pitchFamily="34" charset="0"/>
                          <a:ea typeface="Calibri" pitchFamily="34" charset="-122"/>
                          <a:cs typeface="Calibri" pitchFamily="34" charset="-120"/>
                        </a:rPr>
                        <a:t>Time to onboard staff, claim first-pass rate, audit findings</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6F4F1"/>
                    </a:solidFill>
                  </a:tcPr>
                </a:tc>
              </a:tr>
              <a:tr h="402336">
                <a:tc>
                  <a:txBody>
                    <a:bodyPr/>
                    <a:lstStyle/>
                    <a:p>
                      <a:pPr indent="0" marL="0">
                        <a:buNone/>
                      </a:pPr>
                      <a:r>
                        <a:rPr lang="en-US" sz="1050" b="1" dirty="0">
                          <a:solidFill>
                            <a:srgbClr val="134E4A"/>
                          </a:solidFill>
                          <a:latin typeface="Calibri" pitchFamily="34" charset="0"/>
                          <a:ea typeface="Calibri" pitchFamily="34" charset="-122"/>
                          <a:cs typeface="Calibri" pitchFamily="34" charset="-120"/>
                        </a:rPr>
                        <a:t>Students</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50" dirty="0">
                          <a:solidFill>
                            <a:srgbClr val="111827"/>
                          </a:solidFill>
                          <a:latin typeface="Calibri" pitchFamily="34" charset="0"/>
                          <a:ea typeface="Calibri" pitchFamily="34" charset="-122"/>
                          <a:cs typeface="Calibri" pitchFamily="34" charset="-120"/>
                        </a:rPr>
                        <a:t>Real-case practice without patient data</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50" dirty="0">
                          <a:solidFill>
                            <a:srgbClr val="111827"/>
                          </a:solidFill>
                          <a:latin typeface="Calibri" pitchFamily="34" charset="0"/>
                          <a:ea typeface="Calibri" pitchFamily="34" charset="-122"/>
                          <a:cs typeface="Calibri" pitchFamily="34" charset="-120"/>
                        </a:rPr>
                        <a:t>Cases completed, quiz scores over time</a:t>
                      </a:r>
                      <a:endParaRPr lang="en-US" sz="1050" dirty="0">
                        <a:latin typeface="Calibri" charset="0"/>
                        <a:ea typeface="Calibri" charset="0"/>
                        <a:cs typeface="Calibri" charset="0"/>
                      </a:endParaRPr>
                    </a:p>
                  </a:txBody>
                  <a:tcPr marL="88900" marR="88900" marT="38100" marB="381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34E4A"/>
                </a:solidFill>
                <a:latin typeface="Calibri" pitchFamily="34" charset="0"/>
                <a:ea typeface="Calibri" pitchFamily="34" charset="-122"/>
                <a:cs typeface="Calibri" pitchFamily="34" charset="-120"/>
              </a:rPr>
              <a:t>What every persona can count on</a:t>
            </a:r>
            <a:endParaRPr lang="en-US" sz="2800" dirty="0"/>
          </a:p>
        </p:txBody>
      </p:sp>
      <p:sp>
        <p:nvSpPr>
          <p:cNvPr id="3" name="Text 1"/>
          <p:cNvSpPr txBox="1"/>
          <p:nvPr/>
        </p:nvSpPr>
        <p:spPr>
          <a:xfrm>
            <a:off x="457200" y="822960"/>
            <a:ext cx="8229600" cy="320040"/>
          </a:xfrm>
          <a:prstGeom prst="rect">
            <a:avLst/>
          </a:prstGeom>
          <a:noFill/>
          <a:ln/>
        </p:spPr>
        <p:txBody>
          <a:bodyPr wrap="square" lIns="0" tIns="0" rIns="0" bIns="0" rtlCol="0" anchor="t"/>
          <a:lstStyle/>
          <a:p>
            <a:pPr indent="0" marL="0">
              <a:buNone/>
            </a:pPr>
            <a:r>
              <a:rPr lang="en-US" sz="1300" dirty="0">
                <a:solidFill>
                  <a:srgbClr val="4B5563"/>
                </a:solidFill>
                <a:latin typeface="Calibri" pitchFamily="34" charset="0"/>
                <a:ea typeface="Calibri" pitchFamily="34" charset="-122"/>
                <a:cs typeface="Calibri" pitchFamily="34" charset="-120"/>
              </a:rPr>
              <a:t>Guardrails that don't depend on which AI model is running</a:t>
            </a:r>
            <a:endParaRPr lang="en-US" sz="1300" dirty="0"/>
          </a:p>
        </p:txBody>
      </p:sp>
      <p:sp>
        <p:nvSpPr>
          <p:cNvPr id="4" name="Shape 2"/>
          <p:cNvSpPr/>
          <p:nvPr/>
        </p:nvSpPr>
        <p:spPr>
          <a:xfrm>
            <a:off x="457200" y="1325880"/>
            <a:ext cx="2651760" cy="1463040"/>
          </a:xfrm>
          <a:prstGeom prst="roundRect">
            <a:avLst>
              <a:gd name="adj" fmla="val 7500"/>
            </a:avLst>
          </a:prstGeom>
          <a:solidFill>
            <a:srgbClr val="F5F7F8"/>
          </a:solidFill>
          <a:ln w="9525">
            <a:solidFill>
              <a:srgbClr val="F5F7F8"/>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621792" y="1490472"/>
            <a:ext cx="502920" cy="502920"/>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747522" y="1616202"/>
            <a:ext cx="251460" cy="251460"/>
          </a:xfrm>
          <a:prstGeom prst="rect">
            <a:avLst/>
          </a:prstGeom>
        </p:spPr>
      </p:pic>
      <p:sp>
        <p:nvSpPr>
          <p:cNvPr id="7" name="Text 4"/>
          <p:cNvSpPr txBox="1"/>
          <p:nvPr/>
        </p:nvSpPr>
        <p:spPr>
          <a:xfrm>
            <a:off x="621792" y="2103120"/>
            <a:ext cx="2377440" cy="292608"/>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Emergencies first</a:t>
            </a:r>
            <a:endParaRPr lang="en-US" sz="1250" dirty="0"/>
          </a:p>
        </p:txBody>
      </p:sp>
      <p:sp>
        <p:nvSpPr>
          <p:cNvPr id="8" name="Text 5"/>
          <p:cNvSpPr txBox="1"/>
          <p:nvPr/>
        </p:nvSpPr>
        <p:spPr>
          <a:xfrm>
            <a:off x="621792" y="2377440"/>
            <a:ext cx="2377440" cy="384048"/>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Rules screen every patient message before any AI</a:t>
            </a:r>
            <a:endParaRPr lang="en-US" sz="1000" dirty="0"/>
          </a:p>
        </p:txBody>
      </p:sp>
      <p:sp>
        <p:nvSpPr>
          <p:cNvPr id="9" name="Shape 6"/>
          <p:cNvSpPr/>
          <p:nvPr/>
        </p:nvSpPr>
        <p:spPr>
          <a:xfrm>
            <a:off x="3246120" y="1325880"/>
            <a:ext cx="2651760" cy="1463040"/>
          </a:xfrm>
          <a:prstGeom prst="roundRect">
            <a:avLst>
              <a:gd name="adj" fmla="val 7500"/>
            </a:avLst>
          </a:prstGeom>
          <a:solidFill>
            <a:srgbClr val="F5F7F8"/>
          </a:solidFill>
          <a:ln w="9525">
            <a:solidFill>
              <a:srgbClr val="F5F7F8"/>
            </a:solidFill>
            <a:prstDash val="solid"/>
          </a:ln>
          <a:effectLst>
            <a:outerShdw sx="100000" sy="100000" kx="0" ky="0" algn="bl" rotWithShape="0" blurRad="76200" dist="19050" dir="5400000">
              <a:srgbClr val="000000">
                <a:alpha val="8000"/>
              </a:srgbClr>
            </a:outerShdw>
          </a:effectLst>
        </p:spPr>
      </p:sp>
      <p:sp>
        <p:nvSpPr>
          <p:cNvPr id="10" name="Shape 7"/>
          <p:cNvSpPr/>
          <p:nvPr/>
        </p:nvSpPr>
        <p:spPr>
          <a:xfrm>
            <a:off x="3410712" y="1490472"/>
            <a:ext cx="502920" cy="502920"/>
          </a:xfrm>
          <a:prstGeom prst="ellipse">
            <a:avLst/>
          </a:prstGeom>
          <a:solidFill>
            <a:srgbClr val="1B6B63"/>
          </a:solidFill>
          <a:ln w="12700">
            <a:solidFill>
              <a:srgbClr val="1B6B63"/>
            </a:solidFill>
            <a:prstDash val="solid"/>
          </a:ln>
        </p:spPr>
      </p:sp>
      <p:pic>
        <p:nvPicPr>
          <p:cNvPr id="11" name="Image 1" descr="preencoded.png">    </p:cNvPr>
          <p:cNvPicPr>
            <a:picLocks noChangeAspect="1"/>
          </p:cNvPicPr>
          <p:nvPr/>
        </p:nvPicPr>
        <p:blipFill>
          <a:blip r:embed="rId2"/>
          <a:stretch>
            <a:fillRect/>
          </a:stretch>
        </p:blipFill>
        <p:spPr>
          <a:xfrm>
            <a:off x="3536442" y="1616202"/>
            <a:ext cx="251460" cy="251460"/>
          </a:xfrm>
          <a:prstGeom prst="rect">
            <a:avLst/>
          </a:prstGeom>
        </p:spPr>
      </p:pic>
      <p:sp>
        <p:nvSpPr>
          <p:cNvPr id="12" name="Text 8"/>
          <p:cNvSpPr txBox="1"/>
          <p:nvPr/>
        </p:nvSpPr>
        <p:spPr>
          <a:xfrm>
            <a:off x="3410712" y="2103120"/>
            <a:ext cx="2377440" cy="292608"/>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Clinicians decide</a:t>
            </a:r>
            <a:endParaRPr lang="en-US" sz="1250" dirty="0"/>
          </a:p>
        </p:txBody>
      </p:sp>
      <p:sp>
        <p:nvSpPr>
          <p:cNvPr id="13" name="Text 9"/>
          <p:cNvSpPr txBox="1"/>
          <p:nvPr/>
        </p:nvSpPr>
        <p:spPr>
          <a:xfrm>
            <a:off x="3410712" y="2377440"/>
            <a:ext cx="2377440" cy="384048"/>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Clinical content for patients is approved first</a:t>
            </a:r>
            <a:endParaRPr lang="en-US" sz="1000" dirty="0"/>
          </a:p>
        </p:txBody>
      </p:sp>
      <p:sp>
        <p:nvSpPr>
          <p:cNvPr id="14" name="Shape 10"/>
          <p:cNvSpPr/>
          <p:nvPr/>
        </p:nvSpPr>
        <p:spPr>
          <a:xfrm>
            <a:off x="6035040" y="1325880"/>
            <a:ext cx="2651760" cy="1463040"/>
          </a:xfrm>
          <a:prstGeom prst="roundRect">
            <a:avLst>
              <a:gd name="adj" fmla="val 7500"/>
            </a:avLst>
          </a:prstGeom>
          <a:solidFill>
            <a:srgbClr val="F5F7F8"/>
          </a:solidFill>
          <a:ln w="9525">
            <a:solidFill>
              <a:srgbClr val="F5F7F8"/>
            </a:solidFill>
            <a:prstDash val="solid"/>
          </a:ln>
          <a:effectLst>
            <a:outerShdw sx="100000" sy="100000" kx="0" ky="0" algn="bl" rotWithShape="0" blurRad="76200" dist="19050" dir="5400000">
              <a:srgbClr val="000000">
                <a:alpha val="8000"/>
              </a:srgbClr>
            </a:outerShdw>
          </a:effectLst>
        </p:spPr>
      </p:sp>
      <p:sp>
        <p:nvSpPr>
          <p:cNvPr id="15" name="Shape 11"/>
          <p:cNvSpPr/>
          <p:nvPr/>
        </p:nvSpPr>
        <p:spPr>
          <a:xfrm>
            <a:off x="6199632" y="1490472"/>
            <a:ext cx="502920" cy="502920"/>
          </a:xfrm>
          <a:prstGeom prst="ellipse">
            <a:avLst/>
          </a:prstGeom>
          <a:solidFill>
            <a:srgbClr val="1B6B63"/>
          </a:solidFill>
          <a:ln w="12700">
            <a:solidFill>
              <a:srgbClr val="1B6B63"/>
            </a:solidFill>
            <a:prstDash val="solid"/>
          </a:ln>
        </p:spPr>
      </p:sp>
      <p:pic>
        <p:nvPicPr>
          <p:cNvPr id="16" name="Image 2" descr="preencoded.png">    </p:cNvPr>
          <p:cNvPicPr>
            <a:picLocks noChangeAspect="1"/>
          </p:cNvPicPr>
          <p:nvPr/>
        </p:nvPicPr>
        <p:blipFill>
          <a:blip r:embed="rId3"/>
          <a:stretch>
            <a:fillRect/>
          </a:stretch>
        </p:blipFill>
        <p:spPr>
          <a:xfrm>
            <a:off x="6325362" y="1616202"/>
            <a:ext cx="251460" cy="251460"/>
          </a:xfrm>
          <a:prstGeom prst="rect">
            <a:avLst/>
          </a:prstGeom>
        </p:spPr>
      </p:pic>
      <p:sp>
        <p:nvSpPr>
          <p:cNvPr id="17" name="Text 12"/>
          <p:cNvSpPr txBox="1"/>
          <p:nvPr/>
        </p:nvSpPr>
        <p:spPr>
          <a:xfrm>
            <a:off x="6199632" y="2103120"/>
            <a:ext cx="2377440" cy="292608"/>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Consent respected</a:t>
            </a:r>
            <a:endParaRPr lang="en-US" sz="1250" dirty="0"/>
          </a:p>
        </p:txBody>
      </p:sp>
      <p:sp>
        <p:nvSpPr>
          <p:cNvPr id="18" name="Text 13"/>
          <p:cNvSpPr txBox="1"/>
          <p:nvPr/>
        </p:nvSpPr>
        <p:spPr>
          <a:xfrm>
            <a:off x="6199632" y="2377440"/>
            <a:ext cx="2377440" cy="384048"/>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AI, research and caregiver access follow patient choices</a:t>
            </a:r>
            <a:endParaRPr lang="en-US" sz="1000" dirty="0"/>
          </a:p>
        </p:txBody>
      </p:sp>
      <p:sp>
        <p:nvSpPr>
          <p:cNvPr id="19" name="Shape 14"/>
          <p:cNvSpPr/>
          <p:nvPr/>
        </p:nvSpPr>
        <p:spPr>
          <a:xfrm>
            <a:off x="457200" y="2971800"/>
            <a:ext cx="2651760" cy="1463040"/>
          </a:xfrm>
          <a:prstGeom prst="roundRect">
            <a:avLst>
              <a:gd name="adj" fmla="val 7500"/>
            </a:avLst>
          </a:prstGeom>
          <a:solidFill>
            <a:srgbClr val="F5F7F8"/>
          </a:solidFill>
          <a:ln w="9525">
            <a:solidFill>
              <a:srgbClr val="F5F7F8"/>
            </a:solidFill>
            <a:prstDash val="solid"/>
          </a:ln>
          <a:effectLst>
            <a:outerShdw sx="100000" sy="100000" kx="0" ky="0" algn="bl" rotWithShape="0" blurRad="76200" dist="19050" dir="5400000">
              <a:srgbClr val="000000">
                <a:alpha val="8000"/>
              </a:srgbClr>
            </a:outerShdw>
          </a:effectLst>
        </p:spPr>
      </p:sp>
      <p:sp>
        <p:nvSpPr>
          <p:cNvPr id="20" name="Shape 15"/>
          <p:cNvSpPr/>
          <p:nvPr/>
        </p:nvSpPr>
        <p:spPr>
          <a:xfrm>
            <a:off x="621792" y="3136392"/>
            <a:ext cx="502920" cy="502920"/>
          </a:xfrm>
          <a:prstGeom prst="ellipse">
            <a:avLst/>
          </a:prstGeom>
          <a:solidFill>
            <a:srgbClr val="1B6B63"/>
          </a:solidFill>
          <a:ln w="12700">
            <a:solidFill>
              <a:srgbClr val="1B6B63"/>
            </a:solidFill>
            <a:prstDash val="solid"/>
          </a:ln>
        </p:spPr>
      </p:sp>
      <p:pic>
        <p:nvPicPr>
          <p:cNvPr id="21" name="Image 3" descr="preencoded.png">    </p:cNvPr>
          <p:cNvPicPr>
            <a:picLocks noChangeAspect="1"/>
          </p:cNvPicPr>
          <p:nvPr/>
        </p:nvPicPr>
        <p:blipFill>
          <a:blip r:embed="rId4"/>
          <a:stretch>
            <a:fillRect/>
          </a:stretch>
        </p:blipFill>
        <p:spPr>
          <a:xfrm>
            <a:off x="747522" y="3262122"/>
            <a:ext cx="251460" cy="251460"/>
          </a:xfrm>
          <a:prstGeom prst="rect">
            <a:avLst/>
          </a:prstGeom>
        </p:spPr>
      </p:pic>
      <p:sp>
        <p:nvSpPr>
          <p:cNvPr id="22" name="Text 16"/>
          <p:cNvSpPr txBox="1"/>
          <p:nvPr/>
        </p:nvSpPr>
        <p:spPr>
          <a:xfrm>
            <a:off x="621792" y="3749040"/>
            <a:ext cx="2377440" cy="292608"/>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Verified sign-in</a:t>
            </a:r>
            <a:endParaRPr lang="en-US" sz="1250" dirty="0"/>
          </a:p>
        </p:txBody>
      </p:sp>
      <p:sp>
        <p:nvSpPr>
          <p:cNvPr id="23" name="Text 17"/>
          <p:cNvSpPr txBox="1"/>
          <p:nvPr/>
        </p:nvSpPr>
        <p:spPr>
          <a:xfrm>
            <a:off x="621792" y="4023360"/>
            <a:ext cx="2377440" cy="384048"/>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Staff: Entra ID, Okta or Google. Patients: invite with birth-date check</a:t>
            </a:r>
            <a:endParaRPr lang="en-US" sz="1000" dirty="0"/>
          </a:p>
        </p:txBody>
      </p:sp>
      <p:sp>
        <p:nvSpPr>
          <p:cNvPr id="24" name="Shape 18"/>
          <p:cNvSpPr/>
          <p:nvPr/>
        </p:nvSpPr>
        <p:spPr>
          <a:xfrm>
            <a:off x="3246120" y="2971800"/>
            <a:ext cx="2651760" cy="1463040"/>
          </a:xfrm>
          <a:prstGeom prst="roundRect">
            <a:avLst>
              <a:gd name="adj" fmla="val 7500"/>
            </a:avLst>
          </a:prstGeom>
          <a:solidFill>
            <a:srgbClr val="F5F7F8"/>
          </a:solidFill>
          <a:ln w="9525">
            <a:solidFill>
              <a:srgbClr val="F5F7F8"/>
            </a:solidFill>
            <a:prstDash val="solid"/>
          </a:ln>
          <a:effectLst>
            <a:outerShdw sx="100000" sy="100000" kx="0" ky="0" algn="bl" rotWithShape="0" blurRad="76200" dist="19050" dir="5400000">
              <a:srgbClr val="000000">
                <a:alpha val="8000"/>
              </a:srgbClr>
            </a:outerShdw>
          </a:effectLst>
        </p:spPr>
      </p:sp>
      <p:sp>
        <p:nvSpPr>
          <p:cNvPr id="25" name="Shape 19"/>
          <p:cNvSpPr/>
          <p:nvPr/>
        </p:nvSpPr>
        <p:spPr>
          <a:xfrm>
            <a:off x="3410712" y="3136392"/>
            <a:ext cx="502920" cy="502920"/>
          </a:xfrm>
          <a:prstGeom prst="ellipse">
            <a:avLst/>
          </a:prstGeom>
          <a:solidFill>
            <a:srgbClr val="1B6B63"/>
          </a:solidFill>
          <a:ln w="12700">
            <a:solidFill>
              <a:srgbClr val="1B6B63"/>
            </a:solidFill>
            <a:prstDash val="solid"/>
          </a:ln>
        </p:spPr>
      </p:sp>
      <p:pic>
        <p:nvPicPr>
          <p:cNvPr id="26" name="Image 4" descr="preencoded.png">    </p:cNvPr>
          <p:cNvPicPr>
            <a:picLocks noChangeAspect="1"/>
          </p:cNvPicPr>
          <p:nvPr/>
        </p:nvPicPr>
        <p:blipFill>
          <a:blip r:embed="rId5"/>
          <a:stretch>
            <a:fillRect/>
          </a:stretch>
        </p:blipFill>
        <p:spPr>
          <a:xfrm>
            <a:off x="3536442" y="3262122"/>
            <a:ext cx="251460" cy="251460"/>
          </a:xfrm>
          <a:prstGeom prst="rect">
            <a:avLst/>
          </a:prstGeom>
        </p:spPr>
      </p:pic>
      <p:sp>
        <p:nvSpPr>
          <p:cNvPr id="27" name="Text 20"/>
          <p:cNvSpPr txBox="1"/>
          <p:nvPr/>
        </p:nvSpPr>
        <p:spPr>
          <a:xfrm>
            <a:off x="3410712" y="3749040"/>
            <a:ext cx="2377440" cy="292608"/>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Everything audited</a:t>
            </a:r>
            <a:endParaRPr lang="en-US" sz="1250" dirty="0"/>
          </a:p>
        </p:txBody>
      </p:sp>
      <p:sp>
        <p:nvSpPr>
          <p:cNvPr id="28" name="Text 21"/>
          <p:cNvSpPr txBox="1"/>
          <p:nvPr/>
        </p:nvSpPr>
        <p:spPr>
          <a:xfrm>
            <a:off x="3410712" y="4023360"/>
            <a:ext cx="2377440" cy="384048"/>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Tamper-evident log; phone pushes never carry clinical detail</a:t>
            </a:r>
            <a:endParaRPr lang="en-US" sz="1000" dirty="0"/>
          </a:p>
        </p:txBody>
      </p:sp>
      <p:sp>
        <p:nvSpPr>
          <p:cNvPr id="29" name="Shape 22"/>
          <p:cNvSpPr/>
          <p:nvPr/>
        </p:nvSpPr>
        <p:spPr>
          <a:xfrm>
            <a:off x="6035040" y="2971800"/>
            <a:ext cx="2651760" cy="1463040"/>
          </a:xfrm>
          <a:prstGeom prst="roundRect">
            <a:avLst>
              <a:gd name="adj" fmla="val 7500"/>
            </a:avLst>
          </a:prstGeom>
          <a:solidFill>
            <a:srgbClr val="F5F7F8"/>
          </a:solidFill>
          <a:ln w="9525">
            <a:solidFill>
              <a:srgbClr val="F5F7F8"/>
            </a:solidFill>
            <a:prstDash val="solid"/>
          </a:ln>
          <a:effectLst>
            <a:outerShdw sx="100000" sy="100000" kx="0" ky="0" algn="bl" rotWithShape="0" blurRad="76200" dist="19050" dir="5400000">
              <a:srgbClr val="000000">
                <a:alpha val="8000"/>
              </a:srgbClr>
            </a:outerShdw>
          </a:effectLst>
        </p:spPr>
      </p:sp>
      <p:sp>
        <p:nvSpPr>
          <p:cNvPr id="30" name="Shape 23"/>
          <p:cNvSpPr/>
          <p:nvPr/>
        </p:nvSpPr>
        <p:spPr>
          <a:xfrm>
            <a:off x="6199632" y="3136392"/>
            <a:ext cx="502920" cy="502920"/>
          </a:xfrm>
          <a:prstGeom prst="ellipse">
            <a:avLst/>
          </a:prstGeom>
          <a:solidFill>
            <a:srgbClr val="1B6B63"/>
          </a:solidFill>
          <a:ln w="12700">
            <a:solidFill>
              <a:srgbClr val="1B6B63"/>
            </a:solidFill>
            <a:prstDash val="solid"/>
          </a:ln>
        </p:spPr>
      </p:sp>
      <p:pic>
        <p:nvPicPr>
          <p:cNvPr id="31" name="Image 5" descr="preencoded.png">    </p:cNvPr>
          <p:cNvPicPr>
            <a:picLocks noChangeAspect="1"/>
          </p:cNvPicPr>
          <p:nvPr/>
        </p:nvPicPr>
        <p:blipFill>
          <a:blip r:embed="rId6"/>
          <a:stretch>
            <a:fillRect/>
          </a:stretch>
        </p:blipFill>
        <p:spPr>
          <a:xfrm>
            <a:off x="6325362" y="3262122"/>
            <a:ext cx="251460" cy="251460"/>
          </a:xfrm>
          <a:prstGeom prst="rect">
            <a:avLst/>
          </a:prstGeom>
        </p:spPr>
      </p:pic>
      <p:sp>
        <p:nvSpPr>
          <p:cNvPr id="32" name="Text 24"/>
          <p:cNvSpPr txBox="1"/>
          <p:nvPr/>
        </p:nvSpPr>
        <p:spPr>
          <a:xfrm>
            <a:off x="6199632" y="3749040"/>
            <a:ext cx="2377440" cy="292608"/>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Medical AI, governed</a:t>
            </a:r>
            <a:endParaRPr lang="en-US" sz="1250" dirty="0"/>
          </a:p>
        </p:txBody>
      </p:sp>
      <p:sp>
        <p:nvSpPr>
          <p:cNvPr id="33" name="Text 25"/>
          <p:cNvSpPr txBox="1"/>
          <p:nvPr/>
        </p:nvSpPr>
        <p:spPr>
          <a:xfrm>
            <a:off x="6199632" y="4023360"/>
            <a:ext cx="2377440" cy="384048"/>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MedGemma first, Claude backup, rules always; all registered</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3F3C"/>
        </a:solidFill>
      </p:bgPr>
    </p:bg>
    <p:spTree>
      <p:nvGrpSpPr>
        <p:cNvPr id="1" name=""/>
        <p:cNvGrpSpPr/>
        <p:nvPr/>
      </p:nvGrpSpPr>
      <p:grpSpPr>
        <a:xfrm>
          <a:off x="0" y="0"/>
          <a:ext cx="0" cy="0"/>
          <a:chOff x="0" y="0"/>
          <a:chExt cx="0" cy="0"/>
        </a:xfrm>
      </p:grpSpPr>
      <p:sp>
        <p:nvSpPr>
          <p:cNvPr id="2" name="Shape 0"/>
          <p:cNvSpPr/>
          <p:nvPr/>
        </p:nvSpPr>
        <p:spPr>
          <a:xfrm>
            <a:off x="457200" y="594360"/>
            <a:ext cx="731520" cy="731520"/>
          </a:xfrm>
          <a:prstGeom prst="ellipse">
            <a:avLst/>
          </a:prstGeom>
          <a:solidFill>
            <a:srgbClr val="2A9D8F"/>
          </a:solidFill>
          <a:ln w="12700">
            <a:solidFill>
              <a:srgbClr val="2A9D8F"/>
            </a:solidFill>
            <a:prstDash val="solid"/>
          </a:ln>
        </p:spPr>
      </p:sp>
      <p:pic>
        <p:nvPicPr>
          <p:cNvPr id="3" name="Image 0" descr="preencoded.png">    </p:cNvPr>
          <p:cNvPicPr>
            <a:picLocks noChangeAspect="1"/>
          </p:cNvPicPr>
          <p:nvPr/>
        </p:nvPicPr>
        <p:blipFill>
          <a:blip r:embed="rId1"/>
          <a:stretch>
            <a:fillRect/>
          </a:stretch>
        </p:blipFill>
        <p:spPr>
          <a:xfrm>
            <a:off x="640080" y="777240"/>
            <a:ext cx="365760" cy="365760"/>
          </a:xfrm>
          <a:prstGeom prst="rect">
            <a:avLst/>
          </a:prstGeom>
        </p:spPr>
      </p:pic>
      <p:sp>
        <p:nvSpPr>
          <p:cNvPr id="4" name="Text 1"/>
          <p:cNvSpPr txBox="1"/>
          <p:nvPr/>
        </p:nvSpPr>
        <p:spPr>
          <a:xfrm>
            <a:off x="457200" y="1554480"/>
            <a:ext cx="8229600" cy="64008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One place for your healthcare</a:t>
            </a:r>
            <a:endParaRPr lang="en-US" sz="3600" dirty="0"/>
          </a:p>
        </p:txBody>
      </p:sp>
      <p:sp>
        <p:nvSpPr>
          <p:cNvPr id="5" name="Text 2"/>
          <p:cNvSpPr txBox="1"/>
          <p:nvPr/>
        </p:nvSpPr>
        <p:spPr>
          <a:xfrm>
            <a:off x="457200" y="2377440"/>
            <a:ext cx="8229600" cy="365760"/>
          </a:xfrm>
          <a:prstGeom prst="rect">
            <a:avLst/>
          </a:prstGeom>
          <a:noFill/>
          <a:ln/>
        </p:spPr>
        <p:txBody>
          <a:bodyPr wrap="square" lIns="0" tIns="0" rIns="0" bIns="0" rtlCol="0" anchor="t"/>
          <a:lstStyle/>
          <a:p>
            <a:pPr indent="0" marL="0">
              <a:buNone/>
            </a:pPr>
            <a:r>
              <a:rPr lang="en-US" sz="1600" b="1" dirty="0">
                <a:solidFill>
                  <a:srgbClr val="CFEAE3"/>
                </a:solidFill>
                <a:latin typeface="Calibri" pitchFamily="34" charset="0"/>
                <a:ea typeface="Calibri" pitchFamily="34" charset="-122"/>
                <a:cs typeface="Calibri" pitchFamily="34" charset="-120"/>
              </a:rPr>
              <a:t>Pilot plan</a:t>
            </a:r>
            <a:endParaRPr lang="en-US" sz="1600" dirty="0"/>
          </a:p>
        </p:txBody>
      </p:sp>
      <p:sp>
        <p:nvSpPr>
          <p:cNvPr id="6" name="Text 3"/>
          <p:cNvSpPr txBox="1"/>
          <p:nvPr/>
        </p:nvSpPr>
        <p:spPr>
          <a:xfrm>
            <a:off x="457200" y="2788920"/>
            <a:ext cx="822960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Pick one clinic and three personas to start: patients, clinicians, pharmacist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Turn on Google or Entra sign-in and MedGemma; import staff and map directory groups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Clinicians set their hours; the front desk invites the first patients to the phone app</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Capture baselines for the value measures; run 60 to 90 days, then decide on rollout</a:t>
            </a:r>
            <a:endParaRPr lang="en-US" sz="1400" dirty="0"/>
          </a:p>
        </p:txBody>
      </p:sp>
      <p:sp>
        <p:nvSpPr>
          <p:cNvPr id="7" name="Text 4"/>
          <p:cNvSpPr txBox="1"/>
          <p:nvPr/>
        </p:nvSpPr>
        <p:spPr>
          <a:xfrm>
            <a:off x="457200" y="4572000"/>
            <a:ext cx="8229600" cy="274320"/>
          </a:xfrm>
          <a:prstGeom prst="rect">
            <a:avLst/>
          </a:prstGeom>
          <a:noFill/>
          <a:ln/>
        </p:spPr>
        <p:txBody>
          <a:bodyPr wrap="square" lIns="0" tIns="0" rIns="0" bIns="0" rtlCol="0" anchor="t"/>
          <a:lstStyle/>
          <a:p>
            <a:pPr indent="0" marL="0">
              <a:buNone/>
            </a:pPr>
            <a:r>
              <a:rPr lang="en-US" sz="1100" dirty="0">
                <a:solidFill>
                  <a:srgbClr val="CFEAE3"/>
                </a:solidFill>
                <a:latin typeface="Calibri" pitchFamily="34" charset="0"/>
                <a:ea typeface="Calibri" pitchFamily="34" charset="-122"/>
                <a:cs typeface="Calibri" pitchFamily="34" charset="-120"/>
              </a:rPr>
              <a:t>Live demo: https://bioverse-1057658446982.us-central1.run.app</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Bioverse One: personas, value and journeys</dc:title>
  <dc:subject>PptxGenJS Presentation</dc:subject>
  <dc:creator>Bioverse One</dc:creator>
  <cp:lastModifiedBy>Bioverse One</cp:lastModifiedBy>
  <cp:revision>1</cp:revision>
  <dcterms:created xsi:type="dcterms:W3CDTF">2026-09-25T12:33:42Z</dcterms:created>
  <dcterms:modified xsi:type="dcterms:W3CDTF">2026-09-25T12:33:42Z</dcterms:modified>
</cp:coreProperties>
</file>