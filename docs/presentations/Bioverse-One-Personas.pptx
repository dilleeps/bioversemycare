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looks at Bioverse One through the people who use it: patients, a caregiver, a clinician, a pharmacist, the front desk, administrators and a medical student. For each: who they are, what Bioverse gives them, and their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personas share one platform and one record. What each sees is set by role, team and patient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 is our main patient persona: 54, high blood pressure, recently started a statin, prefers Spanish, allergic to penicillin. She wants plain answers, to know when a reading matters, and to stay on track with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Maya's journey starts with a critical home reading. Bioverse gives fixed safety guidance and alerts her care team. She asks what to do, gets routed to an online consult, receives her medicine, and the companion keeps her on track. Her lipid results are explained only after her cardiologist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Rana represents older patients. Senior mode, voice and read-aloud make the same features usable without help, and safety checks protect her when she orders on her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is a caregiver. Access is granted and limited by Maya, every view is audited, and she can revoke it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Okafor is our clinician persona. Her biggest costs are preparation time, a noisy inbox and no visibility between visits. Bioverse brings context to her, ranks what needs her by urgency, and turns writing into approving.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day starts with pre-visit briefs, then the review queue where Maya's alert sits at the top. She sets a monitoring plan, runs a video consult with an intake summary ready, approves an AI-drafted explanation, and follows up through the between-visit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Lena is our pharmacist persona. Automated checks and a complete medication and allergy picture mean she reviews, rather than hunts, and her counseling reaches the patient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is flagged because a decongestant can raise blood pressure in a patient on amlodipine. Lena reviews everything on one screen, decides, packs and dispatches, and delivery is recorded with proof. The companion then starts dose reminders.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 desk persona gets proactive eligibility, QR card verification, a self-sorting inbox and a claims worklist.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administrator persona runs flow, access, compliance and AI oversight. Bioverse puts them in one console, backed by single sign-on and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Onboarding a clinician takes two steps: add her with her organization email and verify her license. The same console shows capacity, lets them close a corridor or elevator so routes update, and shows how every AI agent is performing.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 is a medical student. She learns from de-identified cases with a tutor and quizzes, and is blocked from every identifiable patient route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event moves every persona forward without phone calls: the patient, the clinician, the pharmacist, the front desk, the caregiver and administrators each see their part, and it is all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benefit comes with a measure you can track in a pilot. We recommend capturing a baseline before go-live and comparing after 60 to 90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guardrails apply to every persona and every journey, whatever AI model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pilot: one clinic, three core personas, SSO and MedGemma on, baselines captured, 60 to 90 days, then a data-driven rollout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F3C"/>
        </a:solidFill>
      </p:bgPr>
    </p:bg>
    <p:spTree>
      <p:nvGrpSpPr>
        <p:cNvPr id="1" name=""/>
        <p:cNvGrpSpPr/>
        <p:nvPr/>
      </p:nvGrpSpPr>
      <p:grpSpPr>
        <a:xfrm>
          <a:off x="0" y="0"/>
          <a:ext cx="0" cy="0"/>
          <a:chOff x="0" y="0"/>
          <a:chExt cx="0" cy="0"/>
        </a:xfrm>
      </p:grpSpPr>
      <p:sp>
        <p:nvSpPr>
          <p:cNvPr id="2" name="Shape 0"/>
          <p:cNvSpPr/>
          <p:nvPr/>
        </p:nvSpPr>
        <p:spPr>
          <a:xfrm>
            <a:off x="457200" y="548640"/>
            <a:ext cx="731520" cy="731520"/>
          </a:xfrm>
          <a:prstGeom prst="ellipse">
            <a:avLst/>
          </a:prstGeom>
          <a:solidFill>
            <a:srgbClr val="2A9D8F"/>
          </a:solidFill>
          <a:ln w="12700">
            <a:solidFill>
              <a:srgbClr val="2A9D8F"/>
            </a:solidFill>
            <a:prstDash val="solid"/>
          </a:ln>
        </p:spPr>
      </p:sp>
      <p:pic>
        <p:nvPicPr>
          <p:cNvPr id="3" name="Image 0" descr="preencoded.png">    </p:cNvPr>
          <p:cNvPicPr>
            <a:picLocks noChangeAspect="1"/>
          </p:cNvPicPr>
          <p:nvPr/>
        </p:nvPicPr>
        <p:blipFill>
          <a:blip r:embed="rId1"/>
          <a:stretch>
            <a:fillRect/>
          </a:stretch>
        </p:blipFill>
        <p:spPr>
          <a:xfrm>
            <a:off x="640080" y="731520"/>
            <a:ext cx="365760" cy="365760"/>
          </a:xfrm>
          <a:prstGeom prst="rect">
            <a:avLst/>
          </a:prstGeom>
        </p:spPr>
      </p:pic>
      <p:sp>
        <p:nvSpPr>
          <p:cNvPr id="4" name="Text 1"/>
          <p:cNvSpPr txBox="1"/>
          <p:nvPr/>
        </p:nvSpPr>
        <p:spPr>
          <a:xfrm>
            <a:off x="457200" y="1463040"/>
            <a:ext cx="8229600" cy="7315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Bioverse One</a:t>
            </a:r>
            <a:endParaRPr lang="en-US" sz="4400" dirty="0"/>
          </a:p>
        </p:txBody>
      </p:sp>
      <p:sp>
        <p:nvSpPr>
          <p:cNvPr id="5" name="Text 2"/>
          <p:cNvSpPr txBox="1"/>
          <p:nvPr/>
        </p:nvSpPr>
        <p:spPr>
          <a:xfrm>
            <a:off x="457200" y="2194560"/>
            <a:ext cx="8229600" cy="457200"/>
          </a:xfrm>
          <a:prstGeom prst="rect">
            <a:avLst/>
          </a:prstGeom>
          <a:noFill/>
          <a:ln/>
        </p:spPr>
        <p:txBody>
          <a:bodyPr wrap="square" lIns="0" tIns="0" rIns="0" bIns="0" rtlCol="0" anchor="t"/>
          <a:lstStyle/>
          <a:p>
            <a:pPr indent="0" marL="0">
              <a:buNone/>
            </a:pPr>
            <a:r>
              <a:rPr lang="en-US" sz="2000" dirty="0">
                <a:solidFill>
                  <a:srgbClr val="CFE9E3"/>
                </a:solidFill>
                <a:latin typeface="Calibri" pitchFamily="34" charset="0"/>
                <a:ea typeface="Calibri" pitchFamily="34" charset="-122"/>
                <a:cs typeface="Calibri" pitchFamily="34" charset="-120"/>
              </a:rPr>
              <a:t>Who it's for, what it gives them, and how their day changes</a:t>
            </a:r>
            <a:endParaRPr lang="en-US" sz="2000" dirty="0"/>
          </a:p>
        </p:txBody>
      </p:sp>
      <p:sp>
        <p:nvSpPr>
          <p:cNvPr id="6" name="Text 3"/>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1400" dirty="0">
                <a:solidFill>
                  <a:srgbClr val="CFEAE3"/>
                </a:solidFill>
                <a:latin typeface="Calibri" pitchFamily="34" charset="0"/>
                <a:ea typeface="Calibri" pitchFamily="34" charset="-122"/>
                <a:cs typeface="Calibri" pitchFamily="34" charset="-120"/>
              </a:rPr>
              <a:t>Eight personas · value and benefits · end-to-end user journeys</a:t>
            </a:r>
            <a:endParaRPr lang="en-US" sz="1400" dirty="0"/>
          </a:p>
        </p:txBody>
      </p:sp>
      <p:sp>
        <p:nvSpPr>
          <p:cNvPr id="7" name="Shape 4"/>
          <p:cNvSpPr/>
          <p:nvPr/>
        </p:nvSpPr>
        <p:spPr>
          <a:xfrm>
            <a:off x="457200" y="3840480"/>
            <a:ext cx="475488" cy="475488"/>
          </a:xfrm>
          <a:prstGeom prst="ellipse">
            <a:avLst/>
          </a:prstGeom>
          <a:solidFill>
            <a:srgbClr val="1B6B63"/>
          </a:solidFill>
          <a:ln w="25400">
            <a:solidFill>
              <a:srgbClr val="FFFFFF"/>
            </a:solidFill>
            <a:prstDash val="solid"/>
          </a:ln>
        </p:spPr>
      </p:sp>
      <p:sp>
        <p:nvSpPr>
          <p:cNvPr id="8" name="Text 5"/>
          <p:cNvSpPr txBox="1"/>
          <p:nvPr/>
        </p:nvSpPr>
        <p:spPr>
          <a:xfrm>
            <a:off x="457200"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MT</a:t>
            </a:r>
            <a:endParaRPr lang="en-US" sz="1144" dirty="0"/>
          </a:p>
        </p:txBody>
      </p:sp>
      <p:sp>
        <p:nvSpPr>
          <p:cNvPr id="9" name="Shape 6"/>
          <p:cNvSpPr/>
          <p:nvPr/>
        </p:nvSpPr>
        <p:spPr>
          <a:xfrm>
            <a:off x="1024128" y="3840480"/>
            <a:ext cx="475488" cy="475488"/>
          </a:xfrm>
          <a:prstGeom prst="ellipse">
            <a:avLst/>
          </a:prstGeom>
          <a:solidFill>
            <a:srgbClr val="7C3AED"/>
          </a:solidFill>
          <a:ln w="25400">
            <a:solidFill>
              <a:srgbClr val="FFFFFF"/>
            </a:solidFill>
            <a:prstDash val="solid"/>
          </a:ln>
        </p:spPr>
      </p:sp>
      <p:sp>
        <p:nvSpPr>
          <p:cNvPr id="10" name="Text 7"/>
          <p:cNvSpPr txBox="1"/>
          <p:nvPr/>
        </p:nvSpPr>
        <p:spPr>
          <a:xfrm>
            <a:off x="1024128"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RH</a:t>
            </a:r>
            <a:endParaRPr lang="en-US" sz="1144" dirty="0"/>
          </a:p>
        </p:txBody>
      </p:sp>
      <p:sp>
        <p:nvSpPr>
          <p:cNvPr id="11" name="Shape 8"/>
          <p:cNvSpPr/>
          <p:nvPr/>
        </p:nvSpPr>
        <p:spPr>
          <a:xfrm>
            <a:off x="1591056" y="3840480"/>
            <a:ext cx="475488" cy="475488"/>
          </a:xfrm>
          <a:prstGeom prst="ellipse">
            <a:avLst/>
          </a:prstGeom>
          <a:solidFill>
            <a:srgbClr val="0369A1"/>
          </a:solidFill>
          <a:ln w="25400">
            <a:solidFill>
              <a:srgbClr val="FFFFFF"/>
            </a:solidFill>
            <a:prstDash val="solid"/>
          </a:ln>
        </p:spPr>
      </p:sp>
      <p:sp>
        <p:nvSpPr>
          <p:cNvPr id="12" name="Text 9"/>
          <p:cNvSpPr txBox="1"/>
          <p:nvPr/>
        </p:nvSpPr>
        <p:spPr>
          <a:xfrm>
            <a:off x="1591056"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DT</a:t>
            </a:r>
            <a:endParaRPr lang="en-US" sz="1144" dirty="0"/>
          </a:p>
        </p:txBody>
      </p:sp>
      <p:sp>
        <p:nvSpPr>
          <p:cNvPr id="13" name="Shape 10"/>
          <p:cNvSpPr/>
          <p:nvPr/>
        </p:nvSpPr>
        <p:spPr>
          <a:xfrm>
            <a:off x="2157984" y="3840480"/>
            <a:ext cx="475488" cy="475488"/>
          </a:xfrm>
          <a:prstGeom prst="ellipse">
            <a:avLst/>
          </a:prstGeom>
          <a:solidFill>
            <a:srgbClr val="134E4A"/>
          </a:solidFill>
          <a:ln w="25400">
            <a:solidFill>
              <a:srgbClr val="FFFFFF"/>
            </a:solidFill>
            <a:prstDash val="solid"/>
          </a:ln>
        </p:spPr>
      </p:sp>
      <p:sp>
        <p:nvSpPr>
          <p:cNvPr id="14" name="Text 11"/>
          <p:cNvSpPr txBox="1"/>
          <p:nvPr/>
        </p:nvSpPr>
        <p:spPr>
          <a:xfrm>
            <a:off x="2157984"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AO</a:t>
            </a:r>
            <a:endParaRPr lang="en-US" sz="1144" dirty="0"/>
          </a:p>
        </p:txBody>
      </p:sp>
      <p:sp>
        <p:nvSpPr>
          <p:cNvPr id="15" name="Shape 12"/>
          <p:cNvSpPr/>
          <p:nvPr/>
        </p:nvSpPr>
        <p:spPr>
          <a:xfrm>
            <a:off x="2724912" y="3840480"/>
            <a:ext cx="475488" cy="475488"/>
          </a:xfrm>
          <a:prstGeom prst="ellipse">
            <a:avLst/>
          </a:prstGeom>
          <a:solidFill>
            <a:srgbClr val="0F766E"/>
          </a:solidFill>
          <a:ln w="25400">
            <a:solidFill>
              <a:srgbClr val="FFFFFF"/>
            </a:solidFill>
            <a:prstDash val="solid"/>
          </a:ln>
        </p:spPr>
      </p:sp>
      <p:sp>
        <p:nvSpPr>
          <p:cNvPr id="16" name="Text 13"/>
          <p:cNvSpPr txBox="1"/>
          <p:nvPr/>
        </p:nvSpPr>
        <p:spPr>
          <a:xfrm>
            <a:off x="2724912"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LM</a:t>
            </a:r>
            <a:endParaRPr lang="en-US" sz="1144" dirty="0"/>
          </a:p>
        </p:txBody>
      </p:sp>
      <p:sp>
        <p:nvSpPr>
          <p:cNvPr id="17" name="Shape 14"/>
          <p:cNvSpPr/>
          <p:nvPr/>
        </p:nvSpPr>
        <p:spPr>
          <a:xfrm>
            <a:off x="3291840" y="3840480"/>
            <a:ext cx="475488" cy="475488"/>
          </a:xfrm>
          <a:prstGeom prst="ellipse">
            <a:avLst/>
          </a:prstGeom>
          <a:solidFill>
            <a:srgbClr val="B45309"/>
          </a:solidFill>
          <a:ln w="25400">
            <a:solidFill>
              <a:srgbClr val="FFFFFF"/>
            </a:solidFill>
            <a:prstDash val="solid"/>
          </a:ln>
        </p:spPr>
      </p:sp>
      <p:sp>
        <p:nvSpPr>
          <p:cNvPr id="18" name="Text 15"/>
          <p:cNvSpPr txBox="1"/>
          <p:nvPr/>
        </p:nvSpPr>
        <p:spPr>
          <a:xfrm>
            <a:off x="3291840"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FD</a:t>
            </a:r>
            <a:endParaRPr lang="en-US" sz="1144" dirty="0"/>
          </a:p>
        </p:txBody>
      </p:sp>
      <p:sp>
        <p:nvSpPr>
          <p:cNvPr id="19" name="Shape 16"/>
          <p:cNvSpPr/>
          <p:nvPr/>
        </p:nvSpPr>
        <p:spPr>
          <a:xfrm>
            <a:off x="3858768" y="3840480"/>
            <a:ext cx="475488" cy="475488"/>
          </a:xfrm>
          <a:prstGeom prst="ellipse">
            <a:avLst/>
          </a:prstGeom>
          <a:solidFill>
            <a:srgbClr val="374151"/>
          </a:solidFill>
          <a:ln w="25400">
            <a:solidFill>
              <a:srgbClr val="FFFFFF"/>
            </a:solidFill>
            <a:prstDash val="solid"/>
          </a:ln>
        </p:spPr>
      </p:sp>
      <p:sp>
        <p:nvSpPr>
          <p:cNvPr id="20" name="Text 17"/>
          <p:cNvSpPr txBox="1"/>
          <p:nvPr/>
        </p:nvSpPr>
        <p:spPr>
          <a:xfrm>
            <a:off x="3858768"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NO</a:t>
            </a:r>
            <a:endParaRPr lang="en-US" sz="1144" dirty="0"/>
          </a:p>
        </p:txBody>
      </p:sp>
      <p:sp>
        <p:nvSpPr>
          <p:cNvPr id="21" name="Shape 18"/>
          <p:cNvSpPr/>
          <p:nvPr/>
        </p:nvSpPr>
        <p:spPr>
          <a:xfrm>
            <a:off x="4425696" y="3840480"/>
            <a:ext cx="475488" cy="475488"/>
          </a:xfrm>
          <a:prstGeom prst="ellipse">
            <a:avLst/>
          </a:prstGeom>
          <a:solidFill>
            <a:srgbClr val="BE185D"/>
          </a:solidFill>
          <a:ln w="25400">
            <a:solidFill>
              <a:srgbClr val="FFFFFF"/>
            </a:solidFill>
            <a:prstDash val="solid"/>
          </a:ln>
        </p:spPr>
      </p:sp>
      <p:sp>
        <p:nvSpPr>
          <p:cNvPr id="22" name="Text 19"/>
          <p:cNvSpPr txBox="1"/>
          <p:nvPr/>
        </p:nvSpPr>
        <p:spPr>
          <a:xfrm>
            <a:off x="4425696" y="3840480"/>
            <a:ext cx="475488" cy="475488"/>
          </a:xfrm>
          <a:prstGeom prst="rect">
            <a:avLst/>
          </a:prstGeom>
          <a:noFill/>
          <a:ln/>
        </p:spPr>
        <p:txBody>
          <a:bodyPr wrap="square" lIns="0" tIns="0" rIns="0" bIns="0" rtlCol="0" anchor="ctr"/>
          <a:lstStyle/>
          <a:p>
            <a:pPr algn="ctr" indent="0" marL="0">
              <a:buNone/>
            </a:pPr>
            <a:r>
              <a:rPr lang="en-US" sz="1144" b="1" dirty="0">
                <a:solidFill>
                  <a:srgbClr val="FFFFFF"/>
                </a:solidFill>
                <a:latin typeface="Calibri" pitchFamily="34" charset="0"/>
                <a:ea typeface="Calibri" pitchFamily="34" charset="-122"/>
                <a:cs typeface="Calibri" pitchFamily="34" charset="-120"/>
              </a:rPr>
              <a:t>PR</a:t>
            </a:r>
            <a:endParaRPr lang="en-US" sz="1144"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Eight personas, one platform</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Everyone works from the same record, with access set by role and consent</a:t>
            </a:r>
            <a:endParaRPr lang="en-US" sz="1300" dirty="0"/>
          </a:p>
        </p:txBody>
      </p:sp>
      <p:sp>
        <p:nvSpPr>
          <p:cNvPr id="4" name="Shape 2"/>
          <p:cNvSpPr/>
          <p:nvPr/>
        </p:nvSpPr>
        <p:spPr>
          <a:xfrm>
            <a:off x="457200" y="132588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94360" y="1463040"/>
            <a:ext cx="502920" cy="502920"/>
          </a:xfrm>
          <a:prstGeom prst="ellipse">
            <a:avLst/>
          </a:prstGeom>
          <a:solidFill>
            <a:srgbClr val="1B6B63"/>
          </a:solidFill>
          <a:ln w="25400">
            <a:solidFill>
              <a:srgbClr val="FFFFFF"/>
            </a:solidFill>
            <a:prstDash val="solid"/>
          </a:ln>
        </p:spPr>
      </p:sp>
      <p:sp>
        <p:nvSpPr>
          <p:cNvPr id="6" name="Text 4"/>
          <p:cNvSpPr txBox="1"/>
          <p:nvPr/>
        </p:nvSpPr>
        <p:spPr>
          <a:xfrm>
            <a:off x="594360" y="146304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MT</a:t>
            </a:r>
            <a:endParaRPr lang="en-US" sz="1210" dirty="0"/>
          </a:p>
        </p:txBody>
      </p:sp>
      <p:sp>
        <p:nvSpPr>
          <p:cNvPr id="7" name="Text 5"/>
          <p:cNvSpPr txBox="1"/>
          <p:nvPr/>
        </p:nvSpPr>
        <p:spPr>
          <a:xfrm>
            <a:off x="1170432" y="146304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Maya · patient</a:t>
            </a:r>
            <a:endParaRPr lang="en-US" sz="1150" dirty="0"/>
          </a:p>
        </p:txBody>
      </p:sp>
      <p:sp>
        <p:nvSpPr>
          <p:cNvPr id="8" name="Text 6"/>
          <p:cNvSpPr txBox="1"/>
          <p:nvPr/>
        </p:nvSpPr>
        <p:spPr>
          <a:xfrm>
            <a:off x="594360" y="205740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Plain answers, safe home monitoring, care without the trip</a:t>
            </a:r>
            <a:endParaRPr lang="en-US" sz="1000" dirty="0"/>
          </a:p>
        </p:txBody>
      </p:sp>
      <p:sp>
        <p:nvSpPr>
          <p:cNvPr id="9" name="Shape 7"/>
          <p:cNvSpPr/>
          <p:nvPr/>
        </p:nvSpPr>
        <p:spPr>
          <a:xfrm>
            <a:off x="2560320" y="132588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10" name="Shape 8"/>
          <p:cNvSpPr/>
          <p:nvPr/>
        </p:nvSpPr>
        <p:spPr>
          <a:xfrm>
            <a:off x="2697480" y="1463040"/>
            <a:ext cx="502920" cy="502920"/>
          </a:xfrm>
          <a:prstGeom prst="ellipse">
            <a:avLst/>
          </a:prstGeom>
          <a:solidFill>
            <a:srgbClr val="7C3AED"/>
          </a:solidFill>
          <a:ln w="25400">
            <a:solidFill>
              <a:srgbClr val="FFFFFF"/>
            </a:solidFill>
            <a:prstDash val="solid"/>
          </a:ln>
        </p:spPr>
      </p:sp>
      <p:sp>
        <p:nvSpPr>
          <p:cNvPr id="11" name="Text 9"/>
          <p:cNvSpPr txBox="1"/>
          <p:nvPr/>
        </p:nvSpPr>
        <p:spPr>
          <a:xfrm>
            <a:off x="2697480" y="146304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RH</a:t>
            </a:r>
            <a:endParaRPr lang="en-US" sz="1210" dirty="0"/>
          </a:p>
        </p:txBody>
      </p:sp>
      <p:sp>
        <p:nvSpPr>
          <p:cNvPr id="12" name="Text 10"/>
          <p:cNvSpPr txBox="1"/>
          <p:nvPr/>
        </p:nvSpPr>
        <p:spPr>
          <a:xfrm>
            <a:off x="3273552" y="146304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Rana · older patient</a:t>
            </a:r>
            <a:endParaRPr lang="en-US" sz="1150" dirty="0"/>
          </a:p>
        </p:txBody>
      </p:sp>
      <p:sp>
        <p:nvSpPr>
          <p:cNvPr id="13" name="Text 11"/>
          <p:cNvSpPr txBox="1"/>
          <p:nvPr/>
        </p:nvSpPr>
        <p:spPr>
          <a:xfrm>
            <a:off x="2697480" y="205740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Big, spoken, simple: independence with safety checks</a:t>
            </a:r>
            <a:endParaRPr lang="en-US" sz="1000" dirty="0"/>
          </a:p>
        </p:txBody>
      </p:sp>
      <p:sp>
        <p:nvSpPr>
          <p:cNvPr id="14" name="Shape 12"/>
          <p:cNvSpPr/>
          <p:nvPr/>
        </p:nvSpPr>
        <p:spPr>
          <a:xfrm>
            <a:off x="4663440" y="132588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4800600" y="1463040"/>
            <a:ext cx="502920" cy="502920"/>
          </a:xfrm>
          <a:prstGeom prst="ellipse">
            <a:avLst/>
          </a:prstGeom>
          <a:solidFill>
            <a:srgbClr val="0369A1"/>
          </a:solidFill>
          <a:ln w="25400">
            <a:solidFill>
              <a:srgbClr val="FFFFFF"/>
            </a:solidFill>
            <a:prstDash val="solid"/>
          </a:ln>
        </p:spPr>
      </p:sp>
      <p:sp>
        <p:nvSpPr>
          <p:cNvPr id="16" name="Text 14"/>
          <p:cNvSpPr txBox="1"/>
          <p:nvPr/>
        </p:nvSpPr>
        <p:spPr>
          <a:xfrm>
            <a:off x="4800600" y="146304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DT</a:t>
            </a:r>
            <a:endParaRPr lang="en-US" sz="1210" dirty="0"/>
          </a:p>
        </p:txBody>
      </p:sp>
      <p:sp>
        <p:nvSpPr>
          <p:cNvPr id="17" name="Text 15"/>
          <p:cNvSpPr txBox="1"/>
          <p:nvPr/>
        </p:nvSpPr>
        <p:spPr>
          <a:xfrm>
            <a:off x="5376672" y="146304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David · caregiver</a:t>
            </a:r>
            <a:endParaRPr lang="en-US" sz="1150" dirty="0"/>
          </a:p>
        </p:txBody>
      </p:sp>
      <p:sp>
        <p:nvSpPr>
          <p:cNvPr id="18" name="Text 16"/>
          <p:cNvSpPr txBox="1"/>
          <p:nvPr/>
        </p:nvSpPr>
        <p:spPr>
          <a:xfrm>
            <a:off x="4800600" y="205740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Helps Maya with the access she grants</a:t>
            </a:r>
            <a:endParaRPr lang="en-US" sz="1000" dirty="0"/>
          </a:p>
        </p:txBody>
      </p:sp>
      <p:sp>
        <p:nvSpPr>
          <p:cNvPr id="19" name="Shape 17"/>
          <p:cNvSpPr/>
          <p:nvPr/>
        </p:nvSpPr>
        <p:spPr>
          <a:xfrm>
            <a:off x="6766560" y="132588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20" name="Shape 18"/>
          <p:cNvSpPr/>
          <p:nvPr/>
        </p:nvSpPr>
        <p:spPr>
          <a:xfrm>
            <a:off x="6903720" y="1463040"/>
            <a:ext cx="502920" cy="502920"/>
          </a:xfrm>
          <a:prstGeom prst="ellipse">
            <a:avLst/>
          </a:prstGeom>
          <a:solidFill>
            <a:srgbClr val="134E4A"/>
          </a:solidFill>
          <a:ln w="25400">
            <a:solidFill>
              <a:srgbClr val="FFFFFF"/>
            </a:solidFill>
            <a:prstDash val="solid"/>
          </a:ln>
        </p:spPr>
      </p:sp>
      <p:sp>
        <p:nvSpPr>
          <p:cNvPr id="21" name="Text 19"/>
          <p:cNvSpPr txBox="1"/>
          <p:nvPr/>
        </p:nvSpPr>
        <p:spPr>
          <a:xfrm>
            <a:off x="6903720" y="146304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AO</a:t>
            </a:r>
            <a:endParaRPr lang="en-US" sz="1210" dirty="0"/>
          </a:p>
        </p:txBody>
      </p:sp>
      <p:sp>
        <p:nvSpPr>
          <p:cNvPr id="22" name="Text 20"/>
          <p:cNvSpPr txBox="1"/>
          <p:nvPr/>
        </p:nvSpPr>
        <p:spPr>
          <a:xfrm>
            <a:off x="7479792" y="146304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Dr. Okafor · clinician</a:t>
            </a:r>
            <a:endParaRPr lang="en-US" sz="1150" dirty="0"/>
          </a:p>
        </p:txBody>
      </p:sp>
      <p:sp>
        <p:nvSpPr>
          <p:cNvPr id="23" name="Text 21"/>
          <p:cNvSpPr txBox="1"/>
          <p:nvPr/>
        </p:nvSpPr>
        <p:spPr>
          <a:xfrm>
            <a:off x="6903720" y="205740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Context before visits, urgent first, approve not draft</a:t>
            </a:r>
            <a:endParaRPr lang="en-US" sz="1000" dirty="0"/>
          </a:p>
        </p:txBody>
      </p:sp>
      <p:sp>
        <p:nvSpPr>
          <p:cNvPr id="24" name="Shape 22"/>
          <p:cNvSpPr/>
          <p:nvPr/>
        </p:nvSpPr>
        <p:spPr>
          <a:xfrm>
            <a:off x="457200" y="306324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25" name="Shape 23"/>
          <p:cNvSpPr/>
          <p:nvPr/>
        </p:nvSpPr>
        <p:spPr>
          <a:xfrm>
            <a:off x="594360" y="3200400"/>
            <a:ext cx="502920" cy="502920"/>
          </a:xfrm>
          <a:prstGeom prst="ellipse">
            <a:avLst/>
          </a:prstGeom>
          <a:solidFill>
            <a:srgbClr val="0F766E"/>
          </a:solidFill>
          <a:ln w="25400">
            <a:solidFill>
              <a:srgbClr val="FFFFFF"/>
            </a:solidFill>
            <a:prstDash val="solid"/>
          </a:ln>
        </p:spPr>
      </p:sp>
      <p:sp>
        <p:nvSpPr>
          <p:cNvPr id="26" name="Text 24"/>
          <p:cNvSpPr txBox="1"/>
          <p:nvPr/>
        </p:nvSpPr>
        <p:spPr>
          <a:xfrm>
            <a:off x="594360" y="320040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LM</a:t>
            </a:r>
            <a:endParaRPr lang="en-US" sz="1210" dirty="0"/>
          </a:p>
        </p:txBody>
      </p:sp>
      <p:sp>
        <p:nvSpPr>
          <p:cNvPr id="27" name="Text 25"/>
          <p:cNvSpPr txBox="1"/>
          <p:nvPr/>
        </p:nvSpPr>
        <p:spPr>
          <a:xfrm>
            <a:off x="1170432" y="320040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Lena · pharmacist</a:t>
            </a:r>
            <a:endParaRPr lang="en-US" sz="1150" dirty="0"/>
          </a:p>
        </p:txBody>
      </p:sp>
      <p:sp>
        <p:nvSpPr>
          <p:cNvPr id="28" name="Text 26"/>
          <p:cNvSpPr txBox="1"/>
          <p:nvPr/>
        </p:nvSpPr>
        <p:spPr>
          <a:xfrm>
            <a:off x="594360" y="379476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Checks done for her, traceable delivery</a:t>
            </a:r>
            <a:endParaRPr lang="en-US" sz="1000" dirty="0"/>
          </a:p>
        </p:txBody>
      </p:sp>
      <p:sp>
        <p:nvSpPr>
          <p:cNvPr id="29" name="Shape 27"/>
          <p:cNvSpPr/>
          <p:nvPr/>
        </p:nvSpPr>
        <p:spPr>
          <a:xfrm>
            <a:off x="2560320" y="306324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30" name="Shape 28"/>
          <p:cNvSpPr/>
          <p:nvPr/>
        </p:nvSpPr>
        <p:spPr>
          <a:xfrm>
            <a:off x="2697480" y="3200400"/>
            <a:ext cx="502920" cy="502920"/>
          </a:xfrm>
          <a:prstGeom prst="ellipse">
            <a:avLst/>
          </a:prstGeom>
          <a:solidFill>
            <a:srgbClr val="B45309"/>
          </a:solidFill>
          <a:ln w="25400">
            <a:solidFill>
              <a:srgbClr val="FFFFFF"/>
            </a:solidFill>
            <a:prstDash val="solid"/>
          </a:ln>
        </p:spPr>
      </p:sp>
      <p:sp>
        <p:nvSpPr>
          <p:cNvPr id="31" name="Text 29"/>
          <p:cNvSpPr txBox="1"/>
          <p:nvPr/>
        </p:nvSpPr>
        <p:spPr>
          <a:xfrm>
            <a:off x="2697480" y="320040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FD</a:t>
            </a:r>
            <a:endParaRPr lang="en-US" sz="1210" dirty="0"/>
          </a:p>
        </p:txBody>
      </p:sp>
      <p:sp>
        <p:nvSpPr>
          <p:cNvPr id="32" name="Text 30"/>
          <p:cNvSpPr txBox="1"/>
          <p:nvPr/>
        </p:nvSpPr>
        <p:spPr>
          <a:xfrm>
            <a:off x="3273552" y="320040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Front desk</a:t>
            </a:r>
            <a:endParaRPr lang="en-US" sz="1150" dirty="0"/>
          </a:p>
        </p:txBody>
      </p:sp>
      <p:sp>
        <p:nvSpPr>
          <p:cNvPr id="33" name="Text 31"/>
          <p:cNvSpPr txBox="1"/>
          <p:nvPr/>
        </p:nvSpPr>
        <p:spPr>
          <a:xfrm>
            <a:off x="2697480" y="379476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Coverage verified early, inbox that sorts itself</a:t>
            </a:r>
            <a:endParaRPr lang="en-US" sz="1000" dirty="0"/>
          </a:p>
        </p:txBody>
      </p:sp>
      <p:sp>
        <p:nvSpPr>
          <p:cNvPr id="34" name="Shape 32"/>
          <p:cNvSpPr/>
          <p:nvPr/>
        </p:nvSpPr>
        <p:spPr>
          <a:xfrm>
            <a:off x="4663440" y="306324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35" name="Shape 33"/>
          <p:cNvSpPr/>
          <p:nvPr/>
        </p:nvSpPr>
        <p:spPr>
          <a:xfrm>
            <a:off x="4800600" y="3200400"/>
            <a:ext cx="502920" cy="502920"/>
          </a:xfrm>
          <a:prstGeom prst="ellipse">
            <a:avLst/>
          </a:prstGeom>
          <a:solidFill>
            <a:srgbClr val="374151"/>
          </a:solidFill>
          <a:ln w="25400">
            <a:solidFill>
              <a:srgbClr val="FFFFFF"/>
            </a:solidFill>
            <a:prstDash val="solid"/>
          </a:ln>
        </p:spPr>
      </p:sp>
      <p:sp>
        <p:nvSpPr>
          <p:cNvPr id="36" name="Text 34"/>
          <p:cNvSpPr txBox="1"/>
          <p:nvPr/>
        </p:nvSpPr>
        <p:spPr>
          <a:xfrm>
            <a:off x="4800600" y="320040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NO</a:t>
            </a:r>
            <a:endParaRPr lang="en-US" sz="1210" dirty="0"/>
          </a:p>
        </p:txBody>
      </p:sp>
      <p:sp>
        <p:nvSpPr>
          <p:cNvPr id="37" name="Text 35"/>
          <p:cNvSpPr txBox="1"/>
          <p:nvPr/>
        </p:nvSpPr>
        <p:spPr>
          <a:xfrm>
            <a:off x="5376672" y="320040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Administrators</a:t>
            </a:r>
            <a:endParaRPr lang="en-US" sz="1150" dirty="0"/>
          </a:p>
        </p:txBody>
      </p:sp>
      <p:sp>
        <p:nvSpPr>
          <p:cNvPr id="38" name="Text 36"/>
          <p:cNvSpPr txBox="1"/>
          <p:nvPr/>
        </p:nvSpPr>
        <p:spPr>
          <a:xfrm>
            <a:off x="4800600" y="379476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Access, operations, revenue and AI oversight</a:t>
            </a:r>
            <a:endParaRPr lang="en-US" sz="1000" dirty="0"/>
          </a:p>
        </p:txBody>
      </p:sp>
      <p:sp>
        <p:nvSpPr>
          <p:cNvPr id="39" name="Shape 37"/>
          <p:cNvSpPr/>
          <p:nvPr/>
        </p:nvSpPr>
        <p:spPr>
          <a:xfrm>
            <a:off x="6766560" y="3063240"/>
            <a:ext cx="1920240" cy="1554480"/>
          </a:xfrm>
          <a:prstGeom prst="roundRect">
            <a:avLst>
              <a:gd name="adj" fmla="val 7059"/>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40" name="Shape 38"/>
          <p:cNvSpPr/>
          <p:nvPr/>
        </p:nvSpPr>
        <p:spPr>
          <a:xfrm>
            <a:off x="6903720" y="3200400"/>
            <a:ext cx="502920" cy="502920"/>
          </a:xfrm>
          <a:prstGeom prst="ellipse">
            <a:avLst/>
          </a:prstGeom>
          <a:solidFill>
            <a:srgbClr val="BE185D"/>
          </a:solidFill>
          <a:ln w="25400">
            <a:solidFill>
              <a:srgbClr val="FFFFFF"/>
            </a:solidFill>
            <a:prstDash val="solid"/>
          </a:ln>
        </p:spPr>
      </p:sp>
      <p:sp>
        <p:nvSpPr>
          <p:cNvPr id="41" name="Text 39"/>
          <p:cNvSpPr txBox="1"/>
          <p:nvPr/>
        </p:nvSpPr>
        <p:spPr>
          <a:xfrm>
            <a:off x="6903720" y="3200400"/>
            <a:ext cx="502920" cy="502920"/>
          </a:xfrm>
          <a:prstGeom prst="rect">
            <a:avLst/>
          </a:prstGeom>
          <a:noFill/>
          <a:ln/>
        </p:spPr>
        <p:txBody>
          <a:bodyPr wrap="square" lIns="0" tIns="0" rIns="0" bIns="0" rtlCol="0" anchor="ctr"/>
          <a:lstStyle/>
          <a:p>
            <a:pPr algn="ctr" indent="0" marL="0">
              <a:buNone/>
            </a:pPr>
            <a:r>
              <a:rPr lang="en-US" sz="1210" b="1" dirty="0">
                <a:solidFill>
                  <a:srgbClr val="FFFFFF"/>
                </a:solidFill>
                <a:latin typeface="Calibri" pitchFamily="34" charset="0"/>
                <a:ea typeface="Calibri" pitchFamily="34" charset="-122"/>
                <a:cs typeface="Calibri" pitchFamily="34" charset="-120"/>
              </a:rPr>
              <a:t>PR</a:t>
            </a:r>
            <a:endParaRPr lang="en-US" sz="1210" dirty="0"/>
          </a:p>
        </p:txBody>
      </p:sp>
      <p:sp>
        <p:nvSpPr>
          <p:cNvPr id="42" name="Text 40"/>
          <p:cNvSpPr txBox="1"/>
          <p:nvPr/>
        </p:nvSpPr>
        <p:spPr>
          <a:xfrm>
            <a:off x="7479792" y="3200400"/>
            <a:ext cx="1161288" cy="50292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Priya · student</a:t>
            </a:r>
            <a:endParaRPr lang="en-US" sz="1150" dirty="0"/>
          </a:p>
        </p:txBody>
      </p:sp>
      <p:sp>
        <p:nvSpPr>
          <p:cNvPr id="43" name="Text 41"/>
          <p:cNvSpPr txBox="1"/>
          <p:nvPr/>
        </p:nvSpPr>
        <p:spPr>
          <a:xfrm>
            <a:off x="6903720" y="3794760"/>
            <a:ext cx="1691640" cy="7772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Real cases, safely de-identified, with a tutor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Meet Maya Thornton</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54, managing high blood pressure and a new cholesterol medicine; prefers Spanish</a:t>
            </a:r>
            <a:endParaRPr lang="en-US" sz="1300" dirty="0"/>
          </a:p>
        </p:txBody>
      </p:sp>
      <p:sp>
        <p:nvSpPr>
          <p:cNvPr id="4" name="Shape 2"/>
          <p:cNvSpPr/>
          <p:nvPr/>
        </p:nvSpPr>
        <p:spPr>
          <a:xfrm>
            <a:off x="457200" y="1325880"/>
            <a:ext cx="3063240" cy="3429000"/>
          </a:xfrm>
          <a:prstGeom prst="roundRect">
            <a:avLst>
              <a:gd name="adj" fmla="val 358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658368" y="1481328"/>
            <a:ext cx="658368" cy="658368"/>
          </a:xfrm>
          <a:prstGeom prst="ellipse">
            <a:avLst/>
          </a:prstGeom>
          <a:solidFill>
            <a:srgbClr val="1B6B63"/>
          </a:solidFill>
          <a:ln w="25400">
            <a:solidFill>
              <a:srgbClr val="FFFFFF"/>
            </a:solidFill>
            <a:prstDash val="solid"/>
          </a:ln>
        </p:spPr>
      </p:sp>
      <p:sp>
        <p:nvSpPr>
          <p:cNvPr id="6" name="Text 4"/>
          <p:cNvSpPr txBox="1"/>
          <p:nvPr/>
        </p:nvSpPr>
        <p:spPr>
          <a:xfrm>
            <a:off x="658368" y="1481328"/>
            <a:ext cx="658368" cy="658368"/>
          </a:xfrm>
          <a:prstGeom prst="rect">
            <a:avLst/>
          </a:prstGeom>
          <a:noFill/>
          <a:ln/>
        </p:spPr>
        <p:txBody>
          <a:bodyPr wrap="square" lIns="0" tIns="0" rIns="0" bIns="0" rtlCol="0" anchor="ctr"/>
          <a:lstStyle/>
          <a:p>
            <a:pPr algn="ctr" indent="0" marL="0">
              <a:buNone/>
            </a:pPr>
            <a:r>
              <a:rPr lang="en-US" sz="1584" b="1" dirty="0">
                <a:solidFill>
                  <a:srgbClr val="FFFFFF"/>
                </a:solidFill>
                <a:latin typeface="Calibri" pitchFamily="34" charset="0"/>
                <a:ea typeface="Calibri" pitchFamily="34" charset="-122"/>
                <a:cs typeface="Calibri" pitchFamily="34" charset="-120"/>
              </a:rPr>
              <a:t>MT</a:t>
            </a:r>
            <a:endParaRPr lang="en-US" sz="1584" dirty="0"/>
          </a:p>
        </p:txBody>
      </p:sp>
      <p:sp>
        <p:nvSpPr>
          <p:cNvPr id="7" name="Text 5"/>
          <p:cNvSpPr txBox="1"/>
          <p:nvPr/>
        </p:nvSpPr>
        <p:spPr>
          <a:xfrm>
            <a:off x="1444752" y="1481328"/>
            <a:ext cx="2011680" cy="658368"/>
          </a:xfrm>
          <a:prstGeom prst="rect">
            <a:avLst/>
          </a:prstGeom>
          <a:noFill/>
          <a:ln/>
        </p:spPr>
        <p:txBody>
          <a:bodyPr wrap="square" lIns="0" tIns="0" rIns="0" bIns="0"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Maya Thornton</a:t>
            </a:r>
            <a:endParaRPr lang="en-US" sz="1400" dirty="0"/>
          </a:p>
        </p:txBody>
      </p:sp>
      <p:sp>
        <p:nvSpPr>
          <p:cNvPr id="8" name="Text 6"/>
          <p:cNvSpPr txBox="1"/>
          <p:nvPr/>
        </p:nvSpPr>
        <p:spPr>
          <a:xfrm>
            <a:off x="658368" y="2212848"/>
            <a:ext cx="274320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Patient · allergic to penicillin · sees a cardiologist</a:t>
            </a:r>
            <a:endParaRPr lang="en-US" sz="1000" dirty="0"/>
          </a:p>
        </p:txBody>
      </p:sp>
      <p:sp>
        <p:nvSpPr>
          <p:cNvPr id="9" name="Text 7"/>
          <p:cNvSpPr txBox="1"/>
          <p:nvPr/>
        </p:nvSpPr>
        <p:spPr>
          <a:xfrm>
            <a:off x="658368" y="2651760"/>
            <a:ext cx="2743200" cy="237744"/>
          </a:xfrm>
          <a:prstGeom prst="rect">
            <a:avLst/>
          </a:prstGeom>
          <a:noFill/>
          <a:ln/>
        </p:spPr>
        <p:txBody>
          <a:bodyPr wrap="square" lIns="0" tIns="0" rIns="0" bIns="0" rtlCol="0" anchor="t"/>
          <a:lstStyle/>
          <a:p>
            <a:pPr indent="0" marL="0">
              <a:buNone/>
            </a:pPr>
            <a:r>
              <a:rPr lang="en-US" sz="1150" b="1" dirty="0">
                <a:solidFill>
                  <a:srgbClr val="134E4A"/>
                </a:solidFill>
                <a:latin typeface="Calibri" pitchFamily="34" charset="0"/>
                <a:ea typeface="Calibri" pitchFamily="34" charset="-122"/>
                <a:cs typeface="Calibri" pitchFamily="34" charset="-120"/>
              </a:rPr>
              <a:t>Goals</a:t>
            </a:r>
            <a:endParaRPr lang="en-US" sz="1150" dirty="0"/>
          </a:p>
        </p:txBody>
      </p:sp>
      <p:sp>
        <p:nvSpPr>
          <p:cNvPr id="10" name="Text 8"/>
          <p:cNvSpPr txBox="1"/>
          <p:nvPr/>
        </p:nvSpPr>
        <p:spPr>
          <a:xfrm>
            <a:off x="658368" y="2889504"/>
            <a:ext cx="2697480" cy="822960"/>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Understand results without the jargon</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Keep blood pressure and cholesterol in check</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Get answers without phone tag</a:t>
            </a:r>
            <a:endParaRPr lang="en-US" sz="1000" dirty="0"/>
          </a:p>
        </p:txBody>
      </p:sp>
      <p:sp>
        <p:nvSpPr>
          <p:cNvPr id="11" name="Text 9"/>
          <p:cNvSpPr txBox="1"/>
          <p:nvPr/>
        </p:nvSpPr>
        <p:spPr>
          <a:xfrm>
            <a:off x="658368" y="3730752"/>
            <a:ext cx="2743200" cy="237744"/>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Frustrations today</a:t>
            </a:r>
            <a:endParaRPr lang="en-US" sz="1150" dirty="0"/>
          </a:p>
        </p:txBody>
      </p:sp>
      <p:sp>
        <p:nvSpPr>
          <p:cNvPr id="12" name="Text 10"/>
          <p:cNvSpPr txBox="1"/>
          <p:nvPr/>
        </p:nvSpPr>
        <p:spPr>
          <a:xfrm>
            <a:off x="658368" y="3968496"/>
            <a:ext cx="2697480" cy="749808"/>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Results arrive with no explanation</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Doesn't know if a reading is dangerous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Forgets evening doses</a:t>
            </a:r>
            <a:endParaRPr lang="en-US" sz="1000" dirty="0"/>
          </a:p>
        </p:txBody>
      </p:sp>
      <p:sp>
        <p:nvSpPr>
          <p:cNvPr id="13" name="Text 11"/>
          <p:cNvSpPr txBox="1"/>
          <p:nvPr/>
        </p:nvSpPr>
        <p:spPr>
          <a:xfrm>
            <a:off x="3794760" y="1325880"/>
            <a:ext cx="4892040" cy="320040"/>
          </a:xfrm>
          <a:prstGeom prst="rect">
            <a:avLst/>
          </a:prstGeom>
          <a:noFill/>
          <a:ln/>
        </p:spPr>
        <p:txBody>
          <a:bodyPr wrap="square" lIns="0" tIns="0" rIns="0" bIns="0" rtlCol="0" anchor="t"/>
          <a:lstStyle/>
          <a:p>
            <a:pPr indent="0" marL="0">
              <a:buNone/>
            </a:pPr>
            <a:r>
              <a:rPr lang="en-US" sz="1400" b="1" dirty="0">
                <a:solidFill>
                  <a:srgbClr val="134E4A"/>
                </a:solidFill>
                <a:latin typeface="Calibri" pitchFamily="34" charset="0"/>
                <a:ea typeface="Calibri" pitchFamily="34" charset="-122"/>
                <a:cs typeface="Calibri" pitchFamily="34" charset="-120"/>
              </a:rPr>
              <a:t>What Bioverse One gives her</a:t>
            </a:r>
            <a:endParaRPr lang="en-US" sz="1400" dirty="0"/>
          </a:p>
        </p:txBody>
      </p:sp>
      <p:sp>
        <p:nvSpPr>
          <p:cNvPr id="14" name="Shape 12"/>
          <p:cNvSpPr/>
          <p:nvPr/>
        </p:nvSpPr>
        <p:spPr>
          <a:xfrm>
            <a:off x="3794760" y="1737360"/>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3904488" y="1792224"/>
            <a:ext cx="420624" cy="420624"/>
          </a:xfrm>
          <a:prstGeom prst="ellipse">
            <a:avLst/>
          </a:prstGeom>
          <a:solidFill>
            <a:srgbClr val="1B6B63"/>
          </a:solidFill>
          <a:ln w="12700">
            <a:solidFill>
              <a:srgbClr val="1B6B63"/>
            </a:solidFill>
            <a:prstDash val="solid"/>
          </a:ln>
        </p:spPr>
      </p:sp>
      <p:pic>
        <p:nvPicPr>
          <p:cNvPr id="16" name="Image 0" descr="preencoded.png">    </p:cNvPr>
          <p:cNvPicPr>
            <a:picLocks noChangeAspect="1"/>
          </p:cNvPicPr>
          <p:nvPr/>
        </p:nvPicPr>
        <p:blipFill>
          <a:blip r:embed="rId1"/>
          <a:stretch>
            <a:fillRect/>
          </a:stretch>
        </p:blipFill>
        <p:spPr>
          <a:xfrm>
            <a:off x="4009644" y="1897380"/>
            <a:ext cx="210312" cy="210312"/>
          </a:xfrm>
          <a:prstGeom prst="rect">
            <a:avLst/>
          </a:prstGeom>
        </p:spPr>
      </p:pic>
      <p:sp>
        <p:nvSpPr>
          <p:cNvPr id="17" name="Text 14"/>
          <p:cNvSpPr txBox="1"/>
          <p:nvPr/>
        </p:nvSpPr>
        <p:spPr>
          <a:xfrm>
            <a:off x="4434840" y="179222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Ask anything, any time</a:t>
            </a:r>
            <a:endParaRPr lang="en-US" sz="1200" dirty="0"/>
          </a:p>
        </p:txBody>
      </p:sp>
      <p:sp>
        <p:nvSpPr>
          <p:cNvPr id="18" name="Text 15"/>
          <p:cNvSpPr txBox="1"/>
          <p:nvPr/>
        </p:nvSpPr>
        <p:spPr>
          <a:xfrm>
            <a:off x="4434840" y="2029968"/>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By text, voice or photo; emergencies are always caught first</a:t>
            </a:r>
            <a:endParaRPr lang="en-US" sz="950" dirty="0"/>
          </a:p>
        </p:txBody>
      </p:sp>
      <p:sp>
        <p:nvSpPr>
          <p:cNvPr id="19" name="Shape 16"/>
          <p:cNvSpPr/>
          <p:nvPr/>
        </p:nvSpPr>
        <p:spPr>
          <a:xfrm>
            <a:off x="3794760" y="2359152"/>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0" name="Shape 17"/>
          <p:cNvSpPr/>
          <p:nvPr/>
        </p:nvSpPr>
        <p:spPr>
          <a:xfrm>
            <a:off x="3904488" y="2414016"/>
            <a:ext cx="420624" cy="420624"/>
          </a:xfrm>
          <a:prstGeom prst="ellipse">
            <a:avLst/>
          </a:prstGeom>
          <a:solidFill>
            <a:srgbClr val="1B6B63"/>
          </a:solidFill>
          <a:ln w="12700">
            <a:solidFill>
              <a:srgbClr val="1B6B63"/>
            </a:solidFill>
            <a:prstDash val="solid"/>
          </a:ln>
        </p:spPr>
      </p:sp>
      <p:pic>
        <p:nvPicPr>
          <p:cNvPr id="21" name="Image 1" descr="preencoded.png">    </p:cNvPr>
          <p:cNvPicPr>
            <a:picLocks noChangeAspect="1"/>
          </p:cNvPicPr>
          <p:nvPr/>
        </p:nvPicPr>
        <p:blipFill>
          <a:blip r:embed="rId2"/>
          <a:stretch>
            <a:fillRect/>
          </a:stretch>
        </p:blipFill>
        <p:spPr>
          <a:xfrm>
            <a:off x="4009644" y="2519172"/>
            <a:ext cx="210312" cy="210312"/>
          </a:xfrm>
          <a:prstGeom prst="rect">
            <a:avLst/>
          </a:prstGeom>
        </p:spPr>
      </p:pic>
      <p:sp>
        <p:nvSpPr>
          <p:cNvPr id="22" name="Text 18"/>
          <p:cNvSpPr txBox="1"/>
          <p:nvPr/>
        </p:nvSpPr>
        <p:spPr>
          <a:xfrm>
            <a:off x="4434840" y="2414016"/>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Know when a reading matters</a:t>
            </a:r>
            <a:endParaRPr lang="en-US" sz="1200" dirty="0"/>
          </a:p>
        </p:txBody>
      </p:sp>
      <p:sp>
        <p:nvSpPr>
          <p:cNvPr id="23" name="Text 19"/>
          <p:cNvSpPr txBox="1"/>
          <p:nvPr/>
        </p:nvSpPr>
        <p:spPr>
          <a:xfrm>
            <a:off x="4434840" y="2651760"/>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Instant guidance on home readings; her care team is alerted</a:t>
            </a:r>
            <a:endParaRPr lang="en-US" sz="950" dirty="0"/>
          </a:p>
        </p:txBody>
      </p:sp>
      <p:sp>
        <p:nvSpPr>
          <p:cNvPr id="24" name="Shape 20"/>
          <p:cNvSpPr/>
          <p:nvPr/>
        </p:nvSpPr>
        <p:spPr>
          <a:xfrm>
            <a:off x="3794760" y="2980944"/>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5" name="Shape 21"/>
          <p:cNvSpPr/>
          <p:nvPr/>
        </p:nvSpPr>
        <p:spPr>
          <a:xfrm>
            <a:off x="3904488" y="3035808"/>
            <a:ext cx="420624" cy="420624"/>
          </a:xfrm>
          <a:prstGeom prst="ellipse">
            <a:avLst/>
          </a:prstGeom>
          <a:solidFill>
            <a:srgbClr val="1B6B63"/>
          </a:solidFill>
          <a:ln w="12700">
            <a:solidFill>
              <a:srgbClr val="1B6B63"/>
            </a:solidFill>
            <a:prstDash val="solid"/>
          </a:ln>
        </p:spPr>
      </p:sp>
      <p:pic>
        <p:nvPicPr>
          <p:cNvPr id="26" name="Image 2" descr="preencoded.png">    </p:cNvPr>
          <p:cNvPicPr>
            <a:picLocks noChangeAspect="1"/>
          </p:cNvPicPr>
          <p:nvPr/>
        </p:nvPicPr>
        <p:blipFill>
          <a:blip r:embed="rId3"/>
          <a:stretch>
            <a:fillRect/>
          </a:stretch>
        </p:blipFill>
        <p:spPr>
          <a:xfrm>
            <a:off x="4009644" y="3140964"/>
            <a:ext cx="210312" cy="210312"/>
          </a:xfrm>
          <a:prstGeom prst="rect">
            <a:avLst/>
          </a:prstGeom>
        </p:spPr>
      </p:pic>
      <p:sp>
        <p:nvSpPr>
          <p:cNvPr id="27" name="Text 22"/>
          <p:cNvSpPr txBox="1"/>
          <p:nvPr/>
        </p:nvSpPr>
        <p:spPr>
          <a:xfrm>
            <a:off x="4434840" y="3035808"/>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Results she understands</a:t>
            </a:r>
            <a:endParaRPr lang="en-US" sz="1200" dirty="0"/>
          </a:p>
        </p:txBody>
      </p:sp>
      <p:sp>
        <p:nvSpPr>
          <p:cNvPr id="28" name="Text 23"/>
          <p:cNvSpPr txBox="1"/>
          <p:nvPr/>
        </p:nvSpPr>
        <p:spPr>
          <a:xfrm>
            <a:off x="4434840" y="3273552"/>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Plain-language explanations, released after her doctor approves</a:t>
            </a:r>
            <a:endParaRPr lang="en-US" sz="950" dirty="0"/>
          </a:p>
        </p:txBody>
      </p:sp>
      <p:sp>
        <p:nvSpPr>
          <p:cNvPr id="29" name="Shape 24"/>
          <p:cNvSpPr/>
          <p:nvPr/>
        </p:nvSpPr>
        <p:spPr>
          <a:xfrm>
            <a:off x="3794760" y="3602736"/>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0" name="Shape 25"/>
          <p:cNvSpPr/>
          <p:nvPr/>
        </p:nvSpPr>
        <p:spPr>
          <a:xfrm>
            <a:off x="3904488" y="3657600"/>
            <a:ext cx="420624" cy="420624"/>
          </a:xfrm>
          <a:prstGeom prst="ellipse">
            <a:avLst/>
          </a:prstGeom>
          <a:solidFill>
            <a:srgbClr val="1B6B63"/>
          </a:solidFill>
          <a:ln w="12700">
            <a:solidFill>
              <a:srgbClr val="1B6B63"/>
            </a:solidFill>
            <a:prstDash val="solid"/>
          </a:ln>
        </p:spPr>
      </p:sp>
      <p:pic>
        <p:nvPicPr>
          <p:cNvPr id="31" name="Image 3" descr="preencoded.png">    </p:cNvPr>
          <p:cNvPicPr>
            <a:picLocks noChangeAspect="1"/>
          </p:cNvPicPr>
          <p:nvPr/>
        </p:nvPicPr>
        <p:blipFill>
          <a:blip r:embed="rId4"/>
          <a:stretch>
            <a:fillRect/>
          </a:stretch>
        </p:blipFill>
        <p:spPr>
          <a:xfrm>
            <a:off x="4009644" y="3762756"/>
            <a:ext cx="210312" cy="210312"/>
          </a:xfrm>
          <a:prstGeom prst="rect">
            <a:avLst/>
          </a:prstGeom>
        </p:spPr>
      </p:pic>
      <p:sp>
        <p:nvSpPr>
          <p:cNvPr id="32" name="Text 26"/>
          <p:cNvSpPr txBox="1"/>
          <p:nvPr/>
        </p:nvSpPr>
        <p:spPr>
          <a:xfrm>
            <a:off x="4434840" y="3657600"/>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Care without the trip</a:t>
            </a:r>
            <a:endParaRPr lang="en-US" sz="1200" dirty="0"/>
          </a:p>
        </p:txBody>
      </p:sp>
      <p:sp>
        <p:nvSpPr>
          <p:cNvPr id="33" name="Text 27"/>
          <p:cNvSpPr txBox="1"/>
          <p:nvPr/>
        </p:nvSpPr>
        <p:spPr>
          <a:xfrm>
            <a:off x="4434840" y="3895344"/>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Online consults, medicines delivered, reminders that stick</a:t>
            </a:r>
            <a:endParaRPr lang="en-US" sz="950" dirty="0"/>
          </a:p>
        </p:txBody>
      </p:sp>
      <p:sp>
        <p:nvSpPr>
          <p:cNvPr id="34" name="Shape 28"/>
          <p:cNvSpPr/>
          <p:nvPr/>
        </p:nvSpPr>
        <p:spPr>
          <a:xfrm>
            <a:off x="3794760" y="4224528"/>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5" name="Shape 29"/>
          <p:cNvSpPr/>
          <p:nvPr/>
        </p:nvSpPr>
        <p:spPr>
          <a:xfrm>
            <a:off x="3904488" y="4279392"/>
            <a:ext cx="420624" cy="420624"/>
          </a:xfrm>
          <a:prstGeom prst="ellipse">
            <a:avLst/>
          </a:prstGeom>
          <a:solidFill>
            <a:srgbClr val="1B6B63"/>
          </a:solidFill>
          <a:ln w="12700">
            <a:solidFill>
              <a:srgbClr val="1B6B63"/>
            </a:solidFill>
            <a:prstDash val="solid"/>
          </a:ln>
        </p:spPr>
      </p:sp>
      <p:pic>
        <p:nvPicPr>
          <p:cNvPr id="36" name="Image 4" descr="preencoded.png">    </p:cNvPr>
          <p:cNvPicPr>
            <a:picLocks noChangeAspect="1"/>
          </p:cNvPicPr>
          <p:nvPr/>
        </p:nvPicPr>
        <p:blipFill>
          <a:blip r:embed="rId5"/>
          <a:stretch>
            <a:fillRect/>
          </a:stretch>
        </p:blipFill>
        <p:spPr>
          <a:xfrm>
            <a:off x="4009644" y="4384548"/>
            <a:ext cx="210312" cy="210312"/>
          </a:xfrm>
          <a:prstGeom prst="rect">
            <a:avLst/>
          </a:prstGeom>
        </p:spPr>
      </p:pic>
      <p:sp>
        <p:nvSpPr>
          <p:cNvPr id="37" name="Text 30"/>
          <p:cNvSpPr txBox="1"/>
          <p:nvPr/>
        </p:nvSpPr>
        <p:spPr>
          <a:xfrm>
            <a:off x="4434840" y="4279392"/>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No billing surprises</a:t>
            </a:r>
            <a:endParaRPr lang="en-US" sz="1200" dirty="0"/>
          </a:p>
        </p:txBody>
      </p:sp>
      <p:sp>
        <p:nvSpPr>
          <p:cNvPr id="38" name="Text 31"/>
          <p:cNvSpPr txBox="1"/>
          <p:nvPr/>
        </p:nvSpPr>
        <p:spPr>
          <a:xfrm>
            <a:off x="4434840" y="4517136"/>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Digital insurance card and cost estimates before the visit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Maya's journey</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From a worrying number to a plan, in one day</a:t>
            </a:r>
            <a:endParaRPr lang="en-US" sz="1300" dirty="0"/>
          </a:p>
        </p:txBody>
      </p:sp>
      <p:sp>
        <p:nvSpPr>
          <p:cNvPr id="4" name="Shape 2"/>
          <p:cNvSpPr/>
          <p:nvPr/>
        </p:nvSpPr>
        <p:spPr>
          <a:xfrm>
            <a:off x="457200" y="1325880"/>
            <a:ext cx="1203960" cy="2514600"/>
          </a:xfrm>
          <a:prstGeom prst="roundRect">
            <a:avLst>
              <a:gd name="adj" fmla="val 9114"/>
            </a:avLst>
          </a:prstGeom>
          <a:solidFill>
            <a:srgbClr val="FEF2F2"/>
          </a:solidFill>
          <a:ln w="9525">
            <a:solidFill>
              <a:srgbClr val="FEF2F2"/>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66928" y="1453896"/>
            <a:ext cx="420624" cy="420624"/>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672084" y="1559052"/>
            <a:ext cx="210312" cy="210312"/>
          </a:xfrm>
          <a:prstGeom prst="rect">
            <a:avLst/>
          </a:prstGeom>
        </p:spPr>
      </p:pic>
      <p:sp>
        <p:nvSpPr>
          <p:cNvPr id="7" name="Text 4"/>
          <p:cNvSpPr txBox="1"/>
          <p:nvPr/>
        </p:nvSpPr>
        <p:spPr>
          <a:xfrm>
            <a:off x="133197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566928" y="1965960"/>
            <a:ext cx="1021080" cy="475488"/>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Snaps her meter</a:t>
            </a:r>
            <a:endParaRPr lang="en-US" sz="1150" dirty="0"/>
          </a:p>
        </p:txBody>
      </p:sp>
      <p:sp>
        <p:nvSpPr>
          <p:cNvPr id="9" name="Shape 6"/>
          <p:cNvSpPr/>
          <p:nvPr/>
        </p:nvSpPr>
        <p:spPr>
          <a:xfrm>
            <a:off x="566928" y="2468880"/>
            <a:ext cx="570586" cy="237744"/>
          </a:xfrm>
          <a:prstGeom prst="roundRect">
            <a:avLst>
              <a:gd name="adj" fmla="val 50000"/>
            </a:avLst>
          </a:prstGeom>
          <a:solidFill>
            <a:srgbClr val="E6F4F1"/>
          </a:solidFill>
          <a:ln w="12700">
            <a:solidFill>
              <a:srgbClr val="E6F4F1"/>
            </a:solidFill>
            <a:prstDash val="solid"/>
          </a:ln>
        </p:spPr>
      </p:sp>
      <p:sp>
        <p:nvSpPr>
          <p:cNvPr id="10" name="Text 7"/>
          <p:cNvSpPr txBox="1"/>
          <p:nvPr/>
        </p:nvSpPr>
        <p:spPr>
          <a:xfrm>
            <a:off x="566928" y="2468880"/>
            <a:ext cx="570586"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Vitals</a:t>
            </a:r>
            <a:endParaRPr lang="en-US" sz="850" dirty="0"/>
          </a:p>
        </p:txBody>
      </p:sp>
      <p:sp>
        <p:nvSpPr>
          <p:cNvPr id="11" name="Text 8"/>
          <p:cNvSpPr txBox="1"/>
          <p:nvPr/>
        </p:nvSpPr>
        <p:spPr>
          <a:xfrm>
            <a:off x="566928"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186/121. Sees fixed safety guidance at once; her care team is alerted</a:t>
            </a:r>
            <a:endParaRPr lang="en-US" sz="950" dirty="0"/>
          </a:p>
        </p:txBody>
      </p:sp>
      <p:sp>
        <p:nvSpPr>
          <p:cNvPr id="12" name="Shape 9"/>
          <p:cNvSpPr/>
          <p:nvPr/>
        </p:nvSpPr>
        <p:spPr>
          <a:xfrm>
            <a:off x="1679448" y="2464308"/>
            <a:ext cx="164592" cy="237744"/>
          </a:xfrm>
          <a:prstGeom prst="rightArrow">
            <a:avLst/>
          </a:prstGeom>
          <a:solidFill>
            <a:srgbClr val="2A9D8F"/>
          </a:solidFill>
          <a:ln w="12700">
            <a:solidFill>
              <a:srgbClr val="2A9D8F"/>
            </a:solidFill>
            <a:prstDash val="solid"/>
          </a:ln>
        </p:spPr>
      </p:sp>
      <p:sp>
        <p:nvSpPr>
          <p:cNvPr id="13" name="Shape 10"/>
          <p:cNvSpPr/>
          <p:nvPr/>
        </p:nvSpPr>
        <p:spPr>
          <a:xfrm>
            <a:off x="1862328"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4" name="Shape 11"/>
          <p:cNvSpPr/>
          <p:nvPr/>
        </p:nvSpPr>
        <p:spPr>
          <a:xfrm>
            <a:off x="1972056" y="1453896"/>
            <a:ext cx="420624" cy="420624"/>
          </a:xfrm>
          <a:prstGeom prst="ellipse">
            <a:avLst/>
          </a:prstGeom>
          <a:solidFill>
            <a:srgbClr val="1B6B63"/>
          </a:solidFill>
          <a:ln w="12700">
            <a:solidFill>
              <a:srgbClr val="1B6B63"/>
            </a:solidFill>
            <a:prstDash val="solid"/>
          </a:ln>
        </p:spPr>
      </p:sp>
      <p:pic>
        <p:nvPicPr>
          <p:cNvPr id="15" name="Image 1" descr="preencoded.png">    </p:cNvPr>
          <p:cNvPicPr>
            <a:picLocks noChangeAspect="1"/>
          </p:cNvPicPr>
          <p:nvPr/>
        </p:nvPicPr>
        <p:blipFill>
          <a:blip r:embed="rId2"/>
          <a:stretch>
            <a:fillRect/>
          </a:stretch>
        </p:blipFill>
        <p:spPr>
          <a:xfrm>
            <a:off x="2077212" y="1559052"/>
            <a:ext cx="210312" cy="210312"/>
          </a:xfrm>
          <a:prstGeom prst="rect">
            <a:avLst/>
          </a:prstGeom>
        </p:spPr>
      </p:pic>
      <p:sp>
        <p:nvSpPr>
          <p:cNvPr id="16" name="Text 12"/>
          <p:cNvSpPr txBox="1"/>
          <p:nvPr/>
        </p:nvSpPr>
        <p:spPr>
          <a:xfrm>
            <a:off x="2737104"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1972056"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Asks what to do</a:t>
            </a:r>
            <a:endParaRPr lang="en-US" sz="1150" dirty="0"/>
          </a:p>
        </p:txBody>
      </p:sp>
      <p:sp>
        <p:nvSpPr>
          <p:cNvPr id="18" name="Shape 14"/>
          <p:cNvSpPr/>
          <p:nvPr/>
        </p:nvSpPr>
        <p:spPr>
          <a:xfrm>
            <a:off x="1972056" y="2468880"/>
            <a:ext cx="921715" cy="237744"/>
          </a:xfrm>
          <a:prstGeom prst="roundRect">
            <a:avLst>
              <a:gd name="adj" fmla="val 50000"/>
            </a:avLst>
          </a:prstGeom>
          <a:solidFill>
            <a:srgbClr val="E6F4F1"/>
          </a:solidFill>
          <a:ln w="12700">
            <a:solidFill>
              <a:srgbClr val="E6F4F1"/>
            </a:solidFill>
            <a:prstDash val="solid"/>
          </a:ln>
        </p:spPr>
      </p:sp>
      <p:sp>
        <p:nvSpPr>
          <p:cNvPr id="19" name="Text 15"/>
          <p:cNvSpPr txBox="1"/>
          <p:nvPr/>
        </p:nvSpPr>
        <p:spPr>
          <a:xfrm>
            <a:off x="1972056" y="2468880"/>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Ask Bioverse</a:t>
            </a:r>
            <a:endParaRPr lang="en-US" sz="850" dirty="0"/>
          </a:p>
        </p:txBody>
      </p:sp>
      <p:sp>
        <p:nvSpPr>
          <p:cNvPr id="20" name="Text 16"/>
          <p:cNvSpPr txBox="1"/>
          <p:nvPr/>
        </p:nvSpPr>
        <p:spPr>
          <a:xfrm>
            <a:off x="1972056"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Safety check first; no emergency symptoms, so she's routed to care</a:t>
            </a:r>
            <a:endParaRPr lang="en-US" sz="950" dirty="0"/>
          </a:p>
        </p:txBody>
      </p:sp>
      <p:sp>
        <p:nvSpPr>
          <p:cNvPr id="21" name="Shape 17"/>
          <p:cNvSpPr/>
          <p:nvPr/>
        </p:nvSpPr>
        <p:spPr>
          <a:xfrm>
            <a:off x="3084576" y="2464308"/>
            <a:ext cx="164592" cy="237744"/>
          </a:xfrm>
          <a:prstGeom prst="rightArrow">
            <a:avLst/>
          </a:prstGeom>
          <a:solidFill>
            <a:srgbClr val="2A9D8F"/>
          </a:solidFill>
          <a:ln w="12700">
            <a:solidFill>
              <a:srgbClr val="2A9D8F"/>
            </a:solidFill>
            <a:prstDash val="solid"/>
          </a:ln>
        </p:spPr>
      </p:sp>
      <p:sp>
        <p:nvSpPr>
          <p:cNvPr id="22" name="Shape 18"/>
          <p:cNvSpPr/>
          <p:nvPr/>
        </p:nvSpPr>
        <p:spPr>
          <a:xfrm>
            <a:off x="3267456"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3" name="Shape 19"/>
          <p:cNvSpPr/>
          <p:nvPr/>
        </p:nvSpPr>
        <p:spPr>
          <a:xfrm>
            <a:off x="3377184" y="1453896"/>
            <a:ext cx="420624" cy="420624"/>
          </a:xfrm>
          <a:prstGeom prst="ellipse">
            <a:avLst/>
          </a:prstGeom>
          <a:solidFill>
            <a:srgbClr val="1B6B63"/>
          </a:solidFill>
          <a:ln w="12700">
            <a:solidFill>
              <a:srgbClr val="1B6B63"/>
            </a:solidFill>
            <a:prstDash val="solid"/>
          </a:ln>
        </p:spPr>
      </p:sp>
      <p:pic>
        <p:nvPicPr>
          <p:cNvPr id="24" name="Image 2" descr="preencoded.png">    </p:cNvPr>
          <p:cNvPicPr>
            <a:picLocks noChangeAspect="1"/>
          </p:cNvPicPr>
          <p:nvPr/>
        </p:nvPicPr>
        <p:blipFill>
          <a:blip r:embed="rId3"/>
          <a:stretch>
            <a:fillRect/>
          </a:stretch>
        </p:blipFill>
        <p:spPr>
          <a:xfrm>
            <a:off x="3482340" y="1559052"/>
            <a:ext cx="210312" cy="210312"/>
          </a:xfrm>
          <a:prstGeom prst="rect">
            <a:avLst/>
          </a:prstGeom>
        </p:spPr>
      </p:pic>
      <p:sp>
        <p:nvSpPr>
          <p:cNvPr id="25" name="Text 20"/>
          <p:cNvSpPr txBox="1"/>
          <p:nvPr/>
        </p:nvSpPr>
        <p:spPr>
          <a:xfrm>
            <a:off x="414223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3</a:t>
            </a:r>
            <a:endParaRPr lang="en-US" sz="1200" dirty="0"/>
          </a:p>
        </p:txBody>
      </p:sp>
      <p:sp>
        <p:nvSpPr>
          <p:cNvPr id="26" name="Text 21"/>
          <p:cNvSpPr txBox="1"/>
          <p:nvPr/>
        </p:nvSpPr>
        <p:spPr>
          <a:xfrm>
            <a:off x="3377184"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Video consult</a:t>
            </a:r>
            <a:endParaRPr lang="en-US" sz="1150" dirty="0"/>
          </a:p>
        </p:txBody>
      </p:sp>
      <p:sp>
        <p:nvSpPr>
          <p:cNvPr id="27" name="Shape 22"/>
          <p:cNvSpPr/>
          <p:nvPr/>
        </p:nvSpPr>
        <p:spPr>
          <a:xfrm>
            <a:off x="3377184" y="2468880"/>
            <a:ext cx="687629" cy="237744"/>
          </a:xfrm>
          <a:prstGeom prst="roundRect">
            <a:avLst>
              <a:gd name="adj" fmla="val 50000"/>
            </a:avLst>
          </a:prstGeom>
          <a:solidFill>
            <a:srgbClr val="E6F4F1"/>
          </a:solidFill>
          <a:ln w="12700">
            <a:solidFill>
              <a:srgbClr val="E6F4F1"/>
            </a:solidFill>
            <a:prstDash val="solid"/>
          </a:ln>
        </p:spPr>
      </p:sp>
      <p:sp>
        <p:nvSpPr>
          <p:cNvPr id="28" name="Text 23"/>
          <p:cNvSpPr txBox="1"/>
          <p:nvPr/>
        </p:nvSpPr>
        <p:spPr>
          <a:xfrm>
            <a:off x="3377184" y="2468880"/>
            <a:ext cx="687629"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Consults</a:t>
            </a:r>
            <a:endParaRPr lang="en-US" sz="850" dirty="0"/>
          </a:p>
        </p:txBody>
      </p:sp>
      <p:sp>
        <p:nvSpPr>
          <p:cNvPr id="29" name="Text 24"/>
          <p:cNvSpPr txBox="1"/>
          <p:nvPr/>
        </p:nvSpPr>
        <p:spPr>
          <a:xfrm>
            <a:off x="3377184"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Dr. Okafor reviews her readings and adjusts the plan</a:t>
            </a:r>
            <a:endParaRPr lang="en-US" sz="950" dirty="0"/>
          </a:p>
        </p:txBody>
      </p:sp>
      <p:sp>
        <p:nvSpPr>
          <p:cNvPr id="30" name="Shape 25"/>
          <p:cNvSpPr/>
          <p:nvPr/>
        </p:nvSpPr>
        <p:spPr>
          <a:xfrm>
            <a:off x="4489704" y="2464308"/>
            <a:ext cx="164592" cy="237744"/>
          </a:xfrm>
          <a:prstGeom prst="rightArrow">
            <a:avLst/>
          </a:prstGeom>
          <a:solidFill>
            <a:srgbClr val="2A9D8F"/>
          </a:solidFill>
          <a:ln w="12700">
            <a:solidFill>
              <a:srgbClr val="2A9D8F"/>
            </a:solidFill>
            <a:prstDash val="solid"/>
          </a:ln>
        </p:spPr>
      </p:sp>
      <p:sp>
        <p:nvSpPr>
          <p:cNvPr id="31" name="Shape 26"/>
          <p:cNvSpPr/>
          <p:nvPr/>
        </p:nvSpPr>
        <p:spPr>
          <a:xfrm>
            <a:off x="4672584"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2" name="Shape 27"/>
          <p:cNvSpPr/>
          <p:nvPr/>
        </p:nvSpPr>
        <p:spPr>
          <a:xfrm>
            <a:off x="4782312" y="1453896"/>
            <a:ext cx="420624" cy="420624"/>
          </a:xfrm>
          <a:prstGeom prst="ellipse">
            <a:avLst/>
          </a:prstGeom>
          <a:solidFill>
            <a:srgbClr val="1B6B63"/>
          </a:solidFill>
          <a:ln w="12700">
            <a:solidFill>
              <a:srgbClr val="1B6B63"/>
            </a:solidFill>
            <a:prstDash val="solid"/>
          </a:ln>
        </p:spPr>
      </p:sp>
      <p:pic>
        <p:nvPicPr>
          <p:cNvPr id="33" name="Image 3" descr="preencoded.png">    </p:cNvPr>
          <p:cNvPicPr>
            <a:picLocks noChangeAspect="1"/>
          </p:cNvPicPr>
          <p:nvPr/>
        </p:nvPicPr>
        <p:blipFill>
          <a:blip r:embed="rId4"/>
          <a:stretch>
            <a:fillRect/>
          </a:stretch>
        </p:blipFill>
        <p:spPr>
          <a:xfrm>
            <a:off x="4887468" y="1559052"/>
            <a:ext cx="210312" cy="210312"/>
          </a:xfrm>
          <a:prstGeom prst="rect">
            <a:avLst/>
          </a:prstGeom>
        </p:spPr>
      </p:pic>
      <p:sp>
        <p:nvSpPr>
          <p:cNvPr id="34" name="Text 28"/>
          <p:cNvSpPr txBox="1"/>
          <p:nvPr/>
        </p:nvSpPr>
        <p:spPr>
          <a:xfrm>
            <a:off x="5547360"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4</a:t>
            </a:r>
            <a:endParaRPr lang="en-US" sz="1200" dirty="0"/>
          </a:p>
        </p:txBody>
      </p:sp>
      <p:sp>
        <p:nvSpPr>
          <p:cNvPr id="35" name="Text 29"/>
          <p:cNvSpPr txBox="1"/>
          <p:nvPr/>
        </p:nvSpPr>
        <p:spPr>
          <a:xfrm>
            <a:off x="4782312"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Medicine arrives</a:t>
            </a:r>
            <a:endParaRPr lang="en-US" sz="1150" dirty="0"/>
          </a:p>
        </p:txBody>
      </p:sp>
      <p:sp>
        <p:nvSpPr>
          <p:cNvPr id="36" name="Shape 30"/>
          <p:cNvSpPr/>
          <p:nvPr/>
        </p:nvSpPr>
        <p:spPr>
          <a:xfrm>
            <a:off x="4782312" y="2468880"/>
            <a:ext cx="687629" cy="237744"/>
          </a:xfrm>
          <a:prstGeom prst="roundRect">
            <a:avLst>
              <a:gd name="adj" fmla="val 50000"/>
            </a:avLst>
          </a:prstGeom>
          <a:solidFill>
            <a:srgbClr val="E6F4F1"/>
          </a:solidFill>
          <a:ln w="12700">
            <a:solidFill>
              <a:srgbClr val="E6F4F1"/>
            </a:solidFill>
            <a:prstDash val="solid"/>
          </a:ln>
        </p:spPr>
      </p:sp>
      <p:sp>
        <p:nvSpPr>
          <p:cNvPr id="37" name="Text 31"/>
          <p:cNvSpPr txBox="1"/>
          <p:nvPr/>
        </p:nvSpPr>
        <p:spPr>
          <a:xfrm>
            <a:off x="4782312" y="2468880"/>
            <a:ext cx="687629"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Pharmacy</a:t>
            </a:r>
            <a:endParaRPr lang="en-US" sz="850" dirty="0"/>
          </a:p>
        </p:txBody>
      </p:sp>
      <p:sp>
        <p:nvSpPr>
          <p:cNvPr id="38" name="Text 32"/>
          <p:cNvSpPr txBox="1"/>
          <p:nvPr/>
        </p:nvSpPr>
        <p:spPr>
          <a:xfrm>
            <a:off x="4782312"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Pharmacist-checked order delivered to her door</a:t>
            </a:r>
            <a:endParaRPr lang="en-US" sz="950" dirty="0"/>
          </a:p>
        </p:txBody>
      </p:sp>
      <p:sp>
        <p:nvSpPr>
          <p:cNvPr id="39" name="Shape 33"/>
          <p:cNvSpPr/>
          <p:nvPr/>
        </p:nvSpPr>
        <p:spPr>
          <a:xfrm>
            <a:off x="5894832" y="2464308"/>
            <a:ext cx="164592" cy="237744"/>
          </a:xfrm>
          <a:prstGeom prst="rightArrow">
            <a:avLst/>
          </a:prstGeom>
          <a:solidFill>
            <a:srgbClr val="2A9D8F"/>
          </a:solidFill>
          <a:ln w="12700">
            <a:solidFill>
              <a:srgbClr val="2A9D8F"/>
            </a:solidFill>
            <a:prstDash val="solid"/>
          </a:ln>
        </p:spPr>
      </p:sp>
      <p:sp>
        <p:nvSpPr>
          <p:cNvPr id="40" name="Shape 34"/>
          <p:cNvSpPr/>
          <p:nvPr/>
        </p:nvSpPr>
        <p:spPr>
          <a:xfrm>
            <a:off x="6077712"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1" name="Shape 35"/>
          <p:cNvSpPr/>
          <p:nvPr/>
        </p:nvSpPr>
        <p:spPr>
          <a:xfrm>
            <a:off x="6187440" y="1453896"/>
            <a:ext cx="420624" cy="420624"/>
          </a:xfrm>
          <a:prstGeom prst="ellipse">
            <a:avLst/>
          </a:prstGeom>
          <a:solidFill>
            <a:srgbClr val="1B6B63"/>
          </a:solidFill>
          <a:ln w="12700">
            <a:solidFill>
              <a:srgbClr val="1B6B63"/>
            </a:solidFill>
            <a:prstDash val="solid"/>
          </a:ln>
        </p:spPr>
      </p:sp>
      <p:pic>
        <p:nvPicPr>
          <p:cNvPr id="42" name="Image 4" descr="preencoded.png">    </p:cNvPr>
          <p:cNvPicPr>
            <a:picLocks noChangeAspect="1"/>
          </p:cNvPicPr>
          <p:nvPr/>
        </p:nvPicPr>
        <p:blipFill>
          <a:blip r:embed="rId5"/>
          <a:stretch>
            <a:fillRect/>
          </a:stretch>
        </p:blipFill>
        <p:spPr>
          <a:xfrm>
            <a:off x="6292596" y="1559052"/>
            <a:ext cx="210312" cy="210312"/>
          </a:xfrm>
          <a:prstGeom prst="rect">
            <a:avLst/>
          </a:prstGeom>
        </p:spPr>
      </p:pic>
      <p:sp>
        <p:nvSpPr>
          <p:cNvPr id="43" name="Text 36"/>
          <p:cNvSpPr txBox="1"/>
          <p:nvPr/>
        </p:nvSpPr>
        <p:spPr>
          <a:xfrm>
            <a:off x="6952488"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5</a:t>
            </a:r>
            <a:endParaRPr lang="en-US" sz="1200" dirty="0"/>
          </a:p>
        </p:txBody>
      </p:sp>
      <p:sp>
        <p:nvSpPr>
          <p:cNvPr id="44" name="Text 37"/>
          <p:cNvSpPr txBox="1"/>
          <p:nvPr/>
        </p:nvSpPr>
        <p:spPr>
          <a:xfrm>
            <a:off x="6187440"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Reminders &amp; check-in</a:t>
            </a:r>
            <a:endParaRPr lang="en-US" sz="1150" dirty="0"/>
          </a:p>
        </p:txBody>
      </p:sp>
      <p:sp>
        <p:nvSpPr>
          <p:cNvPr id="45" name="Shape 38"/>
          <p:cNvSpPr/>
          <p:nvPr/>
        </p:nvSpPr>
        <p:spPr>
          <a:xfrm>
            <a:off x="6187440" y="2468880"/>
            <a:ext cx="512064" cy="237744"/>
          </a:xfrm>
          <a:prstGeom prst="roundRect">
            <a:avLst>
              <a:gd name="adj" fmla="val 50000"/>
            </a:avLst>
          </a:prstGeom>
          <a:solidFill>
            <a:srgbClr val="E6F4F1"/>
          </a:solidFill>
          <a:ln w="12700">
            <a:solidFill>
              <a:srgbClr val="E6F4F1"/>
            </a:solidFill>
            <a:prstDash val="solid"/>
          </a:ln>
        </p:spPr>
      </p:sp>
      <p:sp>
        <p:nvSpPr>
          <p:cNvPr id="46" name="Text 39"/>
          <p:cNvSpPr txBox="1"/>
          <p:nvPr/>
        </p:nvSpPr>
        <p:spPr>
          <a:xfrm>
            <a:off x="6187440" y="2468880"/>
            <a:ext cx="51206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Today</a:t>
            </a:r>
            <a:endParaRPr lang="en-US" sz="850" dirty="0"/>
          </a:p>
        </p:txBody>
      </p:sp>
      <p:sp>
        <p:nvSpPr>
          <p:cNvPr id="47" name="Text 40"/>
          <p:cNvSpPr txBox="1"/>
          <p:nvPr/>
        </p:nvSpPr>
        <p:spPr>
          <a:xfrm>
            <a:off x="6187440"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Evening dose reminder; next day she answers "Better"</a:t>
            </a:r>
            <a:endParaRPr lang="en-US" sz="950" dirty="0"/>
          </a:p>
        </p:txBody>
      </p:sp>
      <p:sp>
        <p:nvSpPr>
          <p:cNvPr id="48" name="Shape 41"/>
          <p:cNvSpPr/>
          <p:nvPr/>
        </p:nvSpPr>
        <p:spPr>
          <a:xfrm>
            <a:off x="7299960" y="2464308"/>
            <a:ext cx="164592" cy="237744"/>
          </a:xfrm>
          <a:prstGeom prst="rightArrow">
            <a:avLst/>
          </a:prstGeom>
          <a:solidFill>
            <a:srgbClr val="2A9D8F"/>
          </a:solidFill>
          <a:ln w="12700">
            <a:solidFill>
              <a:srgbClr val="2A9D8F"/>
            </a:solidFill>
            <a:prstDash val="solid"/>
          </a:ln>
        </p:spPr>
      </p:sp>
      <p:sp>
        <p:nvSpPr>
          <p:cNvPr id="49" name="Shape 42"/>
          <p:cNvSpPr/>
          <p:nvPr/>
        </p:nvSpPr>
        <p:spPr>
          <a:xfrm>
            <a:off x="7482840"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0" name="Shape 43"/>
          <p:cNvSpPr/>
          <p:nvPr/>
        </p:nvSpPr>
        <p:spPr>
          <a:xfrm>
            <a:off x="7592568" y="1453896"/>
            <a:ext cx="420624" cy="420624"/>
          </a:xfrm>
          <a:prstGeom prst="ellipse">
            <a:avLst/>
          </a:prstGeom>
          <a:solidFill>
            <a:srgbClr val="1B6B63"/>
          </a:solidFill>
          <a:ln w="12700">
            <a:solidFill>
              <a:srgbClr val="1B6B63"/>
            </a:solidFill>
            <a:prstDash val="solid"/>
          </a:ln>
        </p:spPr>
      </p:sp>
      <p:pic>
        <p:nvPicPr>
          <p:cNvPr id="51" name="Image 5" descr="preencoded.png">    </p:cNvPr>
          <p:cNvPicPr>
            <a:picLocks noChangeAspect="1"/>
          </p:cNvPicPr>
          <p:nvPr/>
        </p:nvPicPr>
        <p:blipFill>
          <a:blip r:embed="rId6"/>
          <a:stretch>
            <a:fillRect/>
          </a:stretch>
        </p:blipFill>
        <p:spPr>
          <a:xfrm>
            <a:off x="7697724" y="1559052"/>
            <a:ext cx="210312" cy="210312"/>
          </a:xfrm>
          <a:prstGeom prst="rect">
            <a:avLst/>
          </a:prstGeom>
        </p:spPr>
      </p:pic>
      <p:sp>
        <p:nvSpPr>
          <p:cNvPr id="52" name="Text 44"/>
          <p:cNvSpPr txBox="1"/>
          <p:nvPr/>
        </p:nvSpPr>
        <p:spPr>
          <a:xfrm>
            <a:off x="835761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6</a:t>
            </a:r>
            <a:endParaRPr lang="en-US" sz="1200" dirty="0"/>
          </a:p>
        </p:txBody>
      </p:sp>
      <p:sp>
        <p:nvSpPr>
          <p:cNvPr id="53" name="Text 45"/>
          <p:cNvSpPr txBox="1"/>
          <p:nvPr/>
        </p:nvSpPr>
        <p:spPr>
          <a:xfrm>
            <a:off x="7592568"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Lipid results</a:t>
            </a:r>
            <a:endParaRPr lang="en-US" sz="1150" dirty="0"/>
          </a:p>
        </p:txBody>
      </p:sp>
      <p:sp>
        <p:nvSpPr>
          <p:cNvPr id="54" name="Shape 46"/>
          <p:cNvSpPr/>
          <p:nvPr/>
        </p:nvSpPr>
        <p:spPr>
          <a:xfrm>
            <a:off x="7592568" y="2468880"/>
            <a:ext cx="629107" cy="237744"/>
          </a:xfrm>
          <a:prstGeom prst="roundRect">
            <a:avLst>
              <a:gd name="adj" fmla="val 50000"/>
            </a:avLst>
          </a:prstGeom>
          <a:solidFill>
            <a:srgbClr val="E6F4F1"/>
          </a:solidFill>
          <a:ln w="12700">
            <a:solidFill>
              <a:srgbClr val="E6F4F1"/>
            </a:solidFill>
            <a:prstDash val="solid"/>
          </a:ln>
        </p:spPr>
      </p:sp>
      <p:sp>
        <p:nvSpPr>
          <p:cNvPr id="55" name="Text 47"/>
          <p:cNvSpPr txBox="1"/>
          <p:nvPr/>
        </p:nvSpPr>
        <p:spPr>
          <a:xfrm>
            <a:off x="7592568" y="2468880"/>
            <a:ext cx="62910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Results</a:t>
            </a:r>
            <a:endParaRPr lang="en-US" sz="850" dirty="0"/>
          </a:p>
        </p:txBody>
      </p:sp>
      <p:sp>
        <p:nvSpPr>
          <p:cNvPr id="56" name="Text 48"/>
          <p:cNvSpPr txBox="1"/>
          <p:nvPr/>
        </p:nvSpPr>
        <p:spPr>
          <a:xfrm>
            <a:off x="7592568"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Explained in plain words after her doctor approves</a:t>
            </a:r>
            <a:endParaRPr lang="en-US" sz="950" dirty="0"/>
          </a:p>
        </p:txBody>
      </p:sp>
      <p:sp>
        <p:nvSpPr>
          <p:cNvPr id="57" name="Shape 49"/>
          <p:cNvSpPr/>
          <p:nvPr/>
        </p:nvSpPr>
        <p:spPr>
          <a:xfrm>
            <a:off x="457200" y="4023360"/>
            <a:ext cx="8229600" cy="685800"/>
          </a:xfrm>
          <a:prstGeom prst="roundRect">
            <a:avLst>
              <a:gd name="adj" fmla="val 16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58" name="Shape 50"/>
          <p:cNvSpPr/>
          <p:nvPr/>
        </p:nvSpPr>
        <p:spPr>
          <a:xfrm>
            <a:off x="594360" y="4133088"/>
            <a:ext cx="457200" cy="457200"/>
          </a:xfrm>
          <a:prstGeom prst="ellipse">
            <a:avLst/>
          </a:prstGeom>
          <a:solidFill>
            <a:srgbClr val="15803D"/>
          </a:solidFill>
          <a:ln w="12700">
            <a:solidFill>
              <a:srgbClr val="15803D"/>
            </a:solidFill>
            <a:prstDash val="solid"/>
          </a:ln>
        </p:spPr>
      </p:sp>
      <p:pic>
        <p:nvPicPr>
          <p:cNvPr id="59" name="Image 6" descr="preencoded.png">    </p:cNvPr>
          <p:cNvPicPr>
            <a:picLocks noChangeAspect="1"/>
          </p:cNvPicPr>
          <p:nvPr/>
        </p:nvPicPr>
        <p:blipFill>
          <a:blip r:embed="rId7"/>
          <a:stretch>
            <a:fillRect/>
          </a:stretch>
        </p:blipFill>
        <p:spPr>
          <a:xfrm>
            <a:off x="708660" y="4247388"/>
            <a:ext cx="228600" cy="228600"/>
          </a:xfrm>
          <a:prstGeom prst="rect">
            <a:avLst/>
          </a:prstGeom>
        </p:spPr>
      </p:pic>
      <p:sp>
        <p:nvSpPr>
          <p:cNvPr id="60" name="Text 51"/>
          <p:cNvSpPr txBox="1"/>
          <p:nvPr/>
        </p:nvSpPr>
        <p:spPr>
          <a:xfrm>
            <a:off x="1188720" y="4050792"/>
            <a:ext cx="7360920" cy="630936"/>
          </a:xfrm>
          <a:prstGeom prst="rect">
            <a:avLst/>
          </a:prstGeom>
          <a:noFill/>
          <a:ln/>
        </p:spPr>
        <p:txBody>
          <a:bodyPr wrap="square" lIns="0" tIns="0" rIns="0" bIns="0" rtlCol="0" anchor="ctr"/>
          <a:lstStyle/>
          <a:p>
            <a:pPr indent="0" marL="0">
              <a:buNone/>
            </a:pPr>
            <a:r>
              <a:rPr lang="en-US" sz="1250" b="1" dirty="0">
                <a:solidFill>
                  <a:srgbClr val="15803D"/>
                </a:solidFill>
                <a:latin typeface="Calibri" pitchFamily="34" charset="0"/>
                <a:ea typeface="Calibri" pitchFamily="34" charset="-122"/>
                <a:cs typeface="Calibri" pitchFamily="34" charset="-120"/>
              </a:rPr>
              <a:t>Outcome  </a:t>
            </a:r>
            <a:pPr indent="0" marL="0">
              <a:buNone/>
            </a:pPr>
            <a:r>
              <a:rPr lang="en-US" sz="1250" dirty="0">
                <a:solidFill>
                  <a:srgbClr val="134E4A"/>
                </a:solidFill>
                <a:latin typeface="Calibri" pitchFamily="34" charset="0"/>
                <a:ea typeface="Calibri" pitchFamily="34" charset="-122"/>
                <a:cs typeface="Calibri" pitchFamily="34" charset="-120"/>
              </a:rPr>
              <a:t>A scary reading became a plan the same day, with no phone calls, and her doctor saw everything.</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Rana: independent, on her terms</a:t>
            </a:r>
            <a:endParaRPr lang="en-US" sz="2800" dirty="0"/>
          </a:p>
        </p:txBody>
      </p:sp>
      <p:sp>
        <p:nvSpPr>
          <p:cNvPr id="3" name="Shape 1"/>
          <p:cNvSpPr/>
          <p:nvPr/>
        </p:nvSpPr>
        <p:spPr>
          <a:xfrm>
            <a:off x="457200" y="960120"/>
            <a:ext cx="8229600" cy="731520"/>
          </a:xfrm>
          <a:prstGeom prst="roundRect">
            <a:avLst>
              <a:gd name="adj" fmla="val 15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 name="Shape 2"/>
          <p:cNvSpPr/>
          <p:nvPr/>
        </p:nvSpPr>
        <p:spPr>
          <a:xfrm>
            <a:off x="594360" y="1024128"/>
            <a:ext cx="603504" cy="603504"/>
          </a:xfrm>
          <a:prstGeom prst="ellipse">
            <a:avLst/>
          </a:prstGeom>
          <a:solidFill>
            <a:srgbClr val="7C3AED"/>
          </a:solidFill>
          <a:ln w="25400">
            <a:solidFill>
              <a:srgbClr val="FFFFFF"/>
            </a:solidFill>
            <a:prstDash val="solid"/>
          </a:ln>
        </p:spPr>
      </p:sp>
      <p:sp>
        <p:nvSpPr>
          <p:cNvPr id="5" name="Text 3"/>
          <p:cNvSpPr txBox="1"/>
          <p:nvPr/>
        </p:nvSpPr>
        <p:spPr>
          <a:xfrm>
            <a:off x="594360" y="1024128"/>
            <a:ext cx="603504" cy="603504"/>
          </a:xfrm>
          <a:prstGeom prst="rect">
            <a:avLst/>
          </a:prstGeom>
          <a:noFill/>
          <a:ln/>
        </p:spPr>
        <p:txBody>
          <a:bodyPr wrap="square" lIns="0" tIns="0" rIns="0" bIns="0" rtlCol="0" anchor="ctr"/>
          <a:lstStyle/>
          <a:p>
            <a:pPr algn="ctr" indent="0" marL="0">
              <a:buNone/>
            </a:pPr>
            <a:r>
              <a:rPr lang="en-US" sz="1452" b="1" dirty="0">
                <a:solidFill>
                  <a:srgbClr val="FFFFFF"/>
                </a:solidFill>
                <a:latin typeface="Calibri" pitchFamily="34" charset="0"/>
                <a:ea typeface="Calibri" pitchFamily="34" charset="-122"/>
                <a:cs typeface="Calibri" pitchFamily="34" charset="-120"/>
              </a:rPr>
              <a:t>RH</a:t>
            </a:r>
            <a:endParaRPr lang="en-US" sz="1452" dirty="0"/>
          </a:p>
        </p:txBody>
      </p:sp>
      <p:sp>
        <p:nvSpPr>
          <p:cNvPr id="6" name="Text 4"/>
          <p:cNvSpPr txBox="1"/>
          <p:nvPr/>
        </p:nvSpPr>
        <p:spPr>
          <a:xfrm>
            <a:off x="1325880" y="1005840"/>
            <a:ext cx="7223760" cy="64008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Patient, 65, uses senior mode</a:t>
            </a:r>
            <a:pPr indent="0" marL="0">
              <a:buNone/>
            </a:pPr>
            <a:r>
              <a:rPr lang="en-US" sz="1150" dirty="0">
                <a:solidFill>
                  <a:srgbClr val="4B5563"/>
                </a:solidFill>
                <a:latin typeface="Calibri" pitchFamily="34" charset="0"/>
                <a:ea typeface="Calibri" pitchFamily="34" charset="-122"/>
                <a:cs typeface="Calibri" pitchFamily="34" charset="-120"/>
              </a:rPr>
              <a:t>   Goal: Simple, readable care that doesn't depend on her grandchildren</a:t>
            </a:r>
            <a:endParaRPr lang="en-US" sz="1150" dirty="0"/>
          </a:p>
        </p:txBody>
      </p:sp>
      <p:sp>
        <p:nvSpPr>
          <p:cNvPr id="7" name="Shape 5"/>
          <p:cNvSpPr/>
          <p:nvPr/>
        </p:nvSpPr>
        <p:spPr>
          <a:xfrm>
            <a:off x="45720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8" name="Shape 6"/>
          <p:cNvSpPr/>
          <p:nvPr/>
        </p:nvSpPr>
        <p:spPr>
          <a:xfrm>
            <a:off x="585216" y="1956816"/>
            <a:ext cx="420624" cy="420624"/>
          </a:xfrm>
          <a:prstGeom prst="ellipse">
            <a:avLst/>
          </a:prstGeom>
          <a:solidFill>
            <a:srgbClr val="1B6B63"/>
          </a:solidFill>
          <a:ln w="12700">
            <a:solidFill>
              <a:srgbClr val="1B6B63"/>
            </a:solidFill>
            <a:prstDash val="solid"/>
          </a:ln>
        </p:spPr>
      </p:sp>
      <p:pic>
        <p:nvPicPr>
          <p:cNvPr id="9" name="Image 0" descr="preencoded.png">    </p:cNvPr>
          <p:cNvPicPr>
            <a:picLocks noChangeAspect="1"/>
          </p:cNvPicPr>
          <p:nvPr/>
        </p:nvPicPr>
        <p:blipFill>
          <a:blip r:embed="rId1"/>
          <a:stretch>
            <a:fillRect/>
          </a:stretch>
        </p:blipFill>
        <p:spPr>
          <a:xfrm>
            <a:off x="690372" y="2061972"/>
            <a:ext cx="210312" cy="210312"/>
          </a:xfrm>
          <a:prstGeom prst="rect">
            <a:avLst/>
          </a:prstGeom>
        </p:spPr>
      </p:pic>
      <p:sp>
        <p:nvSpPr>
          <p:cNvPr id="10" name="Text 7"/>
          <p:cNvSpPr txBox="1"/>
          <p:nvPr/>
        </p:nvSpPr>
        <p:spPr>
          <a:xfrm>
            <a:off x="111556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Big and simple</a:t>
            </a:r>
            <a:endParaRPr lang="en-US" sz="1150" dirty="0"/>
          </a:p>
        </p:txBody>
      </p:sp>
      <p:sp>
        <p:nvSpPr>
          <p:cNvPr id="11" name="Text 8"/>
          <p:cNvSpPr txBox="1"/>
          <p:nvPr/>
        </p:nvSpPr>
        <p:spPr>
          <a:xfrm>
            <a:off x="58521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Large text, high contrast and four big buttons on her home screen</a:t>
            </a:r>
            <a:endParaRPr lang="en-US" sz="950" dirty="0"/>
          </a:p>
        </p:txBody>
      </p:sp>
      <p:sp>
        <p:nvSpPr>
          <p:cNvPr id="12" name="Shape 9"/>
          <p:cNvSpPr/>
          <p:nvPr/>
        </p:nvSpPr>
        <p:spPr>
          <a:xfrm>
            <a:off x="324612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3" name="Shape 10"/>
          <p:cNvSpPr/>
          <p:nvPr/>
        </p:nvSpPr>
        <p:spPr>
          <a:xfrm>
            <a:off x="3374136" y="1956816"/>
            <a:ext cx="420624" cy="420624"/>
          </a:xfrm>
          <a:prstGeom prst="ellipse">
            <a:avLst/>
          </a:prstGeom>
          <a:solidFill>
            <a:srgbClr val="1B6B63"/>
          </a:solidFill>
          <a:ln w="12700">
            <a:solidFill>
              <a:srgbClr val="1B6B63"/>
            </a:solidFill>
            <a:prstDash val="solid"/>
          </a:ln>
        </p:spPr>
      </p:sp>
      <p:pic>
        <p:nvPicPr>
          <p:cNvPr id="14" name="Image 1" descr="preencoded.png">    </p:cNvPr>
          <p:cNvPicPr>
            <a:picLocks noChangeAspect="1"/>
          </p:cNvPicPr>
          <p:nvPr/>
        </p:nvPicPr>
        <p:blipFill>
          <a:blip r:embed="rId2"/>
          <a:stretch>
            <a:fillRect/>
          </a:stretch>
        </p:blipFill>
        <p:spPr>
          <a:xfrm>
            <a:off x="3479292" y="2061972"/>
            <a:ext cx="210312" cy="210312"/>
          </a:xfrm>
          <a:prstGeom prst="rect">
            <a:avLst/>
          </a:prstGeom>
        </p:spPr>
      </p:pic>
      <p:sp>
        <p:nvSpPr>
          <p:cNvPr id="15" name="Text 11"/>
          <p:cNvSpPr txBox="1"/>
          <p:nvPr/>
        </p:nvSpPr>
        <p:spPr>
          <a:xfrm>
            <a:off x="390448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Speak and listen</a:t>
            </a:r>
            <a:endParaRPr lang="en-US" sz="1150" dirty="0"/>
          </a:p>
        </p:txBody>
      </p:sp>
      <p:sp>
        <p:nvSpPr>
          <p:cNvPr id="16" name="Text 12"/>
          <p:cNvSpPr txBox="1"/>
          <p:nvPr/>
        </p:nvSpPr>
        <p:spPr>
          <a:xfrm>
            <a:off x="337413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Ask by voice; replies read aloud, emergencies always read</a:t>
            </a:r>
            <a:endParaRPr lang="en-US" sz="950" dirty="0"/>
          </a:p>
        </p:txBody>
      </p:sp>
      <p:sp>
        <p:nvSpPr>
          <p:cNvPr id="17" name="Shape 13"/>
          <p:cNvSpPr/>
          <p:nvPr/>
        </p:nvSpPr>
        <p:spPr>
          <a:xfrm>
            <a:off x="603504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8" name="Shape 14"/>
          <p:cNvSpPr/>
          <p:nvPr/>
        </p:nvSpPr>
        <p:spPr>
          <a:xfrm>
            <a:off x="6163056" y="1956816"/>
            <a:ext cx="420624" cy="420624"/>
          </a:xfrm>
          <a:prstGeom prst="ellipse">
            <a:avLst/>
          </a:prstGeom>
          <a:solidFill>
            <a:srgbClr val="1B6B63"/>
          </a:solidFill>
          <a:ln w="12700">
            <a:solidFill>
              <a:srgbClr val="1B6B63"/>
            </a:solidFill>
            <a:prstDash val="solid"/>
          </a:ln>
        </p:spPr>
      </p:sp>
      <p:pic>
        <p:nvPicPr>
          <p:cNvPr id="19" name="Image 2" descr="preencoded.png">    </p:cNvPr>
          <p:cNvPicPr>
            <a:picLocks noChangeAspect="1"/>
          </p:cNvPicPr>
          <p:nvPr/>
        </p:nvPicPr>
        <p:blipFill>
          <a:blip r:embed="rId3"/>
          <a:stretch>
            <a:fillRect/>
          </a:stretch>
        </p:blipFill>
        <p:spPr>
          <a:xfrm>
            <a:off x="6268212" y="2061972"/>
            <a:ext cx="210312" cy="210312"/>
          </a:xfrm>
          <a:prstGeom prst="rect">
            <a:avLst/>
          </a:prstGeom>
        </p:spPr>
      </p:pic>
      <p:sp>
        <p:nvSpPr>
          <p:cNvPr id="20" name="Text 15"/>
          <p:cNvSpPr txBox="1"/>
          <p:nvPr/>
        </p:nvSpPr>
        <p:spPr>
          <a:xfrm>
            <a:off x="669340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One tap to the team</a:t>
            </a:r>
            <a:endParaRPr lang="en-US" sz="1150" dirty="0"/>
          </a:p>
        </p:txBody>
      </p:sp>
      <p:sp>
        <p:nvSpPr>
          <p:cNvPr id="21" name="Text 16"/>
          <p:cNvSpPr txBox="1"/>
          <p:nvPr/>
        </p:nvSpPr>
        <p:spPr>
          <a:xfrm>
            <a:off x="616305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Call her care team directly; step-free hospital directions</a:t>
            </a:r>
            <a:endParaRPr lang="en-US" sz="950" dirty="0"/>
          </a:p>
        </p:txBody>
      </p:sp>
      <p:sp>
        <p:nvSpPr>
          <p:cNvPr id="22" name="Text 17"/>
          <p:cNvSpPr txBox="1"/>
          <p:nvPr/>
        </p:nvSpPr>
        <p:spPr>
          <a:xfrm>
            <a:off x="457200" y="3035808"/>
            <a:ext cx="2743200" cy="274320"/>
          </a:xfrm>
          <a:prstGeom prst="rect">
            <a:avLst/>
          </a:prstGeom>
          <a:noFill/>
          <a:ln/>
        </p:spPr>
        <p:txBody>
          <a:bodyPr wrap="square" lIns="0" tIns="0" rIns="0" bIns="0" rtlCol="0" anchor="t"/>
          <a:lstStyle/>
          <a:p>
            <a:pPr indent="0" marL="0">
              <a:buNone/>
            </a:pPr>
            <a:r>
              <a:rPr lang="en-US" sz="1200" b="1" dirty="0">
                <a:solidFill>
                  <a:srgbClr val="134E4A"/>
                </a:solidFill>
                <a:latin typeface="Calibri" pitchFamily="34" charset="0"/>
                <a:ea typeface="Calibri" pitchFamily="34" charset="-122"/>
                <a:cs typeface="Calibri" pitchFamily="34" charset="-120"/>
              </a:rPr>
              <a:t>Journey</a:t>
            </a:r>
            <a:endParaRPr lang="en-US" sz="1200" dirty="0"/>
          </a:p>
        </p:txBody>
      </p:sp>
      <p:sp>
        <p:nvSpPr>
          <p:cNvPr id="23" name="Shape 18"/>
          <p:cNvSpPr/>
          <p:nvPr/>
        </p:nvSpPr>
        <p:spPr>
          <a:xfrm>
            <a:off x="457200"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24" name="Text 19"/>
          <p:cNvSpPr txBox="1"/>
          <p:nvPr/>
        </p:nvSpPr>
        <p:spPr>
          <a:xfrm>
            <a:off x="566928"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1  Opens the app</a:t>
            </a:r>
            <a:endParaRPr lang="en-US" sz="1050" dirty="0"/>
          </a:p>
        </p:txBody>
      </p:sp>
      <p:sp>
        <p:nvSpPr>
          <p:cNvPr id="25" name="Shape 20"/>
          <p:cNvSpPr/>
          <p:nvPr/>
        </p:nvSpPr>
        <p:spPr>
          <a:xfrm>
            <a:off x="566928" y="3867912"/>
            <a:ext cx="863194" cy="237744"/>
          </a:xfrm>
          <a:prstGeom prst="roundRect">
            <a:avLst>
              <a:gd name="adj" fmla="val 50000"/>
            </a:avLst>
          </a:prstGeom>
          <a:solidFill>
            <a:srgbClr val="FFFFFF"/>
          </a:solidFill>
          <a:ln w="12700">
            <a:solidFill>
              <a:srgbClr val="FFFFFF"/>
            </a:solidFill>
            <a:prstDash val="solid"/>
          </a:ln>
        </p:spPr>
      </p:sp>
      <p:sp>
        <p:nvSpPr>
          <p:cNvPr id="26" name="Text 21"/>
          <p:cNvSpPr txBox="1"/>
          <p:nvPr/>
        </p:nvSpPr>
        <p:spPr>
          <a:xfrm>
            <a:off x="566928" y="3867912"/>
            <a:ext cx="86319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Senior home</a:t>
            </a:r>
            <a:endParaRPr lang="en-US" sz="850" dirty="0"/>
          </a:p>
        </p:txBody>
      </p:sp>
      <p:sp>
        <p:nvSpPr>
          <p:cNvPr id="27" name="Text 22"/>
          <p:cNvSpPr txBox="1"/>
          <p:nvPr/>
        </p:nvSpPr>
        <p:spPr>
          <a:xfrm>
            <a:off x="566928"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Four big choices, nothing else</a:t>
            </a:r>
            <a:endParaRPr lang="en-US" sz="900" dirty="0"/>
          </a:p>
        </p:txBody>
      </p:sp>
      <p:sp>
        <p:nvSpPr>
          <p:cNvPr id="28" name="Shape 23"/>
          <p:cNvSpPr/>
          <p:nvPr/>
        </p:nvSpPr>
        <p:spPr>
          <a:xfrm>
            <a:off x="1960474" y="3904488"/>
            <a:ext cx="164592" cy="237744"/>
          </a:xfrm>
          <a:prstGeom prst="rightArrow">
            <a:avLst/>
          </a:prstGeom>
          <a:solidFill>
            <a:srgbClr val="2A9D8F"/>
          </a:solidFill>
          <a:ln w="12700">
            <a:solidFill>
              <a:srgbClr val="2A9D8F"/>
            </a:solidFill>
            <a:prstDash val="solid"/>
          </a:ln>
        </p:spPr>
      </p:sp>
      <p:sp>
        <p:nvSpPr>
          <p:cNvPr id="29" name="Shape 24"/>
          <p:cNvSpPr/>
          <p:nvPr/>
        </p:nvSpPr>
        <p:spPr>
          <a:xfrm>
            <a:off x="214335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0" name="Text 25"/>
          <p:cNvSpPr txBox="1"/>
          <p:nvPr/>
        </p:nvSpPr>
        <p:spPr>
          <a:xfrm>
            <a:off x="225308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2  Asks by voice</a:t>
            </a:r>
            <a:endParaRPr lang="en-US" sz="1050" dirty="0"/>
          </a:p>
        </p:txBody>
      </p:sp>
      <p:sp>
        <p:nvSpPr>
          <p:cNvPr id="31" name="Shape 26"/>
          <p:cNvSpPr/>
          <p:nvPr/>
        </p:nvSpPr>
        <p:spPr>
          <a:xfrm>
            <a:off x="2253082" y="3867912"/>
            <a:ext cx="921715" cy="237744"/>
          </a:xfrm>
          <a:prstGeom prst="roundRect">
            <a:avLst>
              <a:gd name="adj" fmla="val 50000"/>
            </a:avLst>
          </a:prstGeom>
          <a:solidFill>
            <a:srgbClr val="FFFFFF"/>
          </a:solidFill>
          <a:ln w="12700">
            <a:solidFill>
              <a:srgbClr val="FFFFFF"/>
            </a:solidFill>
            <a:prstDash val="solid"/>
          </a:ln>
        </p:spPr>
      </p:sp>
      <p:sp>
        <p:nvSpPr>
          <p:cNvPr id="32" name="Text 27"/>
          <p:cNvSpPr txBox="1"/>
          <p:nvPr/>
        </p:nvSpPr>
        <p:spPr>
          <a:xfrm>
            <a:off x="2253082" y="3867912"/>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Ask Bioverse</a:t>
            </a:r>
            <a:endParaRPr lang="en-US" sz="850" dirty="0"/>
          </a:p>
        </p:txBody>
      </p:sp>
      <p:sp>
        <p:nvSpPr>
          <p:cNvPr id="33" name="Text 28"/>
          <p:cNvSpPr txBox="1"/>
          <p:nvPr/>
        </p:nvSpPr>
        <p:spPr>
          <a:xfrm>
            <a:off x="225308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"Can I take a cold medicine?"</a:t>
            </a:r>
            <a:endParaRPr lang="en-US" sz="900" dirty="0"/>
          </a:p>
        </p:txBody>
      </p:sp>
      <p:sp>
        <p:nvSpPr>
          <p:cNvPr id="34" name="Shape 29"/>
          <p:cNvSpPr/>
          <p:nvPr/>
        </p:nvSpPr>
        <p:spPr>
          <a:xfrm>
            <a:off x="3646627" y="3904488"/>
            <a:ext cx="164592" cy="237744"/>
          </a:xfrm>
          <a:prstGeom prst="rightArrow">
            <a:avLst/>
          </a:prstGeom>
          <a:solidFill>
            <a:srgbClr val="2A9D8F"/>
          </a:solidFill>
          <a:ln w="12700">
            <a:solidFill>
              <a:srgbClr val="2A9D8F"/>
            </a:solidFill>
            <a:prstDash val="solid"/>
          </a:ln>
        </p:spPr>
      </p:sp>
      <p:sp>
        <p:nvSpPr>
          <p:cNvPr id="35" name="Shape 30"/>
          <p:cNvSpPr/>
          <p:nvPr/>
        </p:nvSpPr>
        <p:spPr>
          <a:xfrm>
            <a:off x="3829507"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6" name="Text 31"/>
          <p:cNvSpPr txBox="1"/>
          <p:nvPr/>
        </p:nvSpPr>
        <p:spPr>
          <a:xfrm>
            <a:off x="3939235"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3  Hears the answer</a:t>
            </a:r>
            <a:endParaRPr lang="en-US" sz="1050" dirty="0"/>
          </a:p>
        </p:txBody>
      </p:sp>
      <p:sp>
        <p:nvSpPr>
          <p:cNvPr id="37" name="Shape 32"/>
          <p:cNvSpPr/>
          <p:nvPr/>
        </p:nvSpPr>
        <p:spPr>
          <a:xfrm>
            <a:off x="3939235" y="3867912"/>
            <a:ext cx="804672" cy="237744"/>
          </a:xfrm>
          <a:prstGeom prst="roundRect">
            <a:avLst>
              <a:gd name="adj" fmla="val 50000"/>
            </a:avLst>
          </a:prstGeom>
          <a:solidFill>
            <a:srgbClr val="FFFFFF"/>
          </a:solidFill>
          <a:ln w="12700">
            <a:solidFill>
              <a:srgbClr val="FFFFFF"/>
            </a:solidFill>
            <a:prstDash val="solid"/>
          </a:ln>
        </p:spPr>
      </p:sp>
      <p:sp>
        <p:nvSpPr>
          <p:cNvPr id="38" name="Text 33"/>
          <p:cNvSpPr txBox="1"/>
          <p:nvPr/>
        </p:nvSpPr>
        <p:spPr>
          <a:xfrm>
            <a:off x="3939235" y="3867912"/>
            <a:ext cx="80467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Read-aloud</a:t>
            </a:r>
            <a:endParaRPr lang="en-US" sz="850" dirty="0"/>
          </a:p>
        </p:txBody>
      </p:sp>
      <p:sp>
        <p:nvSpPr>
          <p:cNvPr id="39" name="Text 34"/>
          <p:cNvSpPr txBox="1"/>
          <p:nvPr/>
        </p:nvSpPr>
        <p:spPr>
          <a:xfrm>
            <a:off x="3939235"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Told to check with the pharmacist</a:t>
            </a:r>
            <a:endParaRPr lang="en-US" sz="900" dirty="0"/>
          </a:p>
        </p:txBody>
      </p:sp>
      <p:sp>
        <p:nvSpPr>
          <p:cNvPr id="40" name="Shape 35"/>
          <p:cNvSpPr/>
          <p:nvPr/>
        </p:nvSpPr>
        <p:spPr>
          <a:xfrm>
            <a:off x="5332781" y="3904488"/>
            <a:ext cx="164592" cy="237744"/>
          </a:xfrm>
          <a:prstGeom prst="rightArrow">
            <a:avLst/>
          </a:prstGeom>
          <a:solidFill>
            <a:srgbClr val="2A9D8F"/>
          </a:solidFill>
          <a:ln w="12700">
            <a:solidFill>
              <a:srgbClr val="2A9D8F"/>
            </a:solidFill>
            <a:prstDash val="solid"/>
          </a:ln>
        </p:spPr>
      </p:sp>
      <p:sp>
        <p:nvSpPr>
          <p:cNvPr id="41" name="Shape 36"/>
          <p:cNvSpPr/>
          <p:nvPr/>
        </p:nvSpPr>
        <p:spPr>
          <a:xfrm>
            <a:off x="5515661"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2" name="Text 37"/>
          <p:cNvSpPr txBox="1"/>
          <p:nvPr/>
        </p:nvSpPr>
        <p:spPr>
          <a:xfrm>
            <a:off x="5625389"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4  Order is checked</a:t>
            </a:r>
            <a:endParaRPr lang="en-US" sz="1050" dirty="0"/>
          </a:p>
        </p:txBody>
      </p:sp>
      <p:sp>
        <p:nvSpPr>
          <p:cNvPr id="43" name="Shape 38"/>
          <p:cNvSpPr/>
          <p:nvPr/>
        </p:nvSpPr>
        <p:spPr>
          <a:xfrm>
            <a:off x="5625389" y="3867912"/>
            <a:ext cx="1097280" cy="237744"/>
          </a:xfrm>
          <a:prstGeom prst="roundRect">
            <a:avLst>
              <a:gd name="adj" fmla="val 50000"/>
            </a:avLst>
          </a:prstGeom>
          <a:solidFill>
            <a:srgbClr val="FFFFFF"/>
          </a:solidFill>
          <a:ln w="12700">
            <a:solidFill>
              <a:srgbClr val="FFFFFF"/>
            </a:solidFill>
            <a:prstDash val="solid"/>
          </a:ln>
        </p:spPr>
      </p:sp>
      <p:sp>
        <p:nvSpPr>
          <p:cNvPr id="44" name="Text 39"/>
          <p:cNvSpPr txBox="1"/>
          <p:nvPr/>
        </p:nvSpPr>
        <p:spPr>
          <a:xfrm>
            <a:off x="5625389" y="3867912"/>
            <a:ext cx="1097280"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Order medicines</a:t>
            </a:r>
            <a:endParaRPr lang="en-US" sz="850" dirty="0"/>
          </a:p>
        </p:txBody>
      </p:sp>
      <p:sp>
        <p:nvSpPr>
          <p:cNvPr id="45" name="Text 40"/>
          <p:cNvSpPr txBox="1"/>
          <p:nvPr/>
        </p:nvSpPr>
        <p:spPr>
          <a:xfrm>
            <a:off x="5625389"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Decongestant flagged with her blood-pressure medicine</a:t>
            </a:r>
            <a:endParaRPr lang="en-US" sz="900" dirty="0"/>
          </a:p>
        </p:txBody>
      </p:sp>
      <p:sp>
        <p:nvSpPr>
          <p:cNvPr id="46" name="Shape 41"/>
          <p:cNvSpPr/>
          <p:nvPr/>
        </p:nvSpPr>
        <p:spPr>
          <a:xfrm>
            <a:off x="7018934" y="3904488"/>
            <a:ext cx="164592" cy="237744"/>
          </a:xfrm>
          <a:prstGeom prst="rightArrow">
            <a:avLst/>
          </a:prstGeom>
          <a:solidFill>
            <a:srgbClr val="2A9D8F"/>
          </a:solidFill>
          <a:ln w="12700">
            <a:solidFill>
              <a:srgbClr val="2A9D8F"/>
            </a:solidFill>
            <a:prstDash val="solid"/>
          </a:ln>
        </p:spPr>
      </p:sp>
      <p:sp>
        <p:nvSpPr>
          <p:cNvPr id="47" name="Shape 42"/>
          <p:cNvSpPr/>
          <p:nvPr/>
        </p:nvSpPr>
        <p:spPr>
          <a:xfrm>
            <a:off x="720181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8" name="Text 43"/>
          <p:cNvSpPr txBox="1"/>
          <p:nvPr/>
        </p:nvSpPr>
        <p:spPr>
          <a:xfrm>
            <a:off x="731154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5  Finds the clinic</a:t>
            </a:r>
            <a:endParaRPr lang="en-US" sz="1050" dirty="0"/>
          </a:p>
        </p:txBody>
      </p:sp>
      <p:sp>
        <p:nvSpPr>
          <p:cNvPr id="49" name="Shape 44"/>
          <p:cNvSpPr/>
          <p:nvPr/>
        </p:nvSpPr>
        <p:spPr>
          <a:xfrm>
            <a:off x="7311542" y="3867912"/>
            <a:ext cx="980237" cy="237744"/>
          </a:xfrm>
          <a:prstGeom prst="roundRect">
            <a:avLst>
              <a:gd name="adj" fmla="val 50000"/>
            </a:avLst>
          </a:prstGeom>
          <a:solidFill>
            <a:srgbClr val="FFFFFF"/>
          </a:solidFill>
          <a:ln w="12700">
            <a:solidFill>
              <a:srgbClr val="FFFFFF"/>
            </a:solidFill>
            <a:prstDash val="solid"/>
          </a:ln>
        </p:spPr>
      </p:sp>
      <p:sp>
        <p:nvSpPr>
          <p:cNvPr id="50" name="Text 45"/>
          <p:cNvSpPr txBox="1"/>
          <p:nvPr/>
        </p:nvSpPr>
        <p:spPr>
          <a:xfrm>
            <a:off x="7311542" y="3867912"/>
            <a:ext cx="98023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Find your way</a:t>
            </a:r>
            <a:endParaRPr lang="en-US" sz="850" dirty="0"/>
          </a:p>
        </p:txBody>
      </p:sp>
      <p:sp>
        <p:nvSpPr>
          <p:cNvPr id="51" name="Text 46"/>
          <p:cNvSpPr txBox="1"/>
          <p:nvPr/>
        </p:nvSpPr>
        <p:spPr>
          <a:xfrm>
            <a:off x="731154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Step-free route with Elevator B</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David: caring for Maya, with consent</a:t>
            </a:r>
            <a:endParaRPr lang="en-US" sz="2800" dirty="0"/>
          </a:p>
        </p:txBody>
      </p:sp>
      <p:sp>
        <p:nvSpPr>
          <p:cNvPr id="3" name="Shape 1"/>
          <p:cNvSpPr/>
          <p:nvPr/>
        </p:nvSpPr>
        <p:spPr>
          <a:xfrm>
            <a:off x="457200" y="960120"/>
            <a:ext cx="8229600" cy="731520"/>
          </a:xfrm>
          <a:prstGeom prst="roundRect">
            <a:avLst>
              <a:gd name="adj" fmla="val 15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 name="Shape 2"/>
          <p:cNvSpPr/>
          <p:nvPr/>
        </p:nvSpPr>
        <p:spPr>
          <a:xfrm>
            <a:off x="594360" y="1024128"/>
            <a:ext cx="603504" cy="603504"/>
          </a:xfrm>
          <a:prstGeom prst="ellipse">
            <a:avLst/>
          </a:prstGeom>
          <a:solidFill>
            <a:srgbClr val="0369A1"/>
          </a:solidFill>
          <a:ln w="25400">
            <a:solidFill>
              <a:srgbClr val="FFFFFF"/>
            </a:solidFill>
            <a:prstDash val="solid"/>
          </a:ln>
        </p:spPr>
      </p:sp>
      <p:sp>
        <p:nvSpPr>
          <p:cNvPr id="5" name="Text 3"/>
          <p:cNvSpPr txBox="1"/>
          <p:nvPr/>
        </p:nvSpPr>
        <p:spPr>
          <a:xfrm>
            <a:off x="594360" y="1024128"/>
            <a:ext cx="603504" cy="603504"/>
          </a:xfrm>
          <a:prstGeom prst="rect">
            <a:avLst/>
          </a:prstGeom>
          <a:noFill/>
          <a:ln/>
        </p:spPr>
        <p:txBody>
          <a:bodyPr wrap="square" lIns="0" tIns="0" rIns="0" bIns="0" rtlCol="0" anchor="ctr"/>
          <a:lstStyle/>
          <a:p>
            <a:pPr algn="ctr" indent="0" marL="0">
              <a:buNone/>
            </a:pPr>
            <a:r>
              <a:rPr lang="en-US" sz="1452" b="1" dirty="0">
                <a:solidFill>
                  <a:srgbClr val="FFFFFF"/>
                </a:solidFill>
                <a:latin typeface="Calibri" pitchFamily="34" charset="0"/>
                <a:ea typeface="Calibri" pitchFamily="34" charset="-122"/>
                <a:cs typeface="Calibri" pitchFamily="34" charset="-120"/>
              </a:rPr>
              <a:t>DT</a:t>
            </a:r>
            <a:endParaRPr lang="en-US" sz="1452" dirty="0"/>
          </a:p>
        </p:txBody>
      </p:sp>
      <p:sp>
        <p:nvSpPr>
          <p:cNvPr id="6" name="Text 4"/>
          <p:cNvSpPr txBox="1"/>
          <p:nvPr/>
        </p:nvSpPr>
        <p:spPr>
          <a:xfrm>
            <a:off x="1325880" y="1005840"/>
            <a:ext cx="7223760" cy="64008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Caregiver and patient</a:t>
            </a:r>
            <a:pPr indent="0" marL="0">
              <a:buNone/>
            </a:pPr>
            <a:r>
              <a:rPr lang="en-US" sz="1150" dirty="0">
                <a:solidFill>
                  <a:srgbClr val="4B5563"/>
                </a:solidFill>
                <a:latin typeface="Calibri" pitchFamily="34" charset="0"/>
                <a:ea typeface="Calibri" pitchFamily="34" charset="-122"/>
                <a:cs typeface="Calibri" pitchFamily="34" charset="-120"/>
              </a:rPr>
              <a:t>   Goal: Help with appointments and reminders without seeing more than Maya allows</a:t>
            </a:r>
            <a:endParaRPr lang="en-US" sz="1150" dirty="0"/>
          </a:p>
        </p:txBody>
      </p:sp>
      <p:sp>
        <p:nvSpPr>
          <p:cNvPr id="7" name="Shape 5"/>
          <p:cNvSpPr/>
          <p:nvPr/>
        </p:nvSpPr>
        <p:spPr>
          <a:xfrm>
            <a:off x="45720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8" name="Shape 6"/>
          <p:cNvSpPr/>
          <p:nvPr/>
        </p:nvSpPr>
        <p:spPr>
          <a:xfrm>
            <a:off x="585216" y="1956816"/>
            <a:ext cx="420624" cy="420624"/>
          </a:xfrm>
          <a:prstGeom prst="ellipse">
            <a:avLst/>
          </a:prstGeom>
          <a:solidFill>
            <a:srgbClr val="1B6B63"/>
          </a:solidFill>
          <a:ln w="12700">
            <a:solidFill>
              <a:srgbClr val="1B6B63"/>
            </a:solidFill>
            <a:prstDash val="solid"/>
          </a:ln>
        </p:spPr>
      </p:sp>
      <p:pic>
        <p:nvPicPr>
          <p:cNvPr id="9" name="Image 0" descr="preencoded.png">    </p:cNvPr>
          <p:cNvPicPr>
            <a:picLocks noChangeAspect="1"/>
          </p:cNvPicPr>
          <p:nvPr/>
        </p:nvPicPr>
        <p:blipFill>
          <a:blip r:embed="rId1"/>
          <a:stretch>
            <a:fillRect/>
          </a:stretch>
        </p:blipFill>
        <p:spPr>
          <a:xfrm>
            <a:off x="690372" y="2061972"/>
            <a:ext cx="210312" cy="210312"/>
          </a:xfrm>
          <a:prstGeom prst="rect">
            <a:avLst/>
          </a:prstGeom>
        </p:spPr>
      </p:pic>
      <p:sp>
        <p:nvSpPr>
          <p:cNvPr id="10" name="Text 7"/>
          <p:cNvSpPr txBox="1"/>
          <p:nvPr/>
        </p:nvSpPr>
        <p:spPr>
          <a:xfrm>
            <a:off x="111556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Consent-based access</a:t>
            </a:r>
            <a:endParaRPr lang="en-US" sz="1150" dirty="0"/>
          </a:p>
        </p:txBody>
      </p:sp>
      <p:sp>
        <p:nvSpPr>
          <p:cNvPr id="11" name="Text 8"/>
          <p:cNvSpPr txBox="1"/>
          <p:nvPr/>
        </p:nvSpPr>
        <p:spPr>
          <a:xfrm>
            <a:off x="58521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Maya chooses what he can see and do, and can take it back</a:t>
            </a:r>
            <a:endParaRPr lang="en-US" sz="950" dirty="0"/>
          </a:p>
        </p:txBody>
      </p:sp>
      <p:sp>
        <p:nvSpPr>
          <p:cNvPr id="12" name="Shape 9"/>
          <p:cNvSpPr/>
          <p:nvPr/>
        </p:nvSpPr>
        <p:spPr>
          <a:xfrm>
            <a:off x="324612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3" name="Shape 10"/>
          <p:cNvSpPr/>
          <p:nvPr/>
        </p:nvSpPr>
        <p:spPr>
          <a:xfrm>
            <a:off x="3374136" y="1956816"/>
            <a:ext cx="420624" cy="420624"/>
          </a:xfrm>
          <a:prstGeom prst="ellipse">
            <a:avLst/>
          </a:prstGeom>
          <a:solidFill>
            <a:srgbClr val="1B6B63"/>
          </a:solidFill>
          <a:ln w="12700">
            <a:solidFill>
              <a:srgbClr val="1B6B63"/>
            </a:solidFill>
            <a:prstDash val="solid"/>
          </a:ln>
        </p:spPr>
      </p:sp>
      <p:pic>
        <p:nvPicPr>
          <p:cNvPr id="14" name="Image 1" descr="preencoded.png">    </p:cNvPr>
          <p:cNvPicPr>
            <a:picLocks noChangeAspect="1"/>
          </p:cNvPicPr>
          <p:nvPr/>
        </p:nvPicPr>
        <p:blipFill>
          <a:blip r:embed="rId2"/>
          <a:stretch>
            <a:fillRect/>
          </a:stretch>
        </p:blipFill>
        <p:spPr>
          <a:xfrm>
            <a:off x="3479292" y="2061972"/>
            <a:ext cx="210312" cy="210312"/>
          </a:xfrm>
          <a:prstGeom prst="rect">
            <a:avLst/>
          </a:prstGeom>
        </p:spPr>
      </p:pic>
      <p:sp>
        <p:nvSpPr>
          <p:cNvPr id="15" name="Text 11"/>
          <p:cNvSpPr txBox="1"/>
          <p:nvPr/>
        </p:nvSpPr>
        <p:spPr>
          <a:xfrm>
            <a:off x="390448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Stay on top of care</a:t>
            </a:r>
            <a:endParaRPr lang="en-US" sz="1150" dirty="0"/>
          </a:p>
        </p:txBody>
      </p:sp>
      <p:sp>
        <p:nvSpPr>
          <p:cNvPr id="16" name="Text 12"/>
          <p:cNvSpPr txBox="1"/>
          <p:nvPr/>
        </p:nvSpPr>
        <p:spPr>
          <a:xfrm>
            <a:off x="337413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Appointments, reminders and messages for the people he helps</a:t>
            </a:r>
            <a:endParaRPr lang="en-US" sz="950" dirty="0"/>
          </a:p>
        </p:txBody>
      </p:sp>
      <p:sp>
        <p:nvSpPr>
          <p:cNvPr id="17" name="Shape 13"/>
          <p:cNvSpPr/>
          <p:nvPr/>
        </p:nvSpPr>
        <p:spPr>
          <a:xfrm>
            <a:off x="603504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8" name="Shape 14"/>
          <p:cNvSpPr/>
          <p:nvPr/>
        </p:nvSpPr>
        <p:spPr>
          <a:xfrm>
            <a:off x="6163056" y="1956816"/>
            <a:ext cx="420624" cy="420624"/>
          </a:xfrm>
          <a:prstGeom prst="ellipse">
            <a:avLst/>
          </a:prstGeom>
          <a:solidFill>
            <a:srgbClr val="1B6B63"/>
          </a:solidFill>
          <a:ln w="12700">
            <a:solidFill>
              <a:srgbClr val="1B6B63"/>
            </a:solidFill>
            <a:prstDash val="solid"/>
          </a:ln>
        </p:spPr>
      </p:sp>
      <p:pic>
        <p:nvPicPr>
          <p:cNvPr id="19" name="Image 2" descr="preencoded.png">    </p:cNvPr>
          <p:cNvPicPr>
            <a:picLocks noChangeAspect="1"/>
          </p:cNvPicPr>
          <p:nvPr/>
        </p:nvPicPr>
        <p:blipFill>
          <a:blip r:embed="rId3"/>
          <a:stretch>
            <a:fillRect/>
          </a:stretch>
        </p:blipFill>
        <p:spPr>
          <a:xfrm>
            <a:off x="6268212" y="2061972"/>
            <a:ext cx="210312" cy="210312"/>
          </a:xfrm>
          <a:prstGeom prst="rect">
            <a:avLst/>
          </a:prstGeom>
        </p:spPr>
      </p:pic>
      <p:sp>
        <p:nvSpPr>
          <p:cNvPr id="20" name="Text 15"/>
          <p:cNvSpPr txBox="1"/>
          <p:nvPr/>
        </p:nvSpPr>
        <p:spPr>
          <a:xfrm>
            <a:off x="669340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Every view is logged</a:t>
            </a:r>
            <a:endParaRPr lang="en-US" sz="1150" dirty="0"/>
          </a:p>
        </p:txBody>
      </p:sp>
      <p:sp>
        <p:nvSpPr>
          <p:cNvPr id="21" name="Text 16"/>
          <p:cNvSpPr txBox="1"/>
          <p:nvPr/>
        </p:nvSpPr>
        <p:spPr>
          <a:xfrm>
            <a:off x="616305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Maya sees who looked at her record, in the privacy center</a:t>
            </a:r>
            <a:endParaRPr lang="en-US" sz="950" dirty="0"/>
          </a:p>
        </p:txBody>
      </p:sp>
      <p:sp>
        <p:nvSpPr>
          <p:cNvPr id="22" name="Text 17"/>
          <p:cNvSpPr txBox="1"/>
          <p:nvPr/>
        </p:nvSpPr>
        <p:spPr>
          <a:xfrm>
            <a:off x="457200" y="3035808"/>
            <a:ext cx="2743200" cy="274320"/>
          </a:xfrm>
          <a:prstGeom prst="rect">
            <a:avLst/>
          </a:prstGeom>
          <a:noFill/>
          <a:ln/>
        </p:spPr>
        <p:txBody>
          <a:bodyPr wrap="square" lIns="0" tIns="0" rIns="0" bIns="0" rtlCol="0" anchor="t"/>
          <a:lstStyle/>
          <a:p>
            <a:pPr indent="0" marL="0">
              <a:buNone/>
            </a:pPr>
            <a:r>
              <a:rPr lang="en-US" sz="1200" b="1" dirty="0">
                <a:solidFill>
                  <a:srgbClr val="134E4A"/>
                </a:solidFill>
                <a:latin typeface="Calibri" pitchFamily="34" charset="0"/>
                <a:ea typeface="Calibri" pitchFamily="34" charset="-122"/>
                <a:cs typeface="Calibri" pitchFamily="34" charset="-120"/>
              </a:rPr>
              <a:t>Journey</a:t>
            </a:r>
            <a:endParaRPr lang="en-US" sz="1200" dirty="0"/>
          </a:p>
        </p:txBody>
      </p:sp>
      <p:sp>
        <p:nvSpPr>
          <p:cNvPr id="23" name="Shape 18"/>
          <p:cNvSpPr/>
          <p:nvPr/>
        </p:nvSpPr>
        <p:spPr>
          <a:xfrm>
            <a:off x="457200"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24" name="Text 19"/>
          <p:cNvSpPr txBox="1"/>
          <p:nvPr/>
        </p:nvSpPr>
        <p:spPr>
          <a:xfrm>
            <a:off x="566928"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1  Maya grants access</a:t>
            </a:r>
            <a:endParaRPr lang="en-US" sz="1050" dirty="0"/>
          </a:p>
        </p:txBody>
      </p:sp>
      <p:sp>
        <p:nvSpPr>
          <p:cNvPr id="25" name="Shape 20"/>
          <p:cNvSpPr/>
          <p:nvPr/>
        </p:nvSpPr>
        <p:spPr>
          <a:xfrm>
            <a:off x="566928" y="3867912"/>
            <a:ext cx="570586" cy="237744"/>
          </a:xfrm>
          <a:prstGeom prst="roundRect">
            <a:avLst>
              <a:gd name="adj" fmla="val 50000"/>
            </a:avLst>
          </a:prstGeom>
          <a:solidFill>
            <a:srgbClr val="FFFFFF"/>
          </a:solidFill>
          <a:ln w="12700">
            <a:solidFill>
              <a:srgbClr val="FFFFFF"/>
            </a:solidFill>
            <a:prstDash val="solid"/>
          </a:ln>
        </p:spPr>
      </p:sp>
      <p:sp>
        <p:nvSpPr>
          <p:cNvPr id="26" name="Text 21"/>
          <p:cNvSpPr txBox="1"/>
          <p:nvPr/>
        </p:nvSpPr>
        <p:spPr>
          <a:xfrm>
            <a:off x="566928" y="3867912"/>
            <a:ext cx="570586"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Family</a:t>
            </a:r>
            <a:endParaRPr lang="en-US" sz="850" dirty="0"/>
          </a:p>
        </p:txBody>
      </p:sp>
      <p:sp>
        <p:nvSpPr>
          <p:cNvPr id="27" name="Text 22"/>
          <p:cNvSpPr txBox="1"/>
          <p:nvPr/>
        </p:nvSpPr>
        <p:spPr>
          <a:xfrm>
            <a:off x="566928"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Appointments and messages, not results</a:t>
            </a:r>
            <a:endParaRPr lang="en-US" sz="900" dirty="0"/>
          </a:p>
        </p:txBody>
      </p:sp>
      <p:sp>
        <p:nvSpPr>
          <p:cNvPr id="28" name="Shape 23"/>
          <p:cNvSpPr/>
          <p:nvPr/>
        </p:nvSpPr>
        <p:spPr>
          <a:xfrm>
            <a:off x="1960474" y="3904488"/>
            <a:ext cx="164592" cy="237744"/>
          </a:xfrm>
          <a:prstGeom prst="rightArrow">
            <a:avLst/>
          </a:prstGeom>
          <a:solidFill>
            <a:srgbClr val="2A9D8F"/>
          </a:solidFill>
          <a:ln w="12700">
            <a:solidFill>
              <a:srgbClr val="2A9D8F"/>
            </a:solidFill>
            <a:prstDash val="solid"/>
          </a:ln>
        </p:spPr>
      </p:sp>
      <p:sp>
        <p:nvSpPr>
          <p:cNvPr id="29" name="Shape 24"/>
          <p:cNvSpPr/>
          <p:nvPr/>
        </p:nvSpPr>
        <p:spPr>
          <a:xfrm>
            <a:off x="214335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0" name="Text 25"/>
          <p:cNvSpPr txBox="1"/>
          <p:nvPr/>
        </p:nvSpPr>
        <p:spPr>
          <a:xfrm>
            <a:off x="225308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2  Switches to Maya</a:t>
            </a:r>
            <a:endParaRPr lang="en-US" sz="1050" dirty="0"/>
          </a:p>
        </p:txBody>
      </p:sp>
      <p:sp>
        <p:nvSpPr>
          <p:cNvPr id="31" name="Shape 26"/>
          <p:cNvSpPr/>
          <p:nvPr/>
        </p:nvSpPr>
        <p:spPr>
          <a:xfrm>
            <a:off x="2253082" y="3867912"/>
            <a:ext cx="1038758" cy="237744"/>
          </a:xfrm>
          <a:prstGeom prst="roundRect">
            <a:avLst>
              <a:gd name="adj" fmla="val 50000"/>
            </a:avLst>
          </a:prstGeom>
          <a:solidFill>
            <a:srgbClr val="FFFFFF"/>
          </a:solidFill>
          <a:ln w="12700">
            <a:solidFill>
              <a:srgbClr val="FFFFFF"/>
            </a:solidFill>
            <a:prstDash val="solid"/>
          </a:ln>
        </p:spPr>
      </p:sp>
      <p:sp>
        <p:nvSpPr>
          <p:cNvPr id="32" name="Text 27"/>
          <p:cNvSpPr txBox="1"/>
          <p:nvPr/>
        </p:nvSpPr>
        <p:spPr>
          <a:xfrm>
            <a:off x="2253082" y="3867912"/>
            <a:ext cx="1038758"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Caregiver view</a:t>
            </a:r>
            <a:endParaRPr lang="en-US" sz="850" dirty="0"/>
          </a:p>
        </p:txBody>
      </p:sp>
      <p:sp>
        <p:nvSpPr>
          <p:cNvPr id="33" name="Text 28"/>
          <p:cNvSpPr txBox="1"/>
          <p:nvPr/>
        </p:nvSpPr>
        <p:spPr>
          <a:xfrm>
            <a:off x="225308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Acts for her, clearly labelled</a:t>
            </a:r>
            <a:endParaRPr lang="en-US" sz="900" dirty="0"/>
          </a:p>
        </p:txBody>
      </p:sp>
      <p:sp>
        <p:nvSpPr>
          <p:cNvPr id="34" name="Shape 29"/>
          <p:cNvSpPr/>
          <p:nvPr/>
        </p:nvSpPr>
        <p:spPr>
          <a:xfrm>
            <a:off x="3646627" y="3904488"/>
            <a:ext cx="164592" cy="237744"/>
          </a:xfrm>
          <a:prstGeom prst="rightArrow">
            <a:avLst/>
          </a:prstGeom>
          <a:solidFill>
            <a:srgbClr val="2A9D8F"/>
          </a:solidFill>
          <a:ln w="12700">
            <a:solidFill>
              <a:srgbClr val="2A9D8F"/>
            </a:solidFill>
            <a:prstDash val="solid"/>
          </a:ln>
        </p:spPr>
      </p:sp>
      <p:sp>
        <p:nvSpPr>
          <p:cNvPr id="35" name="Shape 30"/>
          <p:cNvSpPr/>
          <p:nvPr/>
        </p:nvSpPr>
        <p:spPr>
          <a:xfrm>
            <a:off x="3829507"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6" name="Text 31"/>
          <p:cNvSpPr txBox="1"/>
          <p:nvPr/>
        </p:nvSpPr>
        <p:spPr>
          <a:xfrm>
            <a:off x="3939235"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3  Books a visit</a:t>
            </a:r>
            <a:endParaRPr lang="en-US" sz="1050" dirty="0"/>
          </a:p>
        </p:txBody>
      </p:sp>
      <p:sp>
        <p:nvSpPr>
          <p:cNvPr id="37" name="Shape 32"/>
          <p:cNvSpPr/>
          <p:nvPr/>
        </p:nvSpPr>
        <p:spPr>
          <a:xfrm>
            <a:off x="3939235" y="3867912"/>
            <a:ext cx="570586" cy="237744"/>
          </a:xfrm>
          <a:prstGeom prst="roundRect">
            <a:avLst>
              <a:gd name="adj" fmla="val 50000"/>
            </a:avLst>
          </a:prstGeom>
          <a:solidFill>
            <a:srgbClr val="FFFFFF"/>
          </a:solidFill>
          <a:ln w="12700">
            <a:solidFill>
              <a:srgbClr val="FFFFFF"/>
            </a:solidFill>
            <a:prstDash val="solid"/>
          </a:ln>
        </p:spPr>
      </p:sp>
      <p:sp>
        <p:nvSpPr>
          <p:cNvPr id="38" name="Text 33"/>
          <p:cNvSpPr txBox="1"/>
          <p:nvPr/>
        </p:nvSpPr>
        <p:spPr>
          <a:xfrm>
            <a:off x="3939235" y="3867912"/>
            <a:ext cx="570586"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Visits</a:t>
            </a:r>
            <a:endParaRPr lang="en-US" sz="850" dirty="0"/>
          </a:p>
        </p:txBody>
      </p:sp>
      <p:sp>
        <p:nvSpPr>
          <p:cNvPr id="39" name="Text 34"/>
          <p:cNvSpPr txBox="1"/>
          <p:nvPr/>
        </p:nvSpPr>
        <p:spPr>
          <a:xfrm>
            <a:off x="3939235"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Picks a time that suits both</a:t>
            </a:r>
            <a:endParaRPr lang="en-US" sz="900" dirty="0"/>
          </a:p>
        </p:txBody>
      </p:sp>
      <p:sp>
        <p:nvSpPr>
          <p:cNvPr id="40" name="Shape 35"/>
          <p:cNvSpPr/>
          <p:nvPr/>
        </p:nvSpPr>
        <p:spPr>
          <a:xfrm>
            <a:off x="5332781" y="3904488"/>
            <a:ext cx="164592" cy="237744"/>
          </a:xfrm>
          <a:prstGeom prst="rightArrow">
            <a:avLst/>
          </a:prstGeom>
          <a:solidFill>
            <a:srgbClr val="2A9D8F"/>
          </a:solidFill>
          <a:ln w="12700">
            <a:solidFill>
              <a:srgbClr val="2A9D8F"/>
            </a:solidFill>
            <a:prstDash val="solid"/>
          </a:ln>
        </p:spPr>
      </p:sp>
      <p:sp>
        <p:nvSpPr>
          <p:cNvPr id="41" name="Shape 36"/>
          <p:cNvSpPr/>
          <p:nvPr/>
        </p:nvSpPr>
        <p:spPr>
          <a:xfrm>
            <a:off x="5515661"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2" name="Text 37"/>
          <p:cNvSpPr txBox="1"/>
          <p:nvPr/>
        </p:nvSpPr>
        <p:spPr>
          <a:xfrm>
            <a:off x="5625389"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4  Gets reminders</a:t>
            </a:r>
            <a:endParaRPr lang="en-US" sz="1050" dirty="0"/>
          </a:p>
        </p:txBody>
      </p:sp>
      <p:sp>
        <p:nvSpPr>
          <p:cNvPr id="43" name="Shape 38"/>
          <p:cNvSpPr/>
          <p:nvPr/>
        </p:nvSpPr>
        <p:spPr>
          <a:xfrm>
            <a:off x="5625389" y="3867912"/>
            <a:ext cx="980237" cy="237744"/>
          </a:xfrm>
          <a:prstGeom prst="roundRect">
            <a:avLst>
              <a:gd name="adj" fmla="val 50000"/>
            </a:avLst>
          </a:prstGeom>
          <a:solidFill>
            <a:srgbClr val="FFFFFF"/>
          </a:solidFill>
          <a:ln w="12700">
            <a:solidFill>
              <a:srgbClr val="FFFFFF"/>
            </a:solidFill>
            <a:prstDash val="solid"/>
          </a:ln>
        </p:spPr>
      </p:sp>
      <p:sp>
        <p:nvSpPr>
          <p:cNvPr id="44" name="Text 39"/>
          <p:cNvSpPr txBox="1"/>
          <p:nvPr/>
        </p:nvSpPr>
        <p:spPr>
          <a:xfrm>
            <a:off x="5625389" y="3867912"/>
            <a:ext cx="98023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Notifications</a:t>
            </a:r>
            <a:endParaRPr lang="en-US" sz="850" dirty="0"/>
          </a:p>
        </p:txBody>
      </p:sp>
      <p:sp>
        <p:nvSpPr>
          <p:cNvPr id="45" name="Text 40"/>
          <p:cNvSpPr txBox="1"/>
          <p:nvPr/>
        </p:nvSpPr>
        <p:spPr>
          <a:xfrm>
            <a:off x="5625389"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Only what Maya shared</a:t>
            </a:r>
            <a:endParaRPr lang="en-US" sz="900" dirty="0"/>
          </a:p>
        </p:txBody>
      </p:sp>
      <p:sp>
        <p:nvSpPr>
          <p:cNvPr id="46" name="Shape 41"/>
          <p:cNvSpPr/>
          <p:nvPr/>
        </p:nvSpPr>
        <p:spPr>
          <a:xfrm>
            <a:off x="7018934" y="3904488"/>
            <a:ext cx="164592" cy="237744"/>
          </a:xfrm>
          <a:prstGeom prst="rightArrow">
            <a:avLst/>
          </a:prstGeom>
          <a:solidFill>
            <a:srgbClr val="2A9D8F"/>
          </a:solidFill>
          <a:ln w="12700">
            <a:solidFill>
              <a:srgbClr val="2A9D8F"/>
            </a:solidFill>
            <a:prstDash val="solid"/>
          </a:ln>
        </p:spPr>
      </p:sp>
      <p:sp>
        <p:nvSpPr>
          <p:cNvPr id="47" name="Shape 42"/>
          <p:cNvSpPr/>
          <p:nvPr/>
        </p:nvSpPr>
        <p:spPr>
          <a:xfrm>
            <a:off x="720181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8" name="Text 43"/>
          <p:cNvSpPr txBox="1"/>
          <p:nvPr/>
        </p:nvSpPr>
        <p:spPr>
          <a:xfrm>
            <a:off x="731154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5  Access can end</a:t>
            </a:r>
            <a:endParaRPr lang="en-US" sz="1050" dirty="0"/>
          </a:p>
        </p:txBody>
      </p:sp>
      <p:sp>
        <p:nvSpPr>
          <p:cNvPr id="49" name="Shape 44"/>
          <p:cNvSpPr/>
          <p:nvPr/>
        </p:nvSpPr>
        <p:spPr>
          <a:xfrm>
            <a:off x="7311542" y="3867912"/>
            <a:ext cx="629107" cy="237744"/>
          </a:xfrm>
          <a:prstGeom prst="roundRect">
            <a:avLst>
              <a:gd name="adj" fmla="val 50000"/>
            </a:avLst>
          </a:prstGeom>
          <a:solidFill>
            <a:srgbClr val="FFFFFF"/>
          </a:solidFill>
          <a:ln w="12700">
            <a:solidFill>
              <a:srgbClr val="FFFFFF"/>
            </a:solidFill>
            <a:prstDash val="solid"/>
          </a:ln>
        </p:spPr>
      </p:sp>
      <p:sp>
        <p:nvSpPr>
          <p:cNvPr id="50" name="Text 45"/>
          <p:cNvSpPr txBox="1"/>
          <p:nvPr/>
        </p:nvSpPr>
        <p:spPr>
          <a:xfrm>
            <a:off x="7311542" y="3867912"/>
            <a:ext cx="62910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Privacy</a:t>
            </a:r>
            <a:endParaRPr lang="en-US" sz="850" dirty="0"/>
          </a:p>
        </p:txBody>
      </p:sp>
      <p:sp>
        <p:nvSpPr>
          <p:cNvPr id="51" name="Text 46"/>
          <p:cNvSpPr txBox="1"/>
          <p:nvPr/>
        </p:nvSpPr>
        <p:spPr>
          <a:xfrm>
            <a:off x="731154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Maya revokes it in one click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Meet Dr. Adaeze Okafor</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Cardiologist at Northside Heart Centre, full clinic and a growing online practice</a:t>
            </a:r>
            <a:endParaRPr lang="en-US" sz="1300" dirty="0"/>
          </a:p>
        </p:txBody>
      </p:sp>
      <p:sp>
        <p:nvSpPr>
          <p:cNvPr id="4" name="Shape 2"/>
          <p:cNvSpPr/>
          <p:nvPr/>
        </p:nvSpPr>
        <p:spPr>
          <a:xfrm>
            <a:off x="457200" y="1325880"/>
            <a:ext cx="3063240" cy="3429000"/>
          </a:xfrm>
          <a:prstGeom prst="roundRect">
            <a:avLst>
              <a:gd name="adj" fmla="val 358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658368" y="1481328"/>
            <a:ext cx="658368" cy="658368"/>
          </a:xfrm>
          <a:prstGeom prst="ellipse">
            <a:avLst/>
          </a:prstGeom>
          <a:solidFill>
            <a:srgbClr val="134E4A"/>
          </a:solidFill>
          <a:ln w="25400">
            <a:solidFill>
              <a:srgbClr val="FFFFFF"/>
            </a:solidFill>
            <a:prstDash val="solid"/>
          </a:ln>
        </p:spPr>
      </p:sp>
      <p:sp>
        <p:nvSpPr>
          <p:cNvPr id="6" name="Text 4"/>
          <p:cNvSpPr txBox="1"/>
          <p:nvPr/>
        </p:nvSpPr>
        <p:spPr>
          <a:xfrm>
            <a:off x="658368" y="1481328"/>
            <a:ext cx="658368" cy="658368"/>
          </a:xfrm>
          <a:prstGeom prst="rect">
            <a:avLst/>
          </a:prstGeom>
          <a:noFill/>
          <a:ln/>
        </p:spPr>
        <p:txBody>
          <a:bodyPr wrap="square" lIns="0" tIns="0" rIns="0" bIns="0" rtlCol="0" anchor="ctr"/>
          <a:lstStyle/>
          <a:p>
            <a:pPr algn="ctr" indent="0" marL="0">
              <a:buNone/>
            </a:pPr>
            <a:r>
              <a:rPr lang="en-US" sz="1584" b="1" dirty="0">
                <a:solidFill>
                  <a:srgbClr val="FFFFFF"/>
                </a:solidFill>
                <a:latin typeface="Calibri" pitchFamily="34" charset="0"/>
                <a:ea typeface="Calibri" pitchFamily="34" charset="-122"/>
                <a:cs typeface="Calibri" pitchFamily="34" charset="-120"/>
              </a:rPr>
              <a:t>AO</a:t>
            </a:r>
            <a:endParaRPr lang="en-US" sz="1584" dirty="0"/>
          </a:p>
        </p:txBody>
      </p:sp>
      <p:sp>
        <p:nvSpPr>
          <p:cNvPr id="7" name="Text 5"/>
          <p:cNvSpPr txBox="1"/>
          <p:nvPr/>
        </p:nvSpPr>
        <p:spPr>
          <a:xfrm>
            <a:off x="1444752" y="1481328"/>
            <a:ext cx="2011680" cy="658368"/>
          </a:xfrm>
          <a:prstGeom prst="rect">
            <a:avLst/>
          </a:prstGeom>
          <a:noFill/>
          <a:ln/>
        </p:spPr>
        <p:txBody>
          <a:bodyPr wrap="square" lIns="0" tIns="0" rIns="0" bIns="0"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Dr. Adaeze Okafor</a:t>
            </a:r>
            <a:endParaRPr lang="en-US" sz="1400" dirty="0"/>
          </a:p>
        </p:txBody>
      </p:sp>
      <p:sp>
        <p:nvSpPr>
          <p:cNvPr id="8" name="Text 6"/>
          <p:cNvSpPr txBox="1"/>
          <p:nvPr/>
        </p:nvSpPr>
        <p:spPr>
          <a:xfrm>
            <a:off x="658368" y="2212848"/>
            <a:ext cx="274320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Clinician · cardiology · signs in with the hospital's Microsoft account</a:t>
            </a:r>
            <a:endParaRPr lang="en-US" sz="1000" dirty="0"/>
          </a:p>
        </p:txBody>
      </p:sp>
      <p:sp>
        <p:nvSpPr>
          <p:cNvPr id="9" name="Text 7"/>
          <p:cNvSpPr txBox="1"/>
          <p:nvPr/>
        </p:nvSpPr>
        <p:spPr>
          <a:xfrm>
            <a:off x="658368" y="2651760"/>
            <a:ext cx="2743200" cy="237744"/>
          </a:xfrm>
          <a:prstGeom prst="rect">
            <a:avLst/>
          </a:prstGeom>
          <a:noFill/>
          <a:ln/>
        </p:spPr>
        <p:txBody>
          <a:bodyPr wrap="square" lIns="0" tIns="0" rIns="0" bIns="0" rtlCol="0" anchor="t"/>
          <a:lstStyle/>
          <a:p>
            <a:pPr indent="0" marL="0">
              <a:buNone/>
            </a:pPr>
            <a:r>
              <a:rPr lang="en-US" sz="1150" b="1" dirty="0">
                <a:solidFill>
                  <a:srgbClr val="134E4A"/>
                </a:solidFill>
                <a:latin typeface="Calibri" pitchFamily="34" charset="0"/>
                <a:ea typeface="Calibri" pitchFamily="34" charset="-122"/>
                <a:cs typeface="Calibri" pitchFamily="34" charset="-120"/>
              </a:rPr>
              <a:t>Goals</a:t>
            </a:r>
            <a:endParaRPr lang="en-US" sz="1150" dirty="0"/>
          </a:p>
        </p:txBody>
      </p:sp>
      <p:sp>
        <p:nvSpPr>
          <p:cNvPr id="10" name="Text 8"/>
          <p:cNvSpPr txBox="1"/>
          <p:nvPr/>
        </p:nvSpPr>
        <p:spPr>
          <a:xfrm>
            <a:off x="658368" y="2889504"/>
            <a:ext cx="2697480" cy="822960"/>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See what matters before the patient walks in</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Catch deterioration between visits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Spend less time on inbox and paperwork</a:t>
            </a:r>
            <a:endParaRPr lang="en-US" sz="1000" dirty="0"/>
          </a:p>
        </p:txBody>
      </p:sp>
      <p:sp>
        <p:nvSpPr>
          <p:cNvPr id="11" name="Text 9"/>
          <p:cNvSpPr txBox="1"/>
          <p:nvPr/>
        </p:nvSpPr>
        <p:spPr>
          <a:xfrm>
            <a:off x="658368" y="3730752"/>
            <a:ext cx="2743200" cy="237744"/>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Frustrations today</a:t>
            </a:r>
            <a:endParaRPr lang="en-US" sz="1150" dirty="0"/>
          </a:p>
        </p:txBody>
      </p:sp>
      <p:sp>
        <p:nvSpPr>
          <p:cNvPr id="12" name="Text 10"/>
          <p:cNvSpPr txBox="1"/>
          <p:nvPr/>
        </p:nvSpPr>
        <p:spPr>
          <a:xfrm>
            <a:off x="658368" y="3968496"/>
            <a:ext cx="2697480" cy="749808"/>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Chart-hunting before each visit</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No view of patients between visits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Writing explanations from scratch</a:t>
            </a:r>
            <a:endParaRPr lang="en-US" sz="1000" dirty="0"/>
          </a:p>
        </p:txBody>
      </p:sp>
      <p:sp>
        <p:nvSpPr>
          <p:cNvPr id="13" name="Text 11"/>
          <p:cNvSpPr txBox="1"/>
          <p:nvPr/>
        </p:nvSpPr>
        <p:spPr>
          <a:xfrm>
            <a:off x="3794760" y="1325880"/>
            <a:ext cx="4892040" cy="320040"/>
          </a:xfrm>
          <a:prstGeom prst="rect">
            <a:avLst/>
          </a:prstGeom>
          <a:noFill/>
          <a:ln/>
        </p:spPr>
        <p:txBody>
          <a:bodyPr wrap="square" lIns="0" tIns="0" rIns="0" bIns="0" rtlCol="0" anchor="t"/>
          <a:lstStyle/>
          <a:p>
            <a:pPr indent="0" marL="0">
              <a:buNone/>
            </a:pPr>
            <a:r>
              <a:rPr lang="en-US" sz="1400" b="1" dirty="0">
                <a:solidFill>
                  <a:srgbClr val="134E4A"/>
                </a:solidFill>
                <a:latin typeface="Calibri" pitchFamily="34" charset="0"/>
                <a:ea typeface="Calibri" pitchFamily="34" charset="-122"/>
                <a:cs typeface="Calibri" pitchFamily="34" charset="-120"/>
              </a:rPr>
              <a:t>What Bioverse One gives her</a:t>
            </a:r>
            <a:endParaRPr lang="en-US" sz="1400" dirty="0"/>
          </a:p>
        </p:txBody>
      </p:sp>
      <p:sp>
        <p:nvSpPr>
          <p:cNvPr id="14" name="Shape 12"/>
          <p:cNvSpPr/>
          <p:nvPr/>
        </p:nvSpPr>
        <p:spPr>
          <a:xfrm>
            <a:off x="3794760" y="1737360"/>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3904488" y="1792224"/>
            <a:ext cx="420624" cy="420624"/>
          </a:xfrm>
          <a:prstGeom prst="ellipse">
            <a:avLst/>
          </a:prstGeom>
          <a:solidFill>
            <a:srgbClr val="1B6B63"/>
          </a:solidFill>
          <a:ln w="12700">
            <a:solidFill>
              <a:srgbClr val="1B6B63"/>
            </a:solidFill>
            <a:prstDash val="solid"/>
          </a:ln>
        </p:spPr>
      </p:sp>
      <p:pic>
        <p:nvPicPr>
          <p:cNvPr id="16" name="Image 0" descr="preencoded.png">    </p:cNvPr>
          <p:cNvPicPr>
            <a:picLocks noChangeAspect="1"/>
          </p:cNvPicPr>
          <p:nvPr/>
        </p:nvPicPr>
        <p:blipFill>
          <a:blip r:embed="rId1"/>
          <a:stretch>
            <a:fillRect/>
          </a:stretch>
        </p:blipFill>
        <p:spPr>
          <a:xfrm>
            <a:off x="4009644" y="1897380"/>
            <a:ext cx="210312" cy="210312"/>
          </a:xfrm>
          <a:prstGeom prst="rect">
            <a:avLst/>
          </a:prstGeom>
        </p:spPr>
      </p:pic>
      <p:sp>
        <p:nvSpPr>
          <p:cNvPr id="17" name="Text 14"/>
          <p:cNvSpPr txBox="1"/>
          <p:nvPr/>
        </p:nvSpPr>
        <p:spPr>
          <a:xfrm>
            <a:off x="4434840" y="179222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Pre-visit brief</a:t>
            </a:r>
            <a:endParaRPr lang="en-US" sz="1200" dirty="0"/>
          </a:p>
        </p:txBody>
      </p:sp>
      <p:sp>
        <p:nvSpPr>
          <p:cNvPr id="18" name="Text 15"/>
          <p:cNvSpPr txBox="1"/>
          <p:nvPr/>
        </p:nvSpPr>
        <p:spPr>
          <a:xfrm>
            <a:off x="4434840" y="2029968"/>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One page per patient, with sources, before each visit</a:t>
            </a:r>
            <a:endParaRPr lang="en-US" sz="950" dirty="0"/>
          </a:p>
        </p:txBody>
      </p:sp>
      <p:sp>
        <p:nvSpPr>
          <p:cNvPr id="19" name="Shape 16"/>
          <p:cNvSpPr/>
          <p:nvPr/>
        </p:nvSpPr>
        <p:spPr>
          <a:xfrm>
            <a:off x="3794760" y="2359152"/>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0" name="Shape 17"/>
          <p:cNvSpPr/>
          <p:nvPr/>
        </p:nvSpPr>
        <p:spPr>
          <a:xfrm>
            <a:off x="3904488" y="2414016"/>
            <a:ext cx="420624" cy="420624"/>
          </a:xfrm>
          <a:prstGeom prst="ellipse">
            <a:avLst/>
          </a:prstGeom>
          <a:solidFill>
            <a:srgbClr val="DC2626"/>
          </a:solidFill>
          <a:ln w="12700">
            <a:solidFill>
              <a:srgbClr val="DC2626"/>
            </a:solidFill>
            <a:prstDash val="solid"/>
          </a:ln>
        </p:spPr>
      </p:sp>
      <p:pic>
        <p:nvPicPr>
          <p:cNvPr id="21" name="Image 1" descr="preencoded.png">    </p:cNvPr>
          <p:cNvPicPr>
            <a:picLocks noChangeAspect="1"/>
          </p:cNvPicPr>
          <p:nvPr/>
        </p:nvPicPr>
        <p:blipFill>
          <a:blip r:embed="rId2"/>
          <a:stretch>
            <a:fillRect/>
          </a:stretch>
        </p:blipFill>
        <p:spPr>
          <a:xfrm>
            <a:off x="4009644" y="2519172"/>
            <a:ext cx="210312" cy="210312"/>
          </a:xfrm>
          <a:prstGeom prst="rect">
            <a:avLst/>
          </a:prstGeom>
        </p:spPr>
      </p:pic>
      <p:sp>
        <p:nvSpPr>
          <p:cNvPr id="22" name="Text 18"/>
          <p:cNvSpPr txBox="1"/>
          <p:nvPr/>
        </p:nvSpPr>
        <p:spPr>
          <a:xfrm>
            <a:off x="4434840" y="2414016"/>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One queue, ranked by urgency</a:t>
            </a:r>
            <a:endParaRPr lang="en-US" sz="1200" dirty="0"/>
          </a:p>
        </p:txBody>
      </p:sp>
      <p:sp>
        <p:nvSpPr>
          <p:cNvPr id="23" name="Text 19"/>
          <p:cNvSpPr txBox="1"/>
          <p:nvPr/>
        </p:nvSpPr>
        <p:spPr>
          <a:xfrm>
            <a:off x="4434840" y="2651760"/>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Red flags, critical readings and check-ins, urgent first</a:t>
            </a:r>
            <a:endParaRPr lang="en-US" sz="950" dirty="0"/>
          </a:p>
        </p:txBody>
      </p:sp>
      <p:sp>
        <p:nvSpPr>
          <p:cNvPr id="24" name="Shape 20"/>
          <p:cNvSpPr/>
          <p:nvPr/>
        </p:nvSpPr>
        <p:spPr>
          <a:xfrm>
            <a:off x="3794760" y="2980944"/>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5" name="Shape 21"/>
          <p:cNvSpPr/>
          <p:nvPr/>
        </p:nvSpPr>
        <p:spPr>
          <a:xfrm>
            <a:off x="3904488" y="3035808"/>
            <a:ext cx="420624" cy="420624"/>
          </a:xfrm>
          <a:prstGeom prst="ellipse">
            <a:avLst/>
          </a:prstGeom>
          <a:solidFill>
            <a:srgbClr val="1B6B63"/>
          </a:solidFill>
          <a:ln w="12700">
            <a:solidFill>
              <a:srgbClr val="1B6B63"/>
            </a:solidFill>
            <a:prstDash val="solid"/>
          </a:ln>
        </p:spPr>
      </p:sp>
      <p:pic>
        <p:nvPicPr>
          <p:cNvPr id="26" name="Image 2" descr="preencoded.png">    </p:cNvPr>
          <p:cNvPicPr>
            <a:picLocks noChangeAspect="1"/>
          </p:cNvPicPr>
          <p:nvPr/>
        </p:nvPicPr>
        <p:blipFill>
          <a:blip r:embed="rId3"/>
          <a:stretch>
            <a:fillRect/>
          </a:stretch>
        </p:blipFill>
        <p:spPr>
          <a:xfrm>
            <a:off x="4009644" y="3140964"/>
            <a:ext cx="210312" cy="210312"/>
          </a:xfrm>
          <a:prstGeom prst="rect">
            <a:avLst/>
          </a:prstGeom>
        </p:spPr>
      </p:pic>
      <p:sp>
        <p:nvSpPr>
          <p:cNvPr id="27" name="Text 22"/>
          <p:cNvSpPr txBox="1"/>
          <p:nvPr/>
        </p:nvSpPr>
        <p:spPr>
          <a:xfrm>
            <a:off x="4434840" y="3035808"/>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Approve, don't draft</a:t>
            </a:r>
            <a:endParaRPr lang="en-US" sz="1200" dirty="0"/>
          </a:p>
        </p:txBody>
      </p:sp>
      <p:sp>
        <p:nvSpPr>
          <p:cNvPr id="28" name="Text 23"/>
          <p:cNvSpPr txBox="1"/>
          <p:nvPr/>
        </p:nvSpPr>
        <p:spPr>
          <a:xfrm>
            <a:off x="4434840" y="3273552"/>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AI drafts; nothing clinical reaches a patient without her</a:t>
            </a:r>
            <a:endParaRPr lang="en-US" sz="950" dirty="0"/>
          </a:p>
        </p:txBody>
      </p:sp>
      <p:sp>
        <p:nvSpPr>
          <p:cNvPr id="29" name="Shape 24"/>
          <p:cNvSpPr/>
          <p:nvPr/>
        </p:nvSpPr>
        <p:spPr>
          <a:xfrm>
            <a:off x="3794760" y="3602736"/>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0" name="Shape 25"/>
          <p:cNvSpPr/>
          <p:nvPr/>
        </p:nvSpPr>
        <p:spPr>
          <a:xfrm>
            <a:off x="3904488" y="3657600"/>
            <a:ext cx="420624" cy="420624"/>
          </a:xfrm>
          <a:prstGeom prst="ellipse">
            <a:avLst/>
          </a:prstGeom>
          <a:solidFill>
            <a:srgbClr val="1B6B63"/>
          </a:solidFill>
          <a:ln w="12700">
            <a:solidFill>
              <a:srgbClr val="1B6B63"/>
            </a:solidFill>
            <a:prstDash val="solid"/>
          </a:ln>
        </p:spPr>
      </p:sp>
      <p:pic>
        <p:nvPicPr>
          <p:cNvPr id="31" name="Image 3" descr="preencoded.png">    </p:cNvPr>
          <p:cNvPicPr>
            <a:picLocks noChangeAspect="1"/>
          </p:cNvPicPr>
          <p:nvPr/>
        </p:nvPicPr>
        <p:blipFill>
          <a:blip r:embed="rId4"/>
          <a:stretch>
            <a:fillRect/>
          </a:stretch>
        </p:blipFill>
        <p:spPr>
          <a:xfrm>
            <a:off x="4009644" y="3762756"/>
            <a:ext cx="210312" cy="210312"/>
          </a:xfrm>
          <a:prstGeom prst="rect">
            <a:avLst/>
          </a:prstGeom>
        </p:spPr>
      </p:pic>
      <p:sp>
        <p:nvSpPr>
          <p:cNvPr id="32" name="Text 26"/>
          <p:cNvSpPr txBox="1"/>
          <p:nvPr/>
        </p:nvSpPr>
        <p:spPr>
          <a:xfrm>
            <a:off x="4434840" y="3657600"/>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Between-visit visibility</a:t>
            </a:r>
            <a:endParaRPr lang="en-US" sz="1200" dirty="0"/>
          </a:p>
        </p:txBody>
      </p:sp>
      <p:sp>
        <p:nvSpPr>
          <p:cNvPr id="33" name="Text 27"/>
          <p:cNvSpPr txBox="1"/>
          <p:nvPr/>
        </p:nvSpPr>
        <p:spPr>
          <a:xfrm>
            <a:off x="4434840" y="3895344"/>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Monitoring plans, her thresholds, adherence and escalations</a:t>
            </a:r>
            <a:endParaRPr lang="en-US" sz="950" dirty="0"/>
          </a:p>
        </p:txBody>
      </p:sp>
      <p:sp>
        <p:nvSpPr>
          <p:cNvPr id="34" name="Shape 28"/>
          <p:cNvSpPr/>
          <p:nvPr/>
        </p:nvSpPr>
        <p:spPr>
          <a:xfrm>
            <a:off x="3794760" y="4224528"/>
            <a:ext cx="4892040" cy="530352"/>
          </a:xfrm>
          <a:prstGeom prst="roundRect">
            <a:avLst>
              <a:gd name="adj" fmla="val 2069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5" name="Shape 29"/>
          <p:cNvSpPr/>
          <p:nvPr/>
        </p:nvSpPr>
        <p:spPr>
          <a:xfrm>
            <a:off x="3904488" y="4279392"/>
            <a:ext cx="420624" cy="420624"/>
          </a:xfrm>
          <a:prstGeom prst="ellipse">
            <a:avLst/>
          </a:prstGeom>
          <a:solidFill>
            <a:srgbClr val="1B6B63"/>
          </a:solidFill>
          <a:ln w="12700">
            <a:solidFill>
              <a:srgbClr val="1B6B63"/>
            </a:solidFill>
            <a:prstDash val="solid"/>
          </a:ln>
        </p:spPr>
      </p:sp>
      <p:pic>
        <p:nvPicPr>
          <p:cNvPr id="36" name="Image 4" descr="preencoded.png">    </p:cNvPr>
          <p:cNvPicPr>
            <a:picLocks noChangeAspect="1"/>
          </p:cNvPicPr>
          <p:nvPr/>
        </p:nvPicPr>
        <p:blipFill>
          <a:blip r:embed="rId5"/>
          <a:stretch>
            <a:fillRect/>
          </a:stretch>
        </p:blipFill>
        <p:spPr>
          <a:xfrm>
            <a:off x="4009644" y="4384548"/>
            <a:ext cx="210312" cy="210312"/>
          </a:xfrm>
          <a:prstGeom prst="rect">
            <a:avLst/>
          </a:prstGeom>
        </p:spPr>
      </p:pic>
      <p:sp>
        <p:nvSpPr>
          <p:cNvPr id="37" name="Text 30"/>
          <p:cNvSpPr txBox="1"/>
          <p:nvPr/>
        </p:nvSpPr>
        <p:spPr>
          <a:xfrm>
            <a:off x="4434840" y="4279392"/>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Her rules, applied for her</a:t>
            </a:r>
            <a:endParaRPr lang="en-US" sz="1200" dirty="0"/>
          </a:p>
        </p:txBody>
      </p:sp>
      <p:sp>
        <p:nvSpPr>
          <p:cNvPr id="38" name="Text 31"/>
          <p:cNvSpPr txBox="1"/>
          <p:nvPr/>
        </p:nvSpPr>
        <p:spPr>
          <a:xfrm>
            <a:off x="4434840" y="4517136"/>
            <a:ext cx="4160520" cy="21945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Doctor Agent asks her questions and follows her rules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Dr. Okafor's journey</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A morning that starts with context, not chart-hunting</a:t>
            </a:r>
            <a:endParaRPr lang="en-US" sz="1300" dirty="0"/>
          </a:p>
        </p:txBody>
      </p:sp>
      <p:sp>
        <p:nvSpPr>
          <p:cNvPr id="4" name="Shape 2"/>
          <p:cNvSpPr/>
          <p:nvPr/>
        </p:nvSpPr>
        <p:spPr>
          <a:xfrm>
            <a:off x="457200"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66928" y="1453896"/>
            <a:ext cx="420624" cy="420624"/>
          </a:xfrm>
          <a:prstGeom prst="ellipse">
            <a:avLst/>
          </a:prstGeom>
          <a:solidFill>
            <a:srgbClr val="1B6B63"/>
          </a:solidFill>
          <a:ln w="12700">
            <a:solidFill>
              <a:srgbClr val="1B6B63"/>
            </a:solidFill>
            <a:prstDash val="solid"/>
          </a:ln>
        </p:spPr>
      </p:sp>
      <p:pic>
        <p:nvPicPr>
          <p:cNvPr id="6" name="Image 0" descr="preencoded.png">    </p:cNvPr>
          <p:cNvPicPr>
            <a:picLocks noChangeAspect="1"/>
          </p:cNvPicPr>
          <p:nvPr/>
        </p:nvPicPr>
        <p:blipFill>
          <a:blip r:embed="rId1"/>
          <a:stretch>
            <a:fillRect/>
          </a:stretch>
        </p:blipFill>
        <p:spPr>
          <a:xfrm>
            <a:off x="672084" y="1559052"/>
            <a:ext cx="210312" cy="210312"/>
          </a:xfrm>
          <a:prstGeom prst="rect">
            <a:avLst/>
          </a:prstGeom>
        </p:spPr>
      </p:pic>
      <p:sp>
        <p:nvSpPr>
          <p:cNvPr id="7" name="Text 4"/>
          <p:cNvSpPr txBox="1"/>
          <p:nvPr/>
        </p:nvSpPr>
        <p:spPr>
          <a:xfrm>
            <a:off x="133197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566928"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Reads briefs</a:t>
            </a:r>
            <a:endParaRPr lang="en-US" sz="1150" dirty="0"/>
          </a:p>
        </p:txBody>
      </p:sp>
      <p:sp>
        <p:nvSpPr>
          <p:cNvPr id="9" name="Shape 6"/>
          <p:cNvSpPr/>
          <p:nvPr/>
        </p:nvSpPr>
        <p:spPr>
          <a:xfrm>
            <a:off x="566928" y="2468880"/>
            <a:ext cx="746150" cy="237744"/>
          </a:xfrm>
          <a:prstGeom prst="roundRect">
            <a:avLst>
              <a:gd name="adj" fmla="val 50000"/>
            </a:avLst>
          </a:prstGeom>
          <a:solidFill>
            <a:srgbClr val="E6F4F1"/>
          </a:solidFill>
          <a:ln w="12700">
            <a:solidFill>
              <a:srgbClr val="E6F4F1"/>
            </a:solidFill>
            <a:prstDash val="solid"/>
          </a:ln>
        </p:spPr>
      </p:sp>
      <p:sp>
        <p:nvSpPr>
          <p:cNvPr id="10" name="Text 7"/>
          <p:cNvSpPr txBox="1"/>
          <p:nvPr/>
        </p:nvSpPr>
        <p:spPr>
          <a:xfrm>
            <a:off x="566928" y="2468880"/>
            <a:ext cx="746150"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Workspace</a:t>
            </a:r>
            <a:endParaRPr lang="en-US" sz="850" dirty="0"/>
          </a:p>
        </p:txBody>
      </p:sp>
      <p:sp>
        <p:nvSpPr>
          <p:cNvPr id="11" name="Text 8"/>
          <p:cNvSpPr txBox="1"/>
          <p:nvPr/>
        </p:nvSpPr>
        <p:spPr>
          <a:xfrm>
            <a:off x="566928"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Today's patients summarized with sources; she accepts each brief</a:t>
            </a:r>
            <a:endParaRPr lang="en-US" sz="950" dirty="0"/>
          </a:p>
        </p:txBody>
      </p:sp>
      <p:sp>
        <p:nvSpPr>
          <p:cNvPr id="12" name="Shape 9"/>
          <p:cNvSpPr/>
          <p:nvPr/>
        </p:nvSpPr>
        <p:spPr>
          <a:xfrm>
            <a:off x="1679448" y="2464308"/>
            <a:ext cx="164592" cy="237744"/>
          </a:xfrm>
          <a:prstGeom prst="rightArrow">
            <a:avLst/>
          </a:prstGeom>
          <a:solidFill>
            <a:srgbClr val="2A9D8F"/>
          </a:solidFill>
          <a:ln w="12700">
            <a:solidFill>
              <a:srgbClr val="2A9D8F"/>
            </a:solidFill>
            <a:prstDash val="solid"/>
          </a:ln>
        </p:spPr>
      </p:sp>
      <p:sp>
        <p:nvSpPr>
          <p:cNvPr id="13" name="Shape 10"/>
          <p:cNvSpPr/>
          <p:nvPr/>
        </p:nvSpPr>
        <p:spPr>
          <a:xfrm>
            <a:off x="1862328" y="1325880"/>
            <a:ext cx="1203960" cy="2514600"/>
          </a:xfrm>
          <a:prstGeom prst="roundRect">
            <a:avLst>
              <a:gd name="adj" fmla="val 9114"/>
            </a:avLst>
          </a:prstGeom>
          <a:solidFill>
            <a:srgbClr val="FEF2F2"/>
          </a:solidFill>
          <a:ln w="9525">
            <a:solidFill>
              <a:srgbClr val="FEF2F2"/>
            </a:solidFill>
            <a:prstDash val="solid"/>
          </a:ln>
          <a:effectLst>
            <a:outerShdw sx="100000" sy="100000" kx="0" ky="0" algn="bl" rotWithShape="0" blurRad="76200" dist="19050" dir="5400000">
              <a:srgbClr val="000000">
                <a:alpha val="8000"/>
              </a:srgbClr>
            </a:outerShdw>
          </a:effectLst>
        </p:spPr>
      </p:sp>
      <p:sp>
        <p:nvSpPr>
          <p:cNvPr id="14" name="Shape 11"/>
          <p:cNvSpPr/>
          <p:nvPr/>
        </p:nvSpPr>
        <p:spPr>
          <a:xfrm>
            <a:off x="1972056" y="1453896"/>
            <a:ext cx="420624" cy="420624"/>
          </a:xfrm>
          <a:prstGeom prst="ellipse">
            <a:avLst/>
          </a:prstGeom>
          <a:solidFill>
            <a:srgbClr val="DC2626"/>
          </a:solidFill>
          <a:ln w="12700">
            <a:solidFill>
              <a:srgbClr val="DC2626"/>
            </a:solidFill>
            <a:prstDash val="solid"/>
          </a:ln>
        </p:spPr>
      </p:sp>
      <p:pic>
        <p:nvPicPr>
          <p:cNvPr id="15" name="Image 1" descr="preencoded.png">    </p:cNvPr>
          <p:cNvPicPr>
            <a:picLocks noChangeAspect="1"/>
          </p:cNvPicPr>
          <p:nvPr/>
        </p:nvPicPr>
        <p:blipFill>
          <a:blip r:embed="rId2"/>
          <a:stretch>
            <a:fillRect/>
          </a:stretch>
        </p:blipFill>
        <p:spPr>
          <a:xfrm>
            <a:off x="2077212" y="1559052"/>
            <a:ext cx="210312" cy="210312"/>
          </a:xfrm>
          <a:prstGeom prst="rect">
            <a:avLst/>
          </a:prstGeom>
        </p:spPr>
      </p:pic>
      <p:sp>
        <p:nvSpPr>
          <p:cNvPr id="16" name="Text 12"/>
          <p:cNvSpPr txBox="1"/>
          <p:nvPr/>
        </p:nvSpPr>
        <p:spPr>
          <a:xfrm>
            <a:off x="2737104"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1972056" y="1965960"/>
            <a:ext cx="1021080" cy="475488"/>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Sees the alert</a:t>
            </a:r>
            <a:endParaRPr lang="en-US" sz="1150" dirty="0"/>
          </a:p>
        </p:txBody>
      </p:sp>
      <p:sp>
        <p:nvSpPr>
          <p:cNvPr id="18" name="Shape 14"/>
          <p:cNvSpPr/>
          <p:nvPr/>
        </p:nvSpPr>
        <p:spPr>
          <a:xfrm>
            <a:off x="1972056" y="2468880"/>
            <a:ext cx="921715" cy="237744"/>
          </a:xfrm>
          <a:prstGeom prst="roundRect">
            <a:avLst>
              <a:gd name="adj" fmla="val 50000"/>
            </a:avLst>
          </a:prstGeom>
          <a:solidFill>
            <a:srgbClr val="E6F4F1"/>
          </a:solidFill>
          <a:ln w="12700">
            <a:solidFill>
              <a:srgbClr val="E6F4F1"/>
            </a:solidFill>
            <a:prstDash val="solid"/>
          </a:ln>
        </p:spPr>
      </p:sp>
      <p:sp>
        <p:nvSpPr>
          <p:cNvPr id="19" name="Text 15"/>
          <p:cNvSpPr txBox="1"/>
          <p:nvPr/>
        </p:nvSpPr>
        <p:spPr>
          <a:xfrm>
            <a:off x="1972056" y="2468880"/>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Review queue</a:t>
            </a:r>
            <a:endParaRPr lang="en-US" sz="850" dirty="0"/>
          </a:p>
        </p:txBody>
      </p:sp>
      <p:sp>
        <p:nvSpPr>
          <p:cNvPr id="20" name="Text 16"/>
          <p:cNvSpPr txBox="1"/>
          <p:nvPr/>
        </p:nvSpPr>
        <p:spPr>
          <a:xfrm>
            <a:off x="1972056"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Maya's critical blood pressure is at the top of the queue</a:t>
            </a:r>
            <a:endParaRPr lang="en-US" sz="950" dirty="0"/>
          </a:p>
        </p:txBody>
      </p:sp>
      <p:sp>
        <p:nvSpPr>
          <p:cNvPr id="21" name="Shape 17"/>
          <p:cNvSpPr/>
          <p:nvPr/>
        </p:nvSpPr>
        <p:spPr>
          <a:xfrm>
            <a:off x="3084576" y="2464308"/>
            <a:ext cx="164592" cy="237744"/>
          </a:xfrm>
          <a:prstGeom prst="rightArrow">
            <a:avLst/>
          </a:prstGeom>
          <a:solidFill>
            <a:srgbClr val="2A9D8F"/>
          </a:solidFill>
          <a:ln w="12700">
            <a:solidFill>
              <a:srgbClr val="2A9D8F"/>
            </a:solidFill>
            <a:prstDash val="solid"/>
          </a:ln>
        </p:spPr>
      </p:sp>
      <p:sp>
        <p:nvSpPr>
          <p:cNvPr id="22" name="Shape 18"/>
          <p:cNvSpPr/>
          <p:nvPr/>
        </p:nvSpPr>
        <p:spPr>
          <a:xfrm>
            <a:off x="3267456"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3" name="Shape 19"/>
          <p:cNvSpPr/>
          <p:nvPr/>
        </p:nvSpPr>
        <p:spPr>
          <a:xfrm>
            <a:off x="3377184" y="1453896"/>
            <a:ext cx="420624" cy="420624"/>
          </a:xfrm>
          <a:prstGeom prst="ellipse">
            <a:avLst/>
          </a:prstGeom>
          <a:solidFill>
            <a:srgbClr val="1B6B63"/>
          </a:solidFill>
          <a:ln w="12700">
            <a:solidFill>
              <a:srgbClr val="1B6B63"/>
            </a:solidFill>
            <a:prstDash val="solid"/>
          </a:ln>
        </p:spPr>
      </p:sp>
      <p:pic>
        <p:nvPicPr>
          <p:cNvPr id="24" name="Image 2" descr="preencoded.png">    </p:cNvPr>
          <p:cNvPicPr>
            <a:picLocks noChangeAspect="1"/>
          </p:cNvPicPr>
          <p:nvPr/>
        </p:nvPicPr>
        <p:blipFill>
          <a:blip r:embed="rId3"/>
          <a:stretch>
            <a:fillRect/>
          </a:stretch>
        </p:blipFill>
        <p:spPr>
          <a:xfrm>
            <a:off x="3482340" y="1559052"/>
            <a:ext cx="210312" cy="210312"/>
          </a:xfrm>
          <a:prstGeom prst="rect">
            <a:avLst/>
          </a:prstGeom>
        </p:spPr>
      </p:pic>
      <p:sp>
        <p:nvSpPr>
          <p:cNvPr id="25" name="Text 20"/>
          <p:cNvSpPr txBox="1"/>
          <p:nvPr/>
        </p:nvSpPr>
        <p:spPr>
          <a:xfrm>
            <a:off x="414223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3</a:t>
            </a:r>
            <a:endParaRPr lang="en-US" sz="1200" dirty="0"/>
          </a:p>
        </p:txBody>
      </p:sp>
      <p:sp>
        <p:nvSpPr>
          <p:cNvPr id="26" name="Text 21"/>
          <p:cNvSpPr txBox="1"/>
          <p:nvPr/>
        </p:nvSpPr>
        <p:spPr>
          <a:xfrm>
            <a:off x="3377184"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Sets a plan</a:t>
            </a:r>
            <a:endParaRPr lang="en-US" sz="1150" dirty="0"/>
          </a:p>
        </p:txBody>
      </p:sp>
      <p:sp>
        <p:nvSpPr>
          <p:cNvPr id="27" name="Shape 22"/>
          <p:cNvSpPr/>
          <p:nvPr/>
        </p:nvSpPr>
        <p:spPr>
          <a:xfrm>
            <a:off x="3377184" y="2468880"/>
            <a:ext cx="863194" cy="237744"/>
          </a:xfrm>
          <a:prstGeom prst="roundRect">
            <a:avLst>
              <a:gd name="adj" fmla="val 50000"/>
            </a:avLst>
          </a:prstGeom>
          <a:solidFill>
            <a:srgbClr val="E6F4F1"/>
          </a:solidFill>
          <a:ln w="12700">
            <a:solidFill>
              <a:srgbClr val="E6F4F1"/>
            </a:solidFill>
            <a:prstDash val="solid"/>
          </a:ln>
        </p:spPr>
      </p:sp>
      <p:sp>
        <p:nvSpPr>
          <p:cNvPr id="28" name="Text 23"/>
          <p:cNvSpPr txBox="1"/>
          <p:nvPr/>
        </p:nvSpPr>
        <p:spPr>
          <a:xfrm>
            <a:off x="3377184" y="2468880"/>
            <a:ext cx="86319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Home vitals</a:t>
            </a:r>
            <a:endParaRPr lang="en-US" sz="850" dirty="0"/>
          </a:p>
        </p:txBody>
      </p:sp>
      <p:sp>
        <p:nvSpPr>
          <p:cNvPr id="29" name="Text 24"/>
          <p:cNvSpPr txBox="1"/>
          <p:nvPr/>
        </p:nvSpPr>
        <p:spPr>
          <a:xfrm>
            <a:off x="3377184"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Twice-daily readings for 14 days with her own thresholds</a:t>
            </a:r>
            <a:endParaRPr lang="en-US" sz="950" dirty="0"/>
          </a:p>
        </p:txBody>
      </p:sp>
      <p:sp>
        <p:nvSpPr>
          <p:cNvPr id="30" name="Shape 25"/>
          <p:cNvSpPr/>
          <p:nvPr/>
        </p:nvSpPr>
        <p:spPr>
          <a:xfrm>
            <a:off x="4489704" y="2464308"/>
            <a:ext cx="164592" cy="237744"/>
          </a:xfrm>
          <a:prstGeom prst="rightArrow">
            <a:avLst/>
          </a:prstGeom>
          <a:solidFill>
            <a:srgbClr val="2A9D8F"/>
          </a:solidFill>
          <a:ln w="12700">
            <a:solidFill>
              <a:srgbClr val="2A9D8F"/>
            </a:solidFill>
            <a:prstDash val="solid"/>
          </a:ln>
        </p:spPr>
      </p:sp>
      <p:sp>
        <p:nvSpPr>
          <p:cNvPr id="31" name="Shape 26"/>
          <p:cNvSpPr/>
          <p:nvPr/>
        </p:nvSpPr>
        <p:spPr>
          <a:xfrm>
            <a:off x="4672584"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2" name="Shape 27"/>
          <p:cNvSpPr/>
          <p:nvPr/>
        </p:nvSpPr>
        <p:spPr>
          <a:xfrm>
            <a:off x="4782312" y="1453896"/>
            <a:ext cx="420624" cy="420624"/>
          </a:xfrm>
          <a:prstGeom prst="ellipse">
            <a:avLst/>
          </a:prstGeom>
          <a:solidFill>
            <a:srgbClr val="1B6B63"/>
          </a:solidFill>
          <a:ln w="12700">
            <a:solidFill>
              <a:srgbClr val="1B6B63"/>
            </a:solidFill>
            <a:prstDash val="solid"/>
          </a:ln>
        </p:spPr>
      </p:sp>
      <p:pic>
        <p:nvPicPr>
          <p:cNvPr id="33" name="Image 3" descr="preencoded.png">    </p:cNvPr>
          <p:cNvPicPr>
            <a:picLocks noChangeAspect="1"/>
          </p:cNvPicPr>
          <p:nvPr/>
        </p:nvPicPr>
        <p:blipFill>
          <a:blip r:embed="rId4"/>
          <a:stretch>
            <a:fillRect/>
          </a:stretch>
        </p:blipFill>
        <p:spPr>
          <a:xfrm>
            <a:off x="4887468" y="1559052"/>
            <a:ext cx="210312" cy="210312"/>
          </a:xfrm>
          <a:prstGeom prst="rect">
            <a:avLst/>
          </a:prstGeom>
        </p:spPr>
      </p:pic>
      <p:sp>
        <p:nvSpPr>
          <p:cNvPr id="34" name="Text 28"/>
          <p:cNvSpPr txBox="1"/>
          <p:nvPr/>
        </p:nvSpPr>
        <p:spPr>
          <a:xfrm>
            <a:off x="5547360"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4</a:t>
            </a:r>
            <a:endParaRPr lang="en-US" sz="1200" dirty="0"/>
          </a:p>
        </p:txBody>
      </p:sp>
      <p:sp>
        <p:nvSpPr>
          <p:cNvPr id="35" name="Text 29"/>
          <p:cNvSpPr txBox="1"/>
          <p:nvPr/>
        </p:nvSpPr>
        <p:spPr>
          <a:xfrm>
            <a:off x="4782312"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Consults online</a:t>
            </a:r>
            <a:endParaRPr lang="en-US" sz="1150" dirty="0"/>
          </a:p>
        </p:txBody>
      </p:sp>
      <p:sp>
        <p:nvSpPr>
          <p:cNvPr id="36" name="Shape 30"/>
          <p:cNvSpPr/>
          <p:nvPr/>
        </p:nvSpPr>
        <p:spPr>
          <a:xfrm>
            <a:off x="4782312" y="2468880"/>
            <a:ext cx="687629" cy="237744"/>
          </a:xfrm>
          <a:prstGeom prst="roundRect">
            <a:avLst>
              <a:gd name="adj" fmla="val 50000"/>
            </a:avLst>
          </a:prstGeom>
          <a:solidFill>
            <a:srgbClr val="E6F4F1"/>
          </a:solidFill>
          <a:ln w="12700">
            <a:solidFill>
              <a:srgbClr val="E6F4F1"/>
            </a:solidFill>
            <a:prstDash val="solid"/>
          </a:ln>
        </p:spPr>
      </p:sp>
      <p:sp>
        <p:nvSpPr>
          <p:cNvPr id="37" name="Text 31"/>
          <p:cNvSpPr txBox="1"/>
          <p:nvPr/>
        </p:nvSpPr>
        <p:spPr>
          <a:xfrm>
            <a:off x="4782312" y="2468880"/>
            <a:ext cx="687629"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Consults</a:t>
            </a:r>
            <a:endParaRPr lang="en-US" sz="850" dirty="0"/>
          </a:p>
        </p:txBody>
      </p:sp>
      <p:sp>
        <p:nvSpPr>
          <p:cNvPr id="38" name="Text 32"/>
          <p:cNvSpPr txBox="1"/>
          <p:nvPr/>
        </p:nvSpPr>
        <p:spPr>
          <a:xfrm>
            <a:off x="4782312"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Intake summary ready; video call; summary and prescription</a:t>
            </a:r>
            <a:endParaRPr lang="en-US" sz="950" dirty="0"/>
          </a:p>
        </p:txBody>
      </p:sp>
      <p:sp>
        <p:nvSpPr>
          <p:cNvPr id="39" name="Shape 33"/>
          <p:cNvSpPr/>
          <p:nvPr/>
        </p:nvSpPr>
        <p:spPr>
          <a:xfrm>
            <a:off x="5894832" y="2464308"/>
            <a:ext cx="164592" cy="237744"/>
          </a:xfrm>
          <a:prstGeom prst="rightArrow">
            <a:avLst/>
          </a:prstGeom>
          <a:solidFill>
            <a:srgbClr val="2A9D8F"/>
          </a:solidFill>
          <a:ln w="12700">
            <a:solidFill>
              <a:srgbClr val="2A9D8F"/>
            </a:solidFill>
            <a:prstDash val="solid"/>
          </a:ln>
        </p:spPr>
      </p:sp>
      <p:sp>
        <p:nvSpPr>
          <p:cNvPr id="40" name="Shape 34"/>
          <p:cNvSpPr/>
          <p:nvPr/>
        </p:nvSpPr>
        <p:spPr>
          <a:xfrm>
            <a:off x="6077712"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1" name="Shape 35"/>
          <p:cNvSpPr/>
          <p:nvPr/>
        </p:nvSpPr>
        <p:spPr>
          <a:xfrm>
            <a:off x="6187440" y="1453896"/>
            <a:ext cx="420624" cy="420624"/>
          </a:xfrm>
          <a:prstGeom prst="ellipse">
            <a:avLst/>
          </a:prstGeom>
          <a:solidFill>
            <a:srgbClr val="1B6B63"/>
          </a:solidFill>
          <a:ln w="12700">
            <a:solidFill>
              <a:srgbClr val="1B6B63"/>
            </a:solidFill>
            <a:prstDash val="solid"/>
          </a:ln>
        </p:spPr>
      </p:sp>
      <p:pic>
        <p:nvPicPr>
          <p:cNvPr id="42" name="Image 4" descr="preencoded.png">    </p:cNvPr>
          <p:cNvPicPr>
            <a:picLocks noChangeAspect="1"/>
          </p:cNvPicPr>
          <p:nvPr/>
        </p:nvPicPr>
        <p:blipFill>
          <a:blip r:embed="rId5"/>
          <a:stretch>
            <a:fillRect/>
          </a:stretch>
        </p:blipFill>
        <p:spPr>
          <a:xfrm>
            <a:off x="6292596" y="1559052"/>
            <a:ext cx="210312" cy="210312"/>
          </a:xfrm>
          <a:prstGeom prst="rect">
            <a:avLst/>
          </a:prstGeom>
        </p:spPr>
      </p:pic>
      <p:sp>
        <p:nvSpPr>
          <p:cNvPr id="43" name="Text 36"/>
          <p:cNvSpPr txBox="1"/>
          <p:nvPr/>
        </p:nvSpPr>
        <p:spPr>
          <a:xfrm>
            <a:off x="6952488"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5</a:t>
            </a:r>
            <a:endParaRPr lang="en-US" sz="1200" dirty="0"/>
          </a:p>
        </p:txBody>
      </p:sp>
      <p:sp>
        <p:nvSpPr>
          <p:cNvPr id="44" name="Text 37"/>
          <p:cNvSpPr txBox="1"/>
          <p:nvPr/>
        </p:nvSpPr>
        <p:spPr>
          <a:xfrm>
            <a:off x="6187440"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Approves</a:t>
            </a:r>
            <a:endParaRPr lang="en-US" sz="1150" dirty="0"/>
          </a:p>
        </p:txBody>
      </p:sp>
      <p:sp>
        <p:nvSpPr>
          <p:cNvPr id="45" name="Shape 38"/>
          <p:cNvSpPr/>
          <p:nvPr/>
        </p:nvSpPr>
        <p:spPr>
          <a:xfrm>
            <a:off x="6187440" y="2468880"/>
            <a:ext cx="629107" cy="237744"/>
          </a:xfrm>
          <a:prstGeom prst="roundRect">
            <a:avLst>
              <a:gd name="adj" fmla="val 50000"/>
            </a:avLst>
          </a:prstGeom>
          <a:solidFill>
            <a:srgbClr val="E6F4F1"/>
          </a:solidFill>
          <a:ln w="12700">
            <a:solidFill>
              <a:srgbClr val="E6F4F1"/>
            </a:solidFill>
            <a:prstDash val="solid"/>
          </a:ln>
        </p:spPr>
      </p:sp>
      <p:sp>
        <p:nvSpPr>
          <p:cNvPr id="46" name="Text 39"/>
          <p:cNvSpPr txBox="1"/>
          <p:nvPr/>
        </p:nvSpPr>
        <p:spPr>
          <a:xfrm>
            <a:off x="6187440" y="2468880"/>
            <a:ext cx="62910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Results</a:t>
            </a:r>
            <a:endParaRPr lang="en-US" sz="850" dirty="0"/>
          </a:p>
        </p:txBody>
      </p:sp>
      <p:sp>
        <p:nvSpPr>
          <p:cNvPr id="47" name="Text 40"/>
          <p:cNvSpPr txBox="1"/>
          <p:nvPr/>
        </p:nvSpPr>
        <p:spPr>
          <a:xfrm>
            <a:off x="6187440"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Edits and releases the AI-drafted lipid explanation</a:t>
            </a:r>
            <a:endParaRPr lang="en-US" sz="950" dirty="0"/>
          </a:p>
        </p:txBody>
      </p:sp>
      <p:sp>
        <p:nvSpPr>
          <p:cNvPr id="48" name="Shape 41"/>
          <p:cNvSpPr/>
          <p:nvPr/>
        </p:nvSpPr>
        <p:spPr>
          <a:xfrm>
            <a:off x="7299960" y="2464308"/>
            <a:ext cx="164592" cy="237744"/>
          </a:xfrm>
          <a:prstGeom prst="rightArrow">
            <a:avLst/>
          </a:prstGeom>
          <a:solidFill>
            <a:srgbClr val="2A9D8F"/>
          </a:solidFill>
          <a:ln w="12700">
            <a:solidFill>
              <a:srgbClr val="2A9D8F"/>
            </a:solidFill>
            <a:prstDash val="solid"/>
          </a:ln>
        </p:spPr>
      </p:sp>
      <p:sp>
        <p:nvSpPr>
          <p:cNvPr id="49" name="Shape 42"/>
          <p:cNvSpPr/>
          <p:nvPr/>
        </p:nvSpPr>
        <p:spPr>
          <a:xfrm>
            <a:off x="7482840" y="1325880"/>
            <a:ext cx="1203960" cy="2514600"/>
          </a:xfrm>
          <a:prstGeom prst="roundRect">
            <a:avLst>
              <a:gd name="adj" fmla="val 9114"/>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0" name="Shape 43"/>
          <p:cNvSpPr/>
          <p:nvPr/>
        </p:nvSpPr>
        <p:spPr>
          <a:xfrm>
            <a:off x="7592568" y="1453896"/>
            <a:ext cx="420624" cy="420624"/>
          </a:xfrm>
          <a:prstGeom prst="ellipse">
            <a:avLst/>
          </a:prstGeom>
          <a:solidFill>
            <a:srgbClr val="1B6B63"/>
          </a:solidFill>
          <a:ln w="12700">
            <a:solidFill>
              <a:srgbClr val="1B6B63"/>
            </a:solidFill>
            <a:prstDash val="solid"/>
          </a:ln>
        </p:spPr>
      </p:sp>
      <p:pic>
        <p:nvPicPr>
          <p:cNvPr id="51" name="Image 5" descr="preencoded.png">    </p:cNvPr>
          <p:cNvPicPr>
            <a:picLocks noChangeAspect="1"/>
          </p:cNvPicPr>
          <p:nvPr/>
        </p:nvPicPr>
        <p:blipFill>
          <a:blip r:embed="rId6"/>
          <a:stretch>
            <a:fillRect/>
          </a:stretch>
        </p:blipFill>
        <p:spPr>
          <a:xfrm>
            <a:off x="7697724" y="1559052"/>
            <a:ext cx="210312" cy="210312"/>
          </a:xfrm>
          <a:prstGeom prst="rect">
            <a:avLst/>
          </a:prstGeom>
        </p:spPr>
      </p:pic>
      <p:sp>
        <p:nvSpPr>
          <p:cNvPr id="52" name="Text 44"/>
          <p:cNvSpPr txBox="1"/>
          <p:nvPr/>
        </p:nvSpPr>
        <p:spPr>
          <a:xfrm>
            <a:off x="835761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6</a:t>
            </a:r>
            <a:endParaRPr lang="en-US" sz="1200" dirty="0"/>
          </a:p>
        </p:txBody>
      </p:sp>
      <p:sp>
        <p:nvSpPr>
          <p:cNvPr id="53" name="Text 45"/>
          <p:cNvSpPr txBox="1"/>
          <p:nvPr/>
        </p:nvSpPr>
        <p:spPr>
          <a:xfrm>
            <a:off x="7592568" y="1965960"/>
            <a:ext cx="1021080"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Follows up</a:t>
            </a:r>
            <a:endParaRPr lang="en-US" sz="1150" dirty="0"/>
          </a:p>
        </p:txBody>
      </p:sp>
      <p:sp>
        <p:nvSpPr>
          <p:cNvPr id="54" name="Shape 46"/>
          <p:cNvSpPr/>
          <p:nvPr/>
        </p:nvSpPr>
        <p:spPr>
          <a:xfrm>
            <a:off x="7592568" y="2468880"/>
            <a:ext cx="746150" cy="237744"/>
          </a:xfrm>
          <a:prstGeom prst="roundRect">
            <a:avLst>
              <a:gd name="adj" fmla="val 50000"/>
            </a:avLst>
          </a:prstGeom>
          <a:solidFill>
            <a:srgbClr val="E6F4F1"/>
          </a:solidFill>
          <a:ln w="12700">
            <a:solidFill>
              <a:srgbClr val="E6F4F1"/>
            </a:solidFill>
            <a:prstDash val="solid"/>
          </a:ln>
        </p:spPr>
      </p:sp>
      <p:sp>
        <p:nvSpPr>
          <p:cNvPr id="55" name="Text 47"/>
          <p:cNvSpPr txBox="1"/>
          <p:nvPr/>
        </p:nvSpPr>
        <p:spPr>
          <a:xfrm>
            <a:off x="7592568" y="2468880"/>
            <a:ext cx="746150"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Follow-up</a:t>
            </a:r>
            <a:endParaRPr lang="en-US" sz="850" dirty="0"/>
          </a:p>
        </p:txBody>
      </p:sp>
      <p:sp>
        <p:nvSpPr>
          <p:cNvPr id="56" name="Text 48"/>
          <p:cNvSpPr txBox="1"/>
          <p:nvPr/>
        </p:nvSpPr>
        <p:spPr>
          <a:xfrm>
            <a:off x="7592568" y="2788920"/>
            <a:ext cx="1021080"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Adherence and check-ins show the plan is working</a:t>
            </a:r>
            <a:endParaRPr lang="en-US" sz="950" dirty="0"/>
          </a:p>
        </p:txBody>
      </p:sp>
      <p:sp>
        <p:nvSpPr>
          <p:cNvPr id="57" name="Shape 49"/>
          <p:cNvSpPr/>
          <p:nvPr/>
        </p:nvSpPr>
        <p:spPr>
          <a:xfrm>
            <a:off x="457200" y="4023360"/>
            <a:ext cx="8229600" cy="685800"/>
          </a:xfrm>
          <a:prstGeom prst="roundRect">
            <a:avLst>
              <a:gd name="adj" fmla="val 16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58" name="Shape 50"/>
          <p:cNvSpPr/>
          <p:nvPr/>
        </p:nvSpPr>
        <p:spPr>
          <a:xfrm>
            <a:off x="594360" y="4133088"/>
            <a:ext cx="457200" cy="457200"/>
          </a:xfrm>
          <a:prstGeom prst="ellipse">
            <a:avLst/>
          </a:prstGeom>
          <a:solidFill>
            <a:srgbClr val="15803D"/>
          </a:solidFill>
          <a:ln w="12700">
            <a:solidFill>
              <a:srgbClr val="15803D"/>
            </a:solidFill>
            <a:prstDash val="solid"/>
          </a:ln>
        </p:spPr>
      </p:sp>
      <p:pic>
        <p:nvPicPr>
          <p:cNvPr id="59" name="Image 6" descr="preencoded.png">    </p:cNvPr>
          <p:cNvPicPr>
            <a:picLocks noChangeAspect="1"/>
          </p:cNvPicPr>
          <p:nvPr/>
        </p:nvPicPr>
        <p:blipFill>
          <a:blip r:embed="rId7"/>
          <a:stretch>
            <a:fillRect/>
          </a:stretch>
        </p:blipFill>
        <p:spPr>
          <a:xfrm>
            <a:off x="708660" y="4247388"/>
            <a:ext cx="228600" cy="228600"/>
          </a:xfrm>
          <a:prstGeom prst="rect">
            <a:avLst/>
          </a:prstGeom>
        </p:spPr>
      </p:pic>
      <p:sp>
        <p:nvSpPr>
          <p:cNvPr id="60" name="Text 51"/>
          <p:cNvSpPr txBox="1"/>
          <p:nvPr/>
        </p:nvSpPr>
        <p:spPr>
          <a:xfrm>
            <a:off x="1188720" y="4050792"/>
            <a:ext cx="7360920" cy="630936"/>
          </a:xfrm>
          <a:prstGeom prst="rect">
            <a:avLst/>
          </a:prstGeom>
          <a:noFill/>
          <a:ln/>
        </p:spPr>
        <p:txBody>
          <a:bodyPr wrap="square" lIns="0" tIns="0" rIns="0" bIns="0" rtlCol="0" anchor="ctr"/>
          <a:lstStyle/>
          <a:p>
            <a:pPr indent="0" marL="0">
              <a:buNone/>
            </a:pPr>
            <a:r>
              <a:rPr lang="en-US" sz="1250" b="1" dirty="0">
                <a:solidFill>
                  <a:srgbClr val="15803D"/>
                </a:solidFill>
                <a:latin typeface="Calibri" pitchFamily="34" charset="0"/>
                <a:ea typeface="Calibri" pitchFamily="34" charset="-122"/>
                <a:cs typeface="Calibri" pitchFamily="34" charset="-120"/>
              </a:rPr>
              <a:t>Outcome  </a:t>
            </a:r>
            <a:pPr indent="0" marL="0">
              <a:buNone/>
            </a:pPr>
            <a:r>
              <a:rPr lang="en-US" sz="1250" dirty="0">
                <a:solidFill>
                  <a:srgbClr val="134E4A"/>
                </a:solidFill>
                <a:latin typeface="Calibri" pitchFamily="34" charset="0"/>
                <a:ea typeface="Calibri" pitchFamily="34" charset="-122"/>
                <a:cs typeface="Calibri" pitchFamily="34" charset="-120"/>
              </a:rPr>
              <a:t>Decisions in minutes, with the context in front of her, and nothing clinical goes out without her approval.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Meet Lena Marsh, PharmD</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Pharmacist verifying and dispatching the clinic pharmacy's online orders</a:t>
            </a:r>
            <a:endParaRPr lang="en-US" sz="1300" dirty="0"/>
          </a:p>
        </p:txBody>
      </p:sp>
      <p:sp>
        <p:nvSpPr>
          <p:cNvPr id="4" name="Shape 2"/>
          <p:cNvSpPr/>
          <p:nvPr/>
        </p:nvSpPr>
        <p:spPr>
          <a:xfrm>
            <a:off x="457200" y="1325880"/>
            <a:ext cx="3063240" cy="3429000"/>
          </a:xfrm>
          <a:prstGeom prst="roundRect">
            <a:avLst>
              <a:gd name="adj" fmla="val 358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658368" y="1481328"/>
            <a:ext cx="658368" cy="658368"/>
          </a:xfrm>
          <a:prstGeom prst="ellipse">
            <a:avLst/>
          </a:prstGeom>
          <a:solidFill>
            <a:srgbClr val="0F766E"/>
          </a:solidFill>
          <a:ln w="25400">
            <a:solidFill>
              <a:srgbClr val="FFFFFF"/>
            </a:solidFill>
            <a:prstDash val="solid"/>
          </a:ln>
        </p:spPr>
      </p:sp>
      <p:sp>
        <p:nvSpPr>
          <p:cNvPr id="6" name="Text 4"/>
          <p:cNvSpPr txBox="1"/>
          <p:nvPr/>
        </p:nvSpPr>
        <p:spPr>
          <a:xfrm>
            <a:off x="658368" y="1481328"/>
            <a:ext cx="658368" cy="658368"/>
          </a:xfrm>
          <a:prstGeom prst="rect">
            <a:avLst/>
          </a:prstGeom>
          <a:noFill/>
          <a:ln/>
        </p:spPr>
        <p:txBody>
          <a:bodyPr wrap="square" lIns="0" tIns="0" rIns="0" bIns="0" rtlCol="0" anchor="ctr"/>
          <a:lstStyle/>
          <a:p>
            <a:pPr algn="ctr" indent="0" marL="0">
              <a:buNone/>
            </a:pPr>
            <a:r>
              <a:rPr lang="en-US" sz="1584" b="1" dirty="0">
                <a:solidFill>
                  <a:srgbClr val="FFFFFF"/>
                </a:solidFill>
                <a:latin typeface="Calibri" pitchFamily="34" charset="0"/>
                <a:ea typeface="Calibri" pitchFamily="34" charset="-122"/>
                <a:cs typeface="Calibri" pitchFamily="34" charset="-120"/>
              </a:rPr>
              <a:t>LM</a:t>
            </a:r>
            <a:endParaRPr lang="en-US" sz="1584" dirty="0"/>
          </a:p>
        </p:txBody>
      </p:sp>
      <p:sp>
        <p:nvSpPr>
          <p:cNvPr id="7" name="Text 5"/>
          <p:cNvSpPr txBox="1"/>
          <p:nvPr/>
        </p:nvSpPr>
        <p:spPr>
          <a:xfrm>
            <a:off x="1444752" y="1481328"/>
            <a:ext cx="2011680" cy="658368"/>
          </a:xfrm>
          <a:prstGeom prst="rect">
            <a:avLst/>
          </a:prstGeom>
          <a:noFill/>
          <a:ln/>
        </p:spPr>
        <p:txBody>
          <a:bodyPr wrap="square" lIns="0" tIns="0" rIns="0" bIns="0"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Lena Marsh, PharmD</a:t>
            </a:r>
            <a:endParaRPr lang="en-US" sz="1400" dirty="0"/>
          </a:p>
        </p:txBody>
      </p:sp>
      <p:sp>
        <p:nvSpPr>
          <p:cNvPr id="8" name="Text 6"/>
          <p:cNvSpPr txBox="1"/>
          <p:nvPr/>
        </p:nvSpPr>
        <p:spPr>
          <a:xfrm>
            <a:off x="658368" y="2212848"/>
            <a:ext cx="274320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Staff · pharmacy team · lands on the verification queue</a:t>
            </a:r>
            <a:endParaRPr lang="en-US" sz="1000" dirty="0"/>
          </a:p>
        </p:txBody>
      </p:sp>
      <p:sp>
        <p:nvSpPr>
          <p:cNvPr id="9" name="Text 7"/>
          <p:cNvSpPr txBox="1"/>
          <p:nvPr/>
        </p:nvSpPr>
        <p:spPr>
          <a:xfrm>
            <a:off x="658368" y="2651760"/>
            <a:ext cx="2743200" cy="237744"/>
          </a:xfrm>
          <a:prstGeom prst="rect">
            <a:avLst/>
          </a:prstGeom>
          <a:noFill/>
          <a:ln/>
        </p:spPr>
        <p:txBody>
          <a:bodyPr wrap="square" lIns="0" tIns="0" rIns="0" bIns="0" rtlCol="0" anchor="t"/>
          <a:lstStyle/>
          <a:p>
            <a:pPr indent="0" marL="0">
              <a:buNone/>
            </a:pPr>
            <a:r>
              <a:rPr lang="en-US" sz="1150" b="1" dirty="0">
                <a:solidFill>
                  <a:srgbClr val="134E4A"/>
                </a:solidFill>
                <a:latin typeface="Calibri" pitchFamily="34" charset="0"/>
                <a:ea typeface="Calibri" pitchFamily="34" charset="-122"/>
                <a:cs typeface="Calibri" pitchFamily="34" charset="-120"/>
              </a:rPr>
              <a:t>Goals</a:t>
            </a:r>
            <a:endParaRPr lang="en-US" sz="1150" dirty="0"/>
          </a:p>
        </p:txBody>
      </p:sp>
      <p:sp>
        <p:nvSpPr>
          <p:cNvPr id="10" name="Text 8"/>
          <p:cNvSpPr txBox="1"/>
          <p:nvPr/>
        </p:nvSpPr>
        <p:spPr>
          <a:xfrm>
            <a:off x="658368" y="2889504"/>
            <a:ext cx="2697480" cy="822960"/>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Dispense safely, first time</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Fewer callbacks to patients and prescribers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Deliveries on time and traceable</a:t>
            </a:r>
            <a:endParaRPr lang="en-US" sz="1000" dirty="0"/>
          </a:p>
        </p:txBody>
      </p:sp>
      <p:sp>
        <p:nvSpPr>
          <p:cNvPr id="11" name="Text 9"/>
          <p:cNvSpPr txBox="1"/>
          <p:nvPr/>
        </p:nvSpPr>
        <p:spPr>
          <a:xfrm>
            <a:off x="658368" y="3730752"/>
            <a:ext cx="2743200" cy="237744"/>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Frustrations today</a:t>
            </a:r>
            <a:endParaRPr lang="en-US" sz="1150" dirty="0"/>
          </a:p>
        </p:txBody>
      </p:sp>
      <p:sp>
        <p:nvSpPr>
          <p:cNvPr id="12" name="Text 10"/>
          <p:cNvSpPr txBox="1"/>
          <p:nvPr/>
        </p:nvSpPr>
        <p:spPr>
          <a:xfrm>
            <a:off x="658368" y="3968496"/>
            <a:ext cx="2697480" cy="749808"/>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Incomplete medicine and allergy lists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Interactions spotted late</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Delivery status chased by phone</a:t>
            </a:r>
            <a:endParaRPr lang="en-US" sz="1000" dirty="0"/>
          </a:p>
        </p:txBody>
      </p:sp>
      <p:sp>
        <p:nvSpPr>
          <p:cNvPr id="13" name="Text 11"/>
          <p:cNvSpPr txBox="1"/>
          <p:nvPr/>
        </p:nvSpPr>
        <p:spPr>
          <a:xfrm>
            <a:off x="3794760" y="1325880"/>
            <a:ext cx="4892040" cy="320040"/>
          </a:xfrm>
          <a:prstGeom prst="rect">
            <a:avLst/>
          </a:prstGeom>
          <a:noFill/>
          <a:ln/>
        </p:spPr>
        <p:txBody>
          <a:bodyPr wrap="square" lIns="0" tIns="0" rIns="0" bIns="0" rtlCol="0" anchor="t"/>
          <a:lstStyle/>
          <a:p>
            <a:pPr indent="0" marL="0">
              <a:buNone/>
            </a:pPr>
            <a:r>
              <a:rPr lang="en-US" sz="1400" b="1" dirty="0">
                <a:solidFill>
                  <a:srgbClr val="134E4A"/>
                </a:solidFill>
                <a:latin typeface="Calibri" pitchFamily="34" charset="0"/>
                <a:ea typeface="Calibri" pitchFamily="34" charset="-122"/>
                <a:cs typeface="Calibri" pitchFamily="34" charset="-120"/>
              </a:rPr>
              <a:t>What Bioverse One gives her</a:t>
            </a:r>
            <a:endParaRPr lang="en-US" sz="1400" dirty="0"/>
          </a:p>
        </p:txBody>
      </p:sp>
      <p:sp>
        <p:nvSpPr>
          <p:cNvPr id="14" name="Shape 12"/>
          <p:cNvSpPr/>
          <p:nvPr/>
        </p:nvSpPr>
        <p:spPr>
          <a:xfrm>
            <a:off x="3794760" y="173736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3904488" y="1869948"/>
            <a:ext cx="420624" cy="420624"/>
          </a:xfrm>
          <a:prstGeom prst="ellipse">
            <a:avLst/>
          </a:prstGeom>
          <a:solidFill>
            <a:srgbClr val="1B6B63"/>
          </a:solidFill>
          <a:ln w="12700">
            <a:solidFill>
              <a:srgbClr val="1B6B63"/>
            </a:solidFill>
            <a:prstDash val="solid"/>
          </a:ln>
        </p:spPr>
      </p:sp>
      <p:pic>
        <p:nvPicPr>
          <p:cNvPr id="16" name="Image 0" descr="preencoded.png">    </p:cNvPr>
          <p:cNvPicPr>
            <a:picLocks noChangeAspect="1"/>
          </p:cNvPicPr>
          <p:nvPr/>
        </p:nvPicPr>
        <p:blipFill>
          <a:blip r:embed="rId1"/>
          <a:stretch>
            <a:fillRect/>
          </a:stretch>
        </p:blipFill>
        <p:spPr>
          <a:xfrm>
            <a:off x="4009644" y="1975104"/>
            <a:ext cx="210312" cy="210312"/>
          </a:xfrm>
          <a:prstGeom prst="rect">
            <a:avLst/>
          </a:prstGeom>
        </p:spPr>
      </p:pic>
      <p:sp>
        <p:nvSpPr>
          <p:cNvPr id="17" name="Text 14"/>
          <p:cNvSpPr txBox="1"/>
          <p:nvPr/>
        </p:nvSpPr>
        <p:spPr>
          <a:xfrm>
            <a:off x="4434840" y="179222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Everything on one screen</a:t>
            </a:r>
            <a:endParaRPr lang="en-US" sz="1200" dirty="0"/>
          </a:p>
        </p:txBody>
      </p:sp>
      <p:sp>
        <p:nvSpPr>
          <p:cNvPr id="18" name="Text 15"/>
          <p:cNvSpPr txBox="1"/>
          <p:nvPr/>
        </p:nvSpPr>
        <p:spPr>
          <a:xfrm>
            <a:off x="4434840" y="202996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The order, the patient's medicines, allergies and every check result</a:t>
            </a:r>
            <a:endParaRPr lang="en-US" sz="950" dirty="0"/>
          </a:p>
        </p:txBody>
      </p:sp>
      <p:sp>
        <p:nvSpPr>
          <p:cNvPr id="19" name="Shape 16"/>
          <p:cNvSpPr/>
          <p:nvPr/>
        </p:nvSpPr>
        <p:spPr>
          <a:xfrm>
            <a:off x="3794760" y="251460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0" name="Shape 17"/>
          <p:cNvSpPr/>
          <p:nvPr/>
        </p:nvSpPr>
        <p:spPr>
          <a:xfrm>
            <a:off x="3904488" y="2647188"/>
            <a:ext cx="420624" cy="420624"/>
          </a:xfrm>
          <a:prstGeom prst="ellipse">
            <a:avLst/>
          </a:prstGeom>
          <a:solidFill>
            <a:srgbClr val="1B6B63"/>
          </a:solidFill>
          <a:ln w="12700">
            <a:solidFill>
              <a:srgbClr val="1B6B63"/>
            </a:solidFill>
            <a:prstDash val="solid"/>
          </a:ln>
        </p:spPr>
      </p:sp>
      <p:pic>
        <p:nvPicPr>
          <p:cNvPr id="21" name="Image 1" descr="preencoded.png">    </p:cNvPr>
          <p:cNvPicPr>
            <a:picLocks noChangeAspect="1"/>
          </p:cNvPicPr>
          <p:nvPr/>
        </p:nvPicPr>
        <p:blipFill>
          <a:blip r:embed="rId2"/>
          <a:stretch>
            <a:fillRect/>
          </a:stretch>
        </p:blipFill>
        <p:spPr>
          <a:xfrm>
            <a:off x="4009644" y="2752344"/>
            <a:ext cx="210312" cy="210312"/>
          </a:xfrm>
          <a:prstGeom prst="rect">
            <a:avLst/>
          </a:prstGeom>
        </p:spPr>
      </p:pic>
      <p:sp>
        <p:nvSpPr>
          <p:cNvPr id="22" name="Text 18"/>
          <p:cNvSpPr txBox="1"/>
          <p:nvPr/>
        </p:nvSpPr>
        <p:spPr>
          <a:xfrm>
            <a:off x="4434840" y="256946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Checks done before she looks</a:t>
            </a:r>
            <a:endParaRPr lang="en-US" sz="1200" dirty="0"/>
          </a:p>
        </p:txBody>
      </p:sp>
      <p:sp>
        <p:nvSpPr>
          <p:cNvPr id="23" name="Text 19"/>
          <p:cNvSpPr txBox="1"/>
          <p:nvPr/>
        </p:nvSpPr>
        <p:spPr>
          <a:xfrm>
            <a:off x="4434840" y="280720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Interactions, duplicates, allergies, age and quantity limits flagged automatically</a:t>
            </a:r>
            <a:endParaRPr lang="en-US" sz="950" dirty="0"/>
          </a:p>
        </p:txBody>
      </p:sp>
      <p:sp>
        <p:nvSpPr>
          <p:cNvPr id="24" name="Shape 20"/>
          <p:cNvSpPr/>
          <p:nvPr/>
        </p:nvSpPr>
        <p:spPr>
          <a:xfrm>
            <a:off x="3794760" y="329184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5" name="Shape 21"/>
          <p:cNvSpPr/>
          <p:nvPr/>
        </p:nvSpPr>
        <p:spPr>
          <a:xfrm>
            <a:off x="3904488" y="3424428"/>
            <a:ext cx="420624" cy="420624"/>
          </a:xfrm>
          <a:prstGeom prst="ellipse">
            <a:avLst/>
          </a:prstGeom>
          <a:solidFill>
            <a:srgbClr val="1B6B63"/>
          </a:solidFill>
          <a:ln w="12700">
            <a:solidFill>
              <a:srgbClr val="1B6B63"/>
            </a:solidFill>
            <a:prstDash val="solid"/>
          </a:ln>
        </p:spPr>
      </p:sp>
      <p:pic>
        <p:nvPicPr>
          <p:cNvPr id="26" name="Image 2" descr="preencoded.png">    </p:cNvPr>
          <p:cNvPicPr>
            <a:picLocks noChangeAspect="1"/>
          </p:cNvPicPr>
          <p:nvPr/>
        </p:nvPicPr>
        <p:blipFill>
          <a:blip r:embed="rId3"/>
          <a:stretch>
            <a:fillRect/>
          </a:stretch>
        </p:blipFill>
        <p:spPr>
          <a:xfrm>
            <a:off x="4009644" y="3529584"/>
            <a:ext cx="210312" cy="210312"/>
          </a:xfrm>
          <a:prstGeom prst="rect">
            <a:avLst/>
          </a:prstGeom>
        </p:spPr>
      </p:pic>
      <p:sp>
        <p:nvSpPr>
          <p:cNvPr id="27" name="Text 22"/>
          <p:cNvSpPr txBox="1"/>
          <p:nvPr/>
        </p:nvSpPr>
        <p:spPr>
          <a:xfrm>
            <a:off x="4434840" y="334670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Counseling that reaches the patient</a:t>
            </a:r>
            <a:endParaRPr lang="en-US" sz="1200" dirty="0"/>
          </a:p>
        </p:txBody>
      </p:sp>
      <p:sp>
        <p:nvSpPr>
          <p:cNvPr id="28" name="Text 23"/>
          <p:cNvSpPr txBox="1"/>
          <p:nvPr/>
        </p:nvSpPr>
        <p:spPr>
          <a:xfrm>
            <a:off x="4434840" y="358444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Her note is shown with the order and in the patient's notification</a:t>
            </a:r>
            <a:endParaRPr lang="en-US" sz="950" dirty="0"/>
          </a:p>
        </p:txBody>
      </p:sp>
      <p:sp>
        <p:nvSpPr>
          <p:cNvPr id="29" name="Shape 24"/>
          <p:cNvSpPr/>
          <p:nvPr/>
        </p:nvSpPr>
        <p:spPr>
          <a:xfrm>
            <a:off x="3794760" y="406908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0" name="Shape 25"/>
          <p:cNvSpPr/>
          <p:nvPr/>
        </p:nvSpPr>
        <p:spPr>
          <a:xfrm>
            <a:off x="3904488" y="4201668"/>
            <a:ext cx="420624" cy="420624"/>
          </a:xfrm>
          <a:prstGeom prst="ellipse">
            <a:avLst/>
          </a:prstGeom>
          <a:solidFill>
            <a:srgbClr val="1B6B63"/>
          </a:solidFill>
          <a:ln w="12700">
            <a:solidFill>
              <a:srgbClr val="1B6B63"/>
            </a:solidFill>
            <a:prstDash val="solid"/>
          </a:ln>
        </p:spPr>
      </p:sp>
      <p:pic>
        <p:nvPicPr>
          <p:cNvPr id="31" name="Image 3" descr="preencoded.png">    </p:cNvPr>
          <p:cNvPicPr>
            <a:picLocks noChangeAspect="1"/>
          </p:cNvPicPr>
          <p:nvPr/>
        </p:nvPicPr>
        <p:blipFill>
          <a:blip r:embed="rId4"/>
          <a:stretch>
            <a:fillRect/>
          </a:stretch>
        </p:blipFill>
        <p:spPr>
          <a:xfrm>
            <a:off x="4009644" y="4306824"/>
            <a:ext cx="210312" cy="210312"/>
          </a:xfrm>
          <a:prstGeom prst="rect">
            <a:avLst/>
          </a:prstGeom>
        </p:spPr>
      </p:pic>
      <p:sp>
        <p:nvSpPr>
          <p:cNvPr id="32" name="Text 26"/>
          <p:cNvSpPr txBox="1"/>
          <p:nvPr/>
        </p:nvSpPr>
        <p:spPr>
          <a:xfrm>
            <a:off x="4434840" y="412394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Traceable delivery</a:t>
            </a:r>
            <a:endParaRPr lang="en-US" sz="1200" dirty="0"/>
          </a:p>
        </p:txBody>
      </p:sp>
      <p:sp>
        <p:nvSpPr>
          <p:cNvPr id="33" name="Text 27"/>
          <p:cNvSpPr txBox="1"/>
          <p:nvPr/>
        </p:nvSpPr>
        <p:spPr>
          <a:xfrm>
            <a:off x="4434840" y="436168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Pack, dispatch with courier and ETA, proof of delivery; controlled items never delivered</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Lena's journey</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A flagged order, handled safely in a few clicks</a:t>
            </a:r>
            <a:endParaRPr lang="en-US" sz="1300" dirty="0"/>
          </a:p>
        </p:txBody>
      </p:sp>
      <p:sp>
        <p:nvSpPr>
          <p:cNvPr id="4" name="Shape 2"/>
          <p:cNvSpPr/>
          <p:nvPr/>
        </p:nvSpPr>
        <p:spPr>
          <a:xfrm>
            <a:off x="457200" y="1325880"/>
            <a:ext cx="1484986" cy="2514600"/>
          </a:xfrm>
          <a:prstGeom prst="roundRect">
            <a:avLst>
              <a:gd name="adj" fmla="val 7389"/>
            </a:avLst>
          </a:prstGeom>
          <a:solidFill>
            <a:srgbClr val="FEF2F2"/>
          </a:solidFill>
          <a:ln w="9525">
            <a:solidFill>
              <a:srgbClr val="FEF2F2"/>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66928" y="1453896"/>
            <a:ext cx="420624" cy="420624"/>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672084" y="1559052"/>
            <a:ext cx="210312" cy="210312"/>
          </a:xfrm>
          <a:prstGeom prst="rect">
            <a:avLst/>
          </a:prstGeom>
        </p:spPr>
      </p:pic>
      <p:sp>
        <p:nvSpPr>
          <p:cNvPr id="7" name="Text 4"/>
          <p:cNvSpPr txBox="1"/>
          <p:nvPr/>
        </p:nvSpPr>
        <p:spPr>
          <a:xfrm>
            <a:off x="161300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566928" y="1965960"/>
            <a:ext cx="1302106" cy="475488"/>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Order flagged</a:t>
            </a:r>
            <a:endParaRPr lang="en-US" sz="1150" dirty="0"/>
          </a:p>
        </p:txBody>
      </p:sp>
      <p:sp>
        <p:nvSpPr>
          <p:cNvPr id="9" name="Shape 6"/>
          <p:cNvSpPr/>
          <p:nvPr/>
        </p:nvSpPr>
        <p:spPr>
          <a:xfrm>
            <a:off x="566928" y="2468880"/>
            <a:ext cx="1097280" cy="237744"/>
          </a:xfrm>
          <a:prstGeom prst="roundRect">
            <a:avLst>
              <a:gd name="adj" fmla="val 50000"/>
            </a:avLst>
          </a:prstGeom>
          <a:solidFill>
            <a:srgbClr val="E6F4F1"/>
          </a:solidFill>
          <a:ln w="12700">
            <a:solidFill>
              <a:srgbClr val="E6F4F1"/>
            </a:solidFill>
            <a:prstDash val="solid"/>
          </a:ln>
        </p:spPr>
      </p:sp>
      <p:sp>
        <p:nvSpPr>
          <p:cNvPr id="10" name="Text 7"/>
          <p:cNvSpPr txBox="1"/>
          <p:nvPr/>
        </p:nvSpPr>
        <p:spPr>
          <a:xfrm>
            <a:off x="566928" y="2468880"/>
            <a:ext cx="1097280"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Pharmacy orders</a:t>
            </a:r>
            <a:endParaRPr lang="en-US" sz="850" dirty="0"/>
          </a:p>
        </p:txBody>
      </p:sp>
      <p:sp>
        <p:nvSpPr>
          <p:cNvPr id="11" name="Text 8"/>
          <p:cNvSpPr txBox="1"/>
          <p:nvPr/>
        </p:nvSpPr>
        <p:spPr>
          <a:xfrm>
            <a:off x="566928"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Decongestant for a patient on amlodipine: blood-pressure warning</a:t>
            </a:r>
            <a:endParaRPr lang="en-US" sz="950" dirty="0"/>
          </a:p>
        </p:txBody>
      </p:sp>
      <p:sp>
        <p:nvSpPr>
          <p:cNvPr id="12" name="Shape 9"/>
          <p:cNvSpPr/>
          <p:nvPr/>
        </p:nvSpPr>
        <p:spPr>
          <a:xfrm>
            <a:off x="1960474" y="2464308"/>
            <a:ext cx="164592" cy="237744"/>
          </a:xfrm>
          <a:prstGeom prst="rightArrow">
            <a:avLst/>
          </a:prstGeom>
          <a:solidFill>
            <a:srgbClr val="2A9D8F"/>
          </a:solidFill>
          <a:ln w="12700">
            <a:solidFill>
              <a:srgbClr val="2A9D8F"/>
            </a:solidFill>
            <a:prstDash val="solid"/>
          </a:ln>
        </p:spPr>
      </p:sp>
      <p:sp>
        <p:nvSpPr>
          <p:cNvPr id="13" name="Shape 10"/>
          <p:cNvSpPr/>
          <p:nvPr/>
        </p:nvSpPr>
        <p:spPr>
          <a:xfrm>
            <a:off x="2143354"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4" name="Shape 11"/>
          <p:cNvSpPr/>
          <p:nvPr/>
        </p:nvSpPr>
        <p:spPr>
          <a:xfrm>
            <a:off x="2253082" y="1453896"/>
            <a:ext cx="420624" cy="420624"/>
          </a:xfrm>
          <a:prstGeom prst="ellipse">
            <a:avLst/>
          </a:prstGeom>
          <a:solidFill>
            <a:srgbClr val="1B6B63"/>
          </a:solidFill>
          <a:ln w="12700">
            <a:solidFill>
              <a:srgbClr val="1B6B63"/>
            </a:solidFill>
            <a:prstDash val="solid"/>
          </a:ln>
        </p:spPr>
      </p:sp>
      <p:pic>
        <p:nvPicPr>
          <p:cNvPr id="15" name="Image 1" descr="preencoded.png">    </p:cNvPr>
          <p:cNvPicPr>
            <a:picLocks noChangeAspect="1"/>
          </p:cNvPicPr>
          <p:nvPr/>
        </p:nvPicPr>
        <p:blipFill>
          <a:blip r:embed="rId2"/>
          <a:stretch>
            <a:fillRect/>
          </a:stretch>
        </p:blipFill>
        <p:spPr>
          <a:xfrm>
            <a:off x="2358238" y="1559052"/>
            <a:ext cx="210312" cy="210312"/>
          </a:xfrm>
          <a:prstGeom prst="rect">
            <a:avLst/>
          </a:prstGeom>
        </p:spPr>
      </p:pic>
      <p:sp>
        <p:nvSpPr>
          <p:cNvPr id="16" name="Text 12"/>
          <p:cNvSpPr txBox="1"/>
          <p:nvPr/>
        </p:nvSpPr>
        <p:spPr>
          <a:xfrm>
            <a:off x="3299155"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2253082"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Reviews</a:t>
            </a:r>
            <a:endParaRPr lang="en-US" sz="1150" dirty="0"/>
          </a:p>
        </p:txBody>
      </p:sp>
      <p:sp>
        <p:nvSpPr>
          <p:cNvPr id="18" name="Shape 14"/>
          <p:cNvSpPr/>
          <p:nvPr/>
        </p:nvSpPr>
        <p:spPr>
          <a:xfrm>
            <a:off x="2253082" y="2468880"/>
            <a:ext cx="921715" cy="237744"/>
          </a:xfrm>
          <a:prstGeom prst="roundRect">
            <a:avLst>
              <a:gd name="adj" fmla="val 50000"/>
            </a:avLst>
          </a:prstGeom>
          <a:solidFill>
            <a:srgbClr val="E6F4F1"/>
          </a:solidFill>
          <a:ln w="12700">
            <a:solidFill>
              <a:srgbClr val="E6F4F1"/>
            </a:solidFill>
            <a:prstDash val="solid"/>
          </a:ln>
        </p:spPr>
      </p:sp>
      <p:sp>
        <p:nvSpPr>
          <p:cNvPr id="19" name="Text 15"/>
          <p:cNvSpPr txBox="1"/>
          <p:nvPr/>
        </p:nvSpPr>
        <p:spPr>
          <a:xfrm>
            <a:off x="2253082" y="2468880"/>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Verification</a:t>
            </a:r>
            <a:endParaRPr lang="en-US" sz="850" dirty="0"/>
          </a:p>
        </p:txBody>
      </p:sp>
      <p:sp>
        <p:nvSpPr>
          <p:cNvPr id="20" name="Text 16"/>
          <p:cNvSpPr txBox="1"/>
          <p:nvPr/>
        </p:nvSpPr>
        <p:spPr>
          <a:xfrm>
            <a:off x="2253082"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Medicines, allergies and check results side by side</a:t>
            </a:r>
            <a:endParaRPr lang="en-US" sz="950" dirty="0"/>
          </a:p>
        </p:txBody>
      </p:sp>
      <p:sp>
        <p:nvSpPr>
          <p:cNvPr id="21" name="Shape 17"/>
          <p:cNvSpPr/>
          <p:nvPr/>
        </p:nvSpPr>
        <p:spPr>
          <a:xfrm>
            <a:off x="3646627" y="2464308"/>
            <a:ext cx="164592" cy="237744"/>
          </a:xfrm>
          <a:prstGeom prst="rightArrow">
            <a:avLst/>
          </a:prstGeom>
          <a:solidFill>
            <a:srgbClr val="2A9D8F"/>
          </a:solidFill>
          <a:ln w="12700">
            <a:solidFill>
              <a:srgbClr val="2A9D8F"/>
            </a:solidFill>
            <a:prstDash val="solid"/>
          </a:ln>
        </p:spPr>
      </p:sp>
      <p:sp>
        <p:nvSpPr>
          <p:cNvPr id="22" name="Shape 18"/>
          <p:cNvSpPr/>
          <p:nvPr/>
        </p:nvSpPr>
        <p:spPr>
          <a:xfrm>
            <a:off x="3829507"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3" name="Shape 19"/>
          <p:cNvSpPr/>
          <p:nvPr/>
        </p:nvSpPr>
        <p:spPr>
          <a:xfrm>
            <a:off x="3939235" y="1453896"/>
            <a:ext cx="420624" cy="420624"/>
          </a:xfrm>
          <a:prstGeom prst="ellipse">
            <a:avLst/>
          </a:prstGeom>
          <a:solidFill>
            <a:srgbClr val="1B6B63"/>
          </a:solidFill>
          <a:ln w="12700">
            <a:solidFill>
              <a:srgbClr val="1B6B63"/>
            </a:solidFill>
            <a:prstDash val="solid"/>
          </a:ln>
        </p:spPr>
      </p:sp>
      <p:pic>
        <p:nvPicPr>
          <p:cNvPr id="24" name="Image 2" descr="preencoded.png">    </p:cNvPr>
          <p:cNvPicPr>
            <a:picLocks noChangeAspect="1"/>
          </p:cNvPicPr>
          <p:nvPr/>
        </p:nvPicPr>
        <p:blipFill>
          <a:blip r:embed="rId3"/>
          <a:stretch>
            <a:fillRect/>
          </a:stretch>
        </p:blipFill>
        <p:spPr>
          <a:xfrm>
            <a:off x="4044391" y="1559052"/>
            <a:ext cx="210312" cy="210312"/>
          </a:xfrm>
          <a:prstGeom prst="rect">
            <a:avLst/>
          </a:prstGeom>
        </p:spPr>
      </p:pic>
      <p:sp>
        <p:nvSpPr>
          <p:cNvPr id="25" name="Text 20"/>
          <p:cNvSpPr txBox="1"/>
          <p:nvPr/>
        </p:nvSpPr>
        <p:spPr>
          <a:xfrm>
            <a:off x="4985309"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3</a:t>
            </a:r>
            <a:endParaRPr lang="en-US" sz="1200" dirty="0"/>
          </a:p>
        </p:txBody>
      </p:sp>
      <p:sp>
        <p:nvSpPr>
          <p:cNvPr id="26" name="Text 21"/>
          <p:cNvSpPr txBox="1"/>
          <p:nvPr/>
        </p:nvSpPr>
        <p:spPr>
          <a:xfrm>
            <a:off x="3939235"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Decides</a:t>
            </a:r>
            <a:endParaRPr lang="en-US" sz="1150" dirty="0"/>
          </a:p>
        </p:txBody>
      </p:sp>
      <p:sp>
        <p:nvSpPr>
          <p:cNvPr id="27" name="Shape 22"/>
          <p:cNvSpPr/>
          <p:nvPr/>
        </p:nvSpPr>
        <p:spPr>
          <a:xfrm>
            <a:off x="3939235" y="2468880"/>
            <a:ext cx="1155802" cy="237744"/>
          </a:xfrm>
          <a:prstGeom prst="roundRect">
            <a:avLst>
              <a:gd name="adj" fmla="val 50000"/>
            </a:avLst>
          </a:prstGeom>
          <a:solidFill>
            <a:srgbClr val="E6F4F1"/>
          </a:solidFill>
          <a:ln w="12700">
            <a:solidFill>
              <a:srgbClr val="E6F4F1"/>
            </a:solidFill>
            <a:prstDash val="solid"/>
          </a:ln>
        </p:spPr>
      </p:sp>
      <p:sp>
        <p:nvSpPr>
          <p:cNvPr id="28" name="Text 23"/>
          <p:cNvSpPr txBox="1"/>
          <p:nvPr/>
        </p:nvSpPr>
        <p:spPr>
          <a:xfrm>
            <a:off x="3939235" y="2468880"/>
            <a:ext cx="115580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Approve / reject</a:t>
            </a:r>
            <a:endParaRPr lang="en-US" sz="850" dirty="0"/>
          </a:p>
        </p:txBody>
      </p:sp>
      <p:sp>
        <p:nvSpPr>
          <p:cNvPr id="29" name="Text 24"/>
          <p:cNvSpPr txBox="1"/>
          <p:nvPr/>
        </p:nvSpPr>
        <p:spPr>
          <a:xfrm>
            <a:off x="3939235"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Rejects with a safer alternative, or approves with counseling</a:t>
            </a:r>
            <a:endParaRPr lang="en-US" sz="950" dirty="0"/>
          </a:p>
        </p:txBody>
      </p:sp>
      <p:sp>
        <p:nvSpPr>
          <p:cNvPr id="30" name="Shape 25"/>
          <p:cNvSpPr/>
          <p:nvPr/>
        </p:nvSpPr>
        <p:spPr>
          <a:xfrm>
            <a:off x="5332781" y="2464308"/>
            <a:ext cx="164592" cy="237744"/>
          </a:xfrm>
          <a:prstGeom prst="rightArrow">
            <a:avLst/>
          </a:prstGeom>
          <a:solidFill>
            <a:srgbClr val="2A9D8F"/>
          </a:solidFill>
          <a:ln w="12700">
            <a:solidFill>
              <a:srgbClr val="2A9D8F"/>
            </a:solidFill>
            <a:prstDash val="solid"/>
          </a:ln>
        </p:spPr>
      </p:sp>
      <p:sp>
        <p:nvSpPr>
          <p:cNvPr id="31" name="Shape 26"/>
          <p:cNvSpPr/>
          <p:nvPr/>
        </p:nvSpPr>
        <p:spPr>
          <a:xfrm>
            <a:off x="5515661"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2" name="Shape 27"/>
          <p:cNvSpPr/>
          <p:nvPr/>
        </p:nvSpPr>
        <p:spPr>
          <a:xfrm>
            <a:off x="5625389" y="1453896"/>
            <a:ext cx="420624" cy="420624"/>
          </a:xfrm>
          <a:prstGeom prst="ellipse">
            <a:avLst/>
          </a:prstGeom>
          <a:solidFill>
            <a:srgbClr val="1B6B63"/>
          </a:solidFill>
          <a:ln w="12700">
            <a:solidFill>
              <a:srgbClr val="1B6B63"/>
            </a:solidFill>
            <a:prstDash val="solid"/>
          </a:ln>
        </p:spPr>
      </p:sp>
      <p:pic>
        <p:nvPicPr>
          <p:cNvPr id="33" name="Image 3" descr="preencoded.png">    </p:cNvPr>
          <p:cNvPicPr>
            <a:picLocks noChangeAspect="1"/>
          </p:cNvPicPr>
          <p:nvPr/>
        </p:nvPicPr>
        <p:blipFill>
          <a:blip r:embed="rId4"/>
          <a:stretch>
            <a:fillRect/>
          </a:stretch>
        </p:blipFill>
        <p:spPr>
          <a:xfrm>
            <a:off x="5730545" y="1559052"/>
            <a:ext cx="210312" cy="210312"/>
          </a:xfrm>
          <a:prstGeom prst="rect">
            <a:avLst/>
          </a:prstGeom>
        </p:spPr>
      </p:pic>
      <p:sp>
        <p:nvSpPr>
          <p:cNvPr id="34" name="Text 28"/>
          <p:cNvSpPr txBox="1"/>
          <p:nvPr/>
        </p:nvSpPr>
        <p:spPr>
          <a:xfrm>
            <a:off x="667146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4</a:t>
            </a:r>
            <a:endParaRPr lang="en-US" sz="1200" dirty="0"/>
          </a:p>
        </p:txBody>
      </p:sp>
      <p:sp>
        <p:nvSpPr>
          <p:cNvPr id="35" name="Text 29"/>
          <p:cNvSpPr txBox="1"/>
          <p:nvPr/>
        </p:nvSpPr>
        <p:spPr>
          <a:xfrm>
            <a:off x="5625389"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Packs &amp; dispatches</a:t>
            </a:r>
            <a:endParaRPr lang="en-US" sz="1150" dirty="0"/>
          </a:p>
        </p:txBody>
      </p:sp>
      <p:sp>
        <p:nvSpPr>
          <p:cNvPr id="36" name="Shape 30"/>
          <p:cNvSpPr/>
          <p:nvPr/>
        </p:nvSpPr>
        <p:spPr>
          <a:xfrm>
            <a:off x="5625389" y="2468880"/>
            <a:ext cx="804672" cy="237744"/>
          </a:xfrm>
          <a:prstGeom prst="roundRect">
            <a:avLst>
              <a:gd name="adj" fmla="val 50000"/>
            </a:avLst>
          </a:prstGeom>
          <a:solidFill>
            <a:srgbClr val="E6F4F1"/>
          </a:solidFill>
          <a:ln w="12700">
            <a:solidFill>
              <a:srgbClr val="E6F4F1"/>
            </a:solidFill>
            <a:prstDash val="solid"/>
          </a:ln>
        </p:spPr>
      </p:sp>
      <p:sp>
        <p:nvSpPr>
          <p:cNvPr id="37" name="Text 31"/>
          <p:cNvSpPr txBox="1"/>
          <p:nvPr/>
        </p:nvSpPr>
        <p:spPr>
          <a:xfrm>
            <a:off x="5625389" y="2468880"/>
            <a:ext cx="80467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Fulfilment</a:t>
            </a:r>
            <a:endParaRPr lang="en-US" sz="850" dirty="0"/>
          </a:p>
        </p:txBody>
      </p:sp>
      <p:sp>
        <p:nvSpPr>
          <p:cNvPr id="38" name="Text 32"/>
          <p:cNvSpPr txBox="1"/>
          <p:nvPr/>
        </p:nvSpPr>
        <p:spPr>
          <a:xfrm>
            <a:off x="5625389"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Courier and ETA recorded; patient notified</a:t>
            </a:r>
            <a:endParaRPr lang="en-US" sz="950" dirty="0"/>
          </a:p>
        </p:txBody>
      </p:sp>
      <p:sp>
        <p:nvSpPr>
          <p:cNvPr id="39" name="Shape 33"/>
          <p:cNvSpPr/>
          <p:nvPr/>
        </p:nvSpPr>
        <p:spPr>
          <a:xfrm>
            <a:off x="7018934" y="2464308"/>
            <a:ext cx="164592" cy="237744"/>
          </a:xfrm>
          <a:prstGeom prst="rightArrow">
            <a:avLst/>
          </a:prstGeom>
          <a:solidFill>
            <a:srgbClr val="2A9D8F"/>
          </a:solidFill>
          <a:ln w="12700">
            <a:solidFill>
              <a:srgbClr val="2A9D8F"/>
            </a:solidFill>
            <a:prstDash val="solid"/>
          </a:ln>
        </p:spPr>
      </p:sp>
      <p:sp>
        <p:nvSpPr>
          <p:cNvPr id="40" name="Shape 34"/>
          <p:cNvSpPr/>
          <p:nvPr/>
        </p:nvSpPr>
        <p:spPr>
          <a:xfrm>
            <a:off x="7201814"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1" name="Shape 35"/>
          <p:cNvSpPr/>
          <p:nvPr/>
        </p:nvSpPr>
        <p:spPr>
          <a:xfrm>
            <a:off x="7311542" y="1453896"/>
            <a:ext cx="420624" cy="420624"/>
          </a:xfrm>
          <a:prstGeom prst="ellipse">
            <a:avLst/>
          </a:prstGeom>
          <a:solidFill>
            <a:srgbClr val="1B6B63"/>
          </a:solidFill>
          <a:ln w="12700">
            <a:solidFill>
              <a:srgbClr val="1B6B63"/>
            </a:solidFill>
            <a:prstDash val="solid"/>
          </a:ln>
        </p:spPr>
      </p:sp>
      <p:pic>
        <p:nvPicPr>
          <p:cNvPr id="42" name="Image 4" descr="preencoded.png">    </p:cNvPr>
          <p:cNvPicPr>
            <a:picLocks noChangeAspect="1"/>
          </p:cNvPicPr>
          <p:nvPr/>
        </p:nvPicPr>
        <p:blipFill>
          <a:blip r:embed="rId5"/>
          <a:stretch>
            <a:fillRect/>
          </a:stretch>
        </p:blipFill>
        <p:spPr>
          <a:xfrm>
            <a:off x="7416698" y="1559052"/>
            <a:ext cx="210312" cy="210312"/>
          </a:xfrm>
          <a:prstGeom prst="rect">
            <a:avLst/>
          </a:prstGeom>
        </p:spPr>
      </p:pic>
      <p:sp>
        <p:nvSpPr>
          <p:cNvPr id="43" name="Text 36"/>
          <p:cNvSpPr txBox="1"/>
          <p:nvPr/>
        </p:nvSpPr>
        <p:spPr>
          <a:xfrm>
            <a:off x="835761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5</a:t>
            </a:r>
            <a:endParaRPr lang="en-US" sz="1200" dirty="0"/>
          </a:p>
        </p:txBody>
      </p:sp>
      <p:sp>
        <p:nvSpPr>
          <p:cNvPr id="44" name="Text 37"/>
          <p:cNvSpPr txBox="1"/>
          <p:nvPr/>
        </p:nvSpPr>
        <p:spPr>
          <a:xfrm>
            <a:off x="7311542"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Delivered</a:t>
            </a:r>
            <a:endParaRPr lang="en-US" sz="1150" dirty="0"/>
          </a:p>
        </p:txBody>
      </p:sp>
      <p:sp>
        <p:nvSpPr>
          <p:cNvPr id="45" name="Shape 38"/>
          <p:cNvSpPr/>
          <p:nvPr/>
        </p:nvSpPr>
        <p:spPr>
          <a:xfrm>
            <a:off x="7311542" y="2468880"/>
            <a:ext cx="1214323" cy="237744"/>
          </a:xfrm>
          <a:prstGeom prst="roundRect">
            <a:avLst>
              <a:gd name="adj" fmla="val 50000"/>
            </a:avLst>
          </a:prstGeom>
          <a:solidFill>
            <a:srgbClr val="E6F4F1"/>
          </a:solidFill>
          <a:ln w="12700">
            <a:solidFill>
              <a:srgbClr val="E6F4F1"/>
            </a:solidFill>
            <a:prstDash val="solid"/>
          </a:ln>
        </p:spPr>
      </p:sp>
      <p:sp>
        <p:nvSpPr>
          <p:cNvPr id="46" name="Text 39"/>
          <p:cNvSpPr txBox="1"/>
          <p:nvPr/>
        </p:nvSpPr>
        <p:spPr>
          <a:xfrm>
            <a:off x="7311542" y="2468880"/>
            <a:ext cx="1214323"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Proof of delivery</a:t>
            </a:r>
            <a:endParaRPr lang="en-US" sz="850" dirty="0"/>
          </a:p>
        </p:txBody>
      </p:sp>
      <p:sp>
        <p:nvSpPr>
          <p:cNvPr id="47" name="Text 40"/>
          <p:cNvSpPr txBox="1"/>
          <p:nvPr/>
        </p:nvSpPr>
        <p:spPr>
          <a:xfrm>
            <a:off x="7311542"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Recipient recorded; dose reminders start for the patient</a:t>
            </a:r>
            <a:endParaRPr lang="en-US" sz="950" dirty="0"/>
          </a:p>
        </p:txBody>
      </p:sp>
      <p:sp>
        <p:nvSpPr>
          <p:cNvPr id="48" name="Shape 41"/>
          <p:cNvSpPr/>
          <p:nvPr/>
        </p:nvSpPr>
        <p:spPr>
          <a:xfrm>
            <a:off x="457200" y="4023360"/>
            <a:ext cx="8229600" cy="685800"/>
          </a:xfrm>
          <a:prstGeom prst="roundRect">
            <a:avLst>
              <a:gd name="adj" fmla="val 16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9" name="Shape 42"/>
          <p:cNvSpPr/>
          <p:nvPr/>
        </p:nvSpPr>
        <p:spPr>
          <a:xfrm>
            <a:off x="594360" y="4133088"/>
            <a:ext cx="457200" cy="457200"/>
          </a:xfrm>
          <a:prstGeom prst="ellipse">
            <a:avLst/>
          </a:prstGeom>
          <a:solidFill>
            <a:srgbClr val="15803D"/>
          </a:solidFill>
          <a:ln w="12700">
            <a:solidFill>
              <a:srgbClr val="15803D"/>
            </a:solidFill>
            <a:prstDash val="solid"/>
          </a:ln>
        </p:spPr>
      </p:sp>
      <p:pic>
        <p:nvPicPr>
          <p:cNvPr id="50" name="Image 5" descr="preencoded.png">    </p:cNvPr>
          <p:cNvPicPr>
            <a:picLocks noChangeAspect="1"/>
          </p:cNvPicPr>
          <p:nvPr/>
        </p:nvPicPr>
        <p:blipFill>
          <a:blip r:embed="rId6"/>
          <a:stretch>
            <a:fillRect/>
          </a:stretch>
        </p:blipFill>
        <p:spPr>
          <a:xfrm>
            <a:off x="708660" y="4247388"/>
            <a:ext cx="228600" cy="228600"/>
          </a:xfrm>
          <a:prstGeom prst="rect">
            <a:avLst/>
          </a:prstGeom>
        </p:spPr>
      </p:pic>
      <p:sp>
        <p:nvSpPr>
          <p:cNvPr id="51" name="Text 43"/>
          <p:cNvSpPr txBox="1"/>
          <p:nvPr/>
        </p:nvSpPr>
        <p:spPr>
          <a:xfrm>
            <a:off x="1188720" y="4050792"/>
            <a:ext cx="7360920" cy="630936"/>
          </a:xfrm>
          <a:prstGeom prst="rect">
            <a:avLst/>
          </a:prstGeom>
          <a:noFill/>
          <a:ln/>
        </p:spPr>
        <p:txBody>
          <a:bodyPr wrap="square" lIns="0" tIns="0" rIns="0" bIns="0" rtlCol="0" anchor="ctr"/>
          <a:lstStyle/>
          <a:p>
            <a:pPr indent="0" marL="0">
              <a:buNone/>
            </a:pPr>
            <a:r>
              <a:rPr lang="en-US" sz="1250" b="1" dirty="0">
                <a:solidFill>
                  <a:srgbClr val="15803D"/>
                </a:solidFill>
                <a:latin typeface="Calibri" pitchFamily="34" charset="0"/>
                <a:ea typeface="Calibri" pitchFamily="34" charset="-122"/>
                <a:cs typeface="Calibri" pitchFamily="34" charset="-120"/>
              </a:rPr>
              <a:t>Outcome  </a:t>
            </a:r>
            <a:pPr indent="0" marL="0">
              <a:buNone/>
            </a:pPr>
            <a:r>
              <a:rPr lang="en-US" sz="1250" dirty="0">
                <a:solidFill>
                  <a:srgbClr val="134E4A"/>
                </a:solidFill>
                <a:latin typeface="Calibri" pitchFamily="34" charset="0"/>
                <a:ea typeface="Calibri" pitchFamily="34" charset="-122"/>
                <a:cs typeface="Calibri" pitchFamily="34" charset="-120"/>
              </a:rPr>
              <a:t>Unsafe combinations stopped before packing, patients counseled in writing, and every delivery traceable.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Front desk: calm, verified check-ins</a:t>
            </a:r>
            <a:endParaRPr lang="en-US" sz="2800" dirty="0"/>
          </a:p>
        </p:txBody>
      </p:sp>
      <p:sp>
        <p:nvSpPr>
          <p:cNvPr id="3" name="Shape 1"/>
          <p:cNvSpPr/>
          <p:nvPr/>
        </p:nvSpPr>
        <p:spPr>
          <a:xfrm>
            <a:off x="457200" y="960120"/>
            <a:ext cx="8229600" cy="731520"/>
          </a:xfrm>
          <a:prstGeom prst="roundRect">
            <a:avLst>
              <a:gd name="adj" fmla="val 15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 name="Shape 2"/>
          <p:cNvSpPr/>
          <p:nvPr/>
        </p:nvSpPr>
        <p:spPr>
          <a:xfrm>
            <a:off x="594360" y="1024128"/>
            <a:ext cx="603504" cy="603504"/>
          </a:xfrm>
          <a:prstGeom prst="ellipse">
            <a:avLst/>
          </a:prstGeom>
          <a:solidFill>
            <a:srgbClr val="B45309"/>
          </a:solidFill>
          <a:ln w="25400">
            <a:solidFill>
              <a:srgbClr val="FFFFFF"/>
            </a:solidFill>
            <a:prstDash val="solid"/>
          </a:ln>
        </p:spPr>
      </p:sp>
      <p:sp>
        <p:nvSpPr>
          <p:cNvPr id="5" name="Text 3"/>
          <p:cNvSpPr txBox="1"/>
          <p:nvPr/>
        </p:nvSpPr>
        <p:spPr>
          <a:xfrm>
            <a:off x="594360" y="1024128"/>
            <a:ext cx="603504" cy="603504"/>
          </a:xfrm>
          <a:prstGeom prst="rect">
            <a:avLst/>
          </a:prstGeom>
          <a:noFill/>
          <a:ln/>
        </p:spPr>
        <p:txBody>
          <a:bodyPr wrap="square" lIns="0" tIns="0" rIns="0" bIns="0" rtlCol="0" anchor="ctr"/>
          <a:lstStyle/>
          <a:p>
            <a:pPr algn="ctr" indent="0" marL="0">
              <a:buNone/>
            </a:pPr>
            <a:r>
              <a:rPr lang="en-US" sz="1452" b="1" dirty="0">
                <a:solidFill>
                  <a:srgbClr val="FFFFFF"/>
                </a:solidFill>
                <a:latin typeface="Calibri" pitchFamily="34" charset="0"/>
                <a:ea typeface="Calibri" pitchFamily="34" charset="-122"/>
                <a:cs typeface="Calibri" pitchFamily="34" charset="-120"/>
              </a:rPr>
              <a:t>FD</a:t>
            </a:r>
            <a:endParaRPr lang="en-US" sz="1452" dirty="0"/>
          </a:p>
        </p:txBody>
      </p:sp>
      <p:sp>
        <p:nvSpPr>
          <p:cNvPr id="6" name="Text 4"/>
          <p:cNvSpPr txBox="1"/>
          <p:nvPr/>
        </p:nvSpPr>
        <p:spPr>
          <a:xfrm>
            <a:off x="1325880" y="1005840"/>
            <a:ext cx="7223760" cy="64008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Staff, front desk team</a:t>
            </a:r>
            <a:pPr indent="0" marL="0">
              <a:buNone/>
            </a:pPr>
            <a:r>
              <a:rPr lang="en-US" sz="1150" dirty="0">
                <a:solidFill>
                  <a:srgbClr val="4B5563"/>
                </a:solidFill>
                <a:latin typeface="Calibri" pitchFamily="34" charset="0"/>
                <a:ea typeface="Calibri" pitchFamily="34" charset="-122"/>
                <a:cs typeface="Calibri" pitchFamily="34" charset="-120"/>
              </a:rPr>
              <a:t>   Goal: Patients arrive ready, coverage verified, questions answered fast</a:t>
            </a:r>
            <a:endParaRPr lang="en-US" sz="1150" dirty="0"/>
          </a:p>
        </p:txBody>
      </p:sp>
      <p:sp>
        <p:nvSpPr>
          <p:cNvPr id="7" name="Shape 5"/>
          <p:cNvSpPr/>
          <p:nvPr/>
        </p:nvSpPr>
        <p:spPr>
          <a:xfrm>
            <a:off x="45720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8" name="Shape 6"/>
          <p:cNvSpPr/>
          <p:nvPr/>
        </p:nvSpPr>
        <p:spPr>
          <a:xfrm>
            <a:off x="585216" y="1956816"/>
            <a:ext cx="420624" cy="420624"/>
          </a:xfrm>
          <a:prstGeom prst="ellipse">
            <a:avLst/>
          </a:prstGeom>
          <a:solidFill>
            <a:srgbClr val="1B6B63"/>
          </a:solidFill>
          <a:ln w="12700">
            <a:solidFill>
              <a:srgbClr val="1B6B63"/>
            </a:solidFill>
            <a:prstDash val="solid"/>
          </a:ln>
        </p:spPr>
      </p:sp>
      <p:pic>
        <p:nvPicPr>
          <p:cNvPr id="9" name="Image 0" descr="preencoded.png">    </p:cNvPr>
          <p:cNvPicPr>
            <a:picLocks noChangeAspect="1"/>
          </p:cNvPicPr>
          <p:nvPr/>
        </p:nvPicPr>
        <p:blipFill>
          <a:blip r:embed="rId1"/>
          <a:stretch>
            <a:fillRect/>
          </a:stretch>
        </p:blipFill>
        <p:spPr>
          <a:xfrm>
            <a:off x="690372" y="2061972"/>
            <a:ext cx="210312" cy="210312"/>
          </a:xfrm>
          <a:prstGeom prst="rect">
            <a:avLst/>
          </a:prstGeom>
        </p:spPr>
      </p:pic>
      <p:sp>
        <p:nvSpPr>
          <p:cNvPr id="10" name="Text 7"/>
          <p:cNvSpPr txBox="1"/>
          <p:nvPr/>
        </p:nvSpPr>
        <p:spPr>
          <a:xfrm>
            <a:off x="111556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Inbox that sorts itself</a:t>
            </a:r>
            <a:endParaRPr lang="en-US" sz="1150" dirty="0"/>
          </a:p>
        </p:txBody>
      </p:sp>
      <p:sp>
        <p:nvSpPr>
          <p:cNvPr id="11" name="Text 8"/>
          <p:cNvSpPr txBox="1"/>
          <p:nvPr/>
        </p:nvSpPr>
        <p:spPr>
          <a:xfrm>
            <a:off x="58521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Scheduling messages triaged, with drafted replies to send</a:t>
            </a:r>
            <a:endParaRPr lang="en-US" sz="950" dirty="0"/>
          </a:p>
        </p:txBody>
      </p:sp>
      <p:sp>
        <p:nvSpPr>
          <p:cNvPr id="12" name="Shape 9"/>
          <p:cNvSpPr/>
          <p:nvPr/>
        </p:nvSpPr>
        <p:spPr>
          <a:xfrm>
            <a:off x="324612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3" name="Shape 10"/>
          <p:cNvSpPr/>
          <p:nvPr/>
        </p:nvSpPr>
        <p:spPr>
          <a:xfrm>
            <a:off x="3374136" y="1956816"/>
            <a:ext cx="420624" cy="420624"/>
          </a:xfrm>
          <a:prstGeom prst="ellipse">
            <a:avLst/>
          </a:prstGeom>
          <a:solidFill>
            <a:srgbClr val="1B6B63"/>
          </a:solidFill>
          <a:ln w="12700">
            <a:solidFill>
              <a:srgbClr val="1B6B63"/>
            </a:solidFill>
            <a:prstDash val="solid"/>
          </a:ln>
        </p:spPr>
      </p:sp>
      <p:pic>
        <p:nvPicPr>
          <p:cNvPr id="14" name="Image 1" descr="preencoded.png">    </p:cNvPr>
          <p:cNvPicPr>
            <a:picLocks noChangeAspect="1"/>
          </p:cNvPicPr>
          <p:nvPr/>
        </p:nvPicPr>
        <p:blipFill>
          <a:blip r:embed="rId2"/>
          <a:stretch>
            <a:fillRect/>
          </a:stretch>
        </p:blipFill>
        <p:spPr>
          <a:xfrm>
            <a:off x="3479292" y="2061972"/>
            <a:ext cx="210312" cy="210312"/>
          </a:xfrm>
          <a:prstGeom prst="rect">
            <a:avLst/>
          </a:prstGeom>
        </p:spPr>
      </p:pic>
      <p:sp>
        <p:nvSpPr>
          <p:cNvPr id="15" name="Text 11"/>
          <p:cNvSpPr txBox="1"/>
          <p:nvPr/>
        </p:nvSpPr>
        <p:spPr>
          <a:xfrm>
            <a:off x="390448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Coverage before arrival</a:t>
            </a:r>
            <a:endParaRPr lang="en-US" sz="1150" dirty="0"/>
          </a:p>
        </p:txBody>
      </p:sp>
      <p:sp>
        <p:nvSpPr>
          <p:cNvPr id="16" name="Text 12"/>
          <p:cNvSpPr txBox="1"/>
          <p:nvPr/>
        </p:nvSpPr>
        <p:spPr>
          <a:xfrm>
            <a:off x="337413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Automatic eligibility checks flag inactive coverage days ahead</a:t>
            </a:r>
            <a:endParaRPr lang="en-US" sz="950" dirty="0"/>
          </a:p>
        </p:txBody>
      </p:sp>
      <p:sp>
        <p:nvSpPr>
          <p:cNvPr id="17" name="Shape 13"/>
          <p:cNvSpPr/>
          <p:nvPr/>
        </p:nvSpPr>
        <p:spPr>
          <a:xfrm>
            <a:off x="603504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8" name="Shape 14"/>
          <p:cNvSpPr/>
          <p:nvPr/>
        </p:nvSpPr>
        <p:spPr>
          <a:xfrm>
            <a:off x="6163056" y="1956816"/>
            <a:ext cx="420624" cy="420624"/>
          </a:xfrm>
          <a:prstGeom prst="ellipse">
            <a:avLst/>
          </a:prstGeom>
          <a:solidFill>
            <a:srgbClr val="1B6B63"/>
          </a:solidFill>
          <a:ln w="12700">
            <a:solidFill>
              <a:srgbClr val="1B6B63"/>
            </a:solidFill>
            <a:prstDash val="solid"/>
          </a:ln>
        </p:spPr>
      </p:sp>
      <p:pic>
        <p:nvPicPr>
          <p:cNvPr id="19" name="Image 2" descr="preencoded.png">    </p:cNvPr>
          <p:cNvPicPr>
            <a:picLocks noChangeAspect="1"/>
          </p:cNvPicPr>
          <p:nvPr/>
        </p:nvPicPr>
        <p:blipFill>
          <a:blip r:embed="rId3"/>
          <a:stretch>
            <a:fillRect/>
          </a:stretch>
        </p:blipFill>
        <p:spPr>
          <a:xfrm>
            <a:off x="6268212" y="2061972"/>
            <a:ext cx="210312" cy="210312"/>
          </a:xfrm>
          <a:prstGeom prst="rect">
            <a:avLst/>
          </a:prstGeom>
        </p:spPr>
      </p:pic>
      <p:sp>
        <p:nvSpPr>
          <p:cNvPr id="20" name="Text 15"/>
          <p:cNvSpPr txBox="1"/>
          <p:nvPr/>
        </p:nvSpPr>
        <p:spPr>
          <a:xfrm>
            <a:off x="669340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Scan, not type</a:t>
            </a:r>
            <a:endParaRPr lang="en-US" sz="1150" dirty="0"/>
          </a:p>
        </p:txBody>
      </p:sp>
      <p:sp>
        <p:nvSpPr>
          <p:cNvPr id="21" name="Text 16"/>
          <p:cNvSpPr txBox="1"/>
          <p:nvPr/>
        </p:nvSpPr>
        <p:spPr>
          <a:xfrm>
            <a:off x="616305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Verify the patient's digital insurance card from its QR code</a:t>
            </a:r>
            <a:endParaRPr lang="en-US" sz="950" dirty="0"/>
          </a:p>
        </p:txBody>
      </p:sp>
      <p:sp>
        <p:nvSpPr>
          <p:cNvPr id="22" name="Text 17"/>
          <p:cNvSpPr txBox="1"/>
          <p:nvPr/>
        </p:nvSpPr>
        <p:spPr>
          <a:xfrm>
            <a:off x="457200" y="3035808"/>
            <a:ext cx="2743200" cy="274320"/>
          </a:xfrm>
          <a:prstGeom prst="rect">
            <a:avLst/>
          </a:prstGeom>
          <a:noFill/>
          <a:ln/>
        </p:spPr>
        <p:txBody>
          <a:bodyPr wrap="square" lIns="0" tIns="0" rIns="0" bIns="0" rtlCol="0" anchor="t"/>
          <a:lstStyle/>
          <a:p>
            <a:pPr indent="0" marL="0">
              <a:buNone/>
            </a:pPr>
            <a:r>
              <a:rPr lang="en-US" sz="1200" b="1" dirty="0">
                <a:solidFill>
                  <a:srgbClr val="134E4A"/>
                </a:solidFill>
                <a:latin typeface="Calibri" pitchFamily="34" charset="0"/>
                <a:ea typeface="Calibri" pitchFamily="34" charset="-122"/>
                <a:cs typeface="Calibri" pitchFamily="34" charset="-120"/>
              </a:rPr>
              <a:t>Journey</a:t>
            </a:r>
            <a:endParaRPr lang="en-US" sz="1200" dirty="0"/>
          </a:p>
        </p:txBody>
      </p:sp>
      <p:sp>
        <p:nvSpPr>
          <p:cNvPr id="23" name="Shape 18"/>
          <p:cNvSpPr/>
          <p:nvPr/>
        </p:nvSpPr>
        <p:spPr>
          <a:xfrm>
            <a:off x="457200"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24" name="Text 19"/>
          <p:cNvSpPr txBox="1"/>
          <p:nvPr/>
        </p:nvSpPr>
        <p:spPr>
          <a:xfrm>
            <a:off x="566928"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1  Morning flag</a:t>
            </a:r>
            <a:endParaRPr lang="en-US" sz="1050" dirty="0"/>
          </a:p>
        </p:txBody>
      </p:sp>
      <p:sp>
        <p:nvSpPr>
          <p:cNvPr id="25" name="Shape 20"/>
          <p:cNvSpPr/>
          <p:nvPr/>
        </p:nvSpPr>
        <p:spPr>
          <a:xfrm>
            <a:off x="566928" y="3867912"/>
            <a:ext cx="863194" cy="237744"/>
          </a:xfrm>
          <a:prstGeom prst="roundRect">
            <a:avLst>
              <a:gd name="adj" fmla="val 50000"/>
            </a:avLst>
          </a:prstGeom>
          <a:solidFill>
            <a:srgbClr val="FFFFFF"/>
          </a:solidFill>
          <a:ln w="12700">
            <a:solidFill>
              <a:srgbClr val="FFFFFF"/>
            </a:solidFill>
            <a:prstDash val="solid"/>
          </a:ln>
        </p:spPr>
      </p:sp>
      <p:sp>
        <p:nvSpPr>
          <p:cNvPr id="26" name="Text 21"/>
          <p:cNvSpPr txBox="1"/>
          <p:nvPr/>
        </p:nvSpPr>
        <p:spPr>
          <a:xfrm>
            <a:off x="566928" y="3867912"/>
            <a:ext cx="86319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Eligibility</a:t>
            </a:r>
            <a:endParaRPr lang="en-US" sz="850" dirty="0"/>
          </a:p>
        </p:txBody>
      </p:sp>
      <p:sp>
        <p:nvSpPr>
          <p:cNvPr id="27" name="Text 22"/>
          <p:cNvSpPr txBox="1"/>
          <p:nvPr/>
        </p:nvSpPr>
        <p:spPr>
          <a:xfrm>
            <a:off x="566928"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Inactive coverage for tomorrow's visit</a:t>
            </a:r>
            <a:endParaRPr lang="en-US" sz="900" dirty="0"/>
          </a:p>
        </p:txBody>
      </p:sp>
      <p:sp>
        <p:nvSpPr>
          <p:cNvPr id="28" name="Shape 23"/>
          <p:cNvSpPr/>
          <p:nvPr/>
        </p:nvSpPr>
        <p:spPr>
          <a:xfrm>
            <a:off x="1960474" y="3904488"/>
            <a:ext cx="164592" cy="237744"/>
          </a:xfrm>
          <a:prstGeom prst="rightArrow">
            <a:avLst/>
          </a:prstGeom>
          <a:solidFill>
            <a:srgbClr val="2A9D8F"/>
          </a:solidFill>
          <a:ln w="12700">
            <a:solidFill>
              <a:srgbClr val="2A9D8F"/>
            </a:solidFill>
            <a:prstDash val="solid"/>
          </a:ln>
        </p:spPr>
      </p:sp>
      <p:sp>
        <p:nvSpPr>
          <p:cNvPr id="29" name="Shape 24"/>
          <p:cNvSpPr/>
          <p:nvPr/>
        </p:nvSpPr>
        <p:spPr>
          <a:xfrm>
            <a:off x="214335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0" name="Text 25"/>
          <p:cNvSpPr txBox="1"/>
          <p:nvPr/>
        </p:nvSpPr>
        <p:spPr>
          <a:xfrm>
            <a:off x="225308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2  Patient arrives</a:t>
            </a:r>
            <a:endParaRPr lang="en-US" sz="1050" dirty="0"/>
          </a:p>
        </p:txBody>
      </p:sp>
      <p:sp>
        <p:nvSpPr>
          <p:cNvPr id="31" name="Shape 26"/>
          <p:cNvSpPr/>
          <p:nvPr/>
        </p:nvSpPr>
        <p:spPr>
          <a:xfrm>
            <a:off x="2253082" y="3867912"/>
            <a:ext cx="804672" cy="237744"/>
          </a:xfrm>
          <a:prstGeom prst="roundRect">
            <a:avLst>
              <a:gd name="adj" fmla="val 50000"/>
            </a:avLst>
          </a:prstGeom>
          <a:solidFill>
            <a:srgbClr val="FFFFFF"/>
          </a:solidFill>
          <a:ln w="12700">
            <a:solidFill>
              <a:srgbClr val="FFFFFF"/>
            </a:solidFill>
            <a:prstDash val="solid"/>
          </a:ln>
        </p:spPr>
      </p:sp>
      <p:sp>
        <p:nvSpPr>
          <p:cNvPr id="32" name="Text 27"/>
          <p:cNvSpPr txBox="1"/>
          <p:nvPr/>
        </p:nvSpPr>
        <p:spPr>
          <a:xfrm>
            <a:off x="2253082" y="3867912"/>
            <a:ext cx="80467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Card check</a:t>
            </a:r>
            <a:endParaRPr lang="en-US" sz="850" dirty="0"/>
          </a:p>
        </p:txBody>
      </p:sp>
      <p:sp>
        <p:nvSpPr>
          <p:cNvPr id="33" name="Text 28"/>
          <p:cNvSpPr txBox="1"/>
          <p:nvPr/>
        </p:nvSpPr>
        <p:spPr>
          <a:xfrm>
            <a:off x="225308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Scans the QR code; coverage confirmed</a:t>
            </a:r>
            <a:endParaRPr lang="en-US" sz="900" dirty="0"/>
          </a:p>
        </p:txBody>
      </p:sp>
      <p:sp>
        <p:nvSpPr>
          <p:cNvPr id="34" name="Shape 29"/>
          <p:cNvSpPr/>
          <p:nvPr/>
        </p:nvSpPr>
        <p:spPr>
          <a:xfrm>
            <a:off x="3646627" y="3904488"/>
            <a:ext cx="164592" cy="237744"/>
          </a:xfrm>
          <a:prstGeom prst="rightArrow">
            <a:avLst/>
          </a:prstGeom>
          <a:solidFill>
            <a:srgbClr val="2A9D8F"/>
          </a:solidFill>
          <a:ln w="12700">
            <a:solidFill>
              <a:srgbClr val="2A9D8F"/>
            </a:solidFill>
            <a:prstDash val="solid"/>
          </a:ln>
        </p:spPr>
      </p:sp>
      <p:sp>
        <p:nvSpPr>
          <p:cNvPr id="35" name="Shape 30"/>
          <p:cNvSpPr/>
          <p:nvPr/>
        </p:nvSpPr>
        <p:spPr>
          <a:xfrm>
            <a:off x="3829507"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6" name="Text 31"/>
          <p:cNvSpPr txBox="1"/>
          <p:nvPr/>
        </p:nvSpPr>
        <p:spPr>
          <a:xfrm>
            <a:off x="3939235"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3  Checks in</a:t>
            </a:r>
            <a:endParaRPr lang="en-US" sz="1050" dirty="0"/>
          </a:p>
        </p:txBody>
      </p:sp>
      <p:sp>
        <p:nvSpPr>
          <p:cNvPr id="37" name="Shape 32"/>
          <p:cNvSpPr/>
          <p:nvPr/>
        </p:nvSpPr>
        <p:spPr>
          <a:xfrm>
            <a:off x="3939235" y="3867912"/>
            <a:ext cx="921715" cy="237744"/>
          </a:xfrm>
          <a:prstGeom prst="roundRect">
            <a:avLst>
              <a:gd name="adj" fmla="val 50000"/>
            </a:avLst>
          </a:prstGeom>
          <a:solidFill>
            <a:srgbClr val="FFFFFF"/>
          </a:solidFill>
          <a:ln w="12700">
            <a:solidFill>
              <a:srgbClr val="FFFFFF"/>
            </a:solidFill>
            <a:prstDash val="solid"/>
          </a:ln>
        </p:spPr>
      </p:sp>
      <p:sp>
        <p:nvSpPr>
          <p:cNvPr id="38" name="Text 33"/>
          <p:cNvSpPr txBox="1"/>
          <p:nvPr/>
        </p:nvSpPr>
        <p:spPr>
          <a:xfrm>
            <a:off x="3939235" y="3867912"/>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Clinic queue</a:t>
            </a:r>
            <a:endParaRPr lang="en-US" sz="850" dirty="0"/>
          </a:p>
        </p:txBody>
      </p:sp>
      <p:sp>
        <p:nvSpPr>
          <p:cNvPr id="39" name="Text 34"/>
          <p:cNvSpPr txBox="1"/>
          <p:nvPr/>
        </p:nvSpPr>
        <p:spPr>
          <a:xfrm>
            <a:off x="3939235"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Queue updates for the clinician</a:t>
            </a:r>
            <a:endParaRPr lang="en-US" sz="900" dirty="0"/>
          </a:p>
        </p:txBody>
      </p:sp>
      <p:sp>
        <p:nvSpPr>
          <p:cNvPr id="40" name="Shape 35"/>
          <p:cNvSpPr/>
          <p:nvPr/>
        </p:nvSpPr>
        <p:spPr>
          <a:xfrm>
            <a:off x="5332781" y="3904488"/>
            <a:ext cx="164592" cy="237744"/>
          </a:xfrm>
          <a:prstGeom prst="rightArrow">
            <a:avLst/>
          </a:prstGeom>
          <a:solidFill>
            <a:srgbClr val="2A9D8F"/>
          </a:solidFill>
          <a:ln w="12700">
            <a:solidFill>
              <a:srgbClr val="2A9D8F"/>
            </a:solidFill>
            <a:prstDash val="solid"/>
          </a:ln>
        </p:spPr>
      </p:sp>
      <p:sp>
        <p:nvSpPr>
          <p:cNvPr id="41" name="Shape 36"/>
          <p:cNvSpPr/>
          <p:nvPr/>
        </p:nvSpPr>
        <p:spPr>
          <a:xfrm>
            <a:off x="5515661"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2" name="Text 37"/>
          <p:cNvSpPr txBox="1"/>
          <p:nvPr/>
        </p:nvSpPr>
        <p:spPr>
          <a:xfrm>
            <a:off x="5625389"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4  Answers a message</a:t>
            </a:r>
            <a:endParaRPr lang="en-US" sz="1050" dirty="0"/>
          </a:p>
        </p:txBody>
      </p:sp>
      <p:sp>
        <p:nvSpPr>
          <p:cNvPr id="43" name="Shape 38"/>
          <p:cNvSpPr/>
          <p:nvPr/>
        </p:nvSpPr>
        <p:spPr>
          <a:xfrm>
            <a:off x="5625389" y="3867912"/>
            <a:ext cx="512064" cy="237744"/>
          </a:xfrm>
          <a:prstGeom prst="roundRect">
            <a:avLst>
              <a:gd name="adj" fmla="val 50000"/>
            </a:avLst>
          </a:prstGeom>
          <a:solidFill>
            <a:srgbClr val="FFFFFF"/>
          </a:solidFill>
          <a:ln w="12700">
            <a:solidFill>
              <a:srgbClr val="FFFFFF"/>
            </a:solidFill>
            <a:prstDash val="solid"/>
          </a:ln>
        </p:spPr>
      </p:sp>
      <p:sp>
        <p:nvSpPr>
          <p:cNvPr id="44" name="Text 39"/>
          <p:cNvSpPr txBox="1"/>
          <p:nvPr/>
        </p:nvSpPr>
        <p:spPr>
          <a:xfrm>
            <a:off x="5625389" y="3867912"/>
            <a:ext cx="51206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Inbox</a:t>
            </a:r>
            <a:endParaRPr lang="en-US" sz="850" dirty="0"/>
          </a:p>
        </p:txBody>
      </p:sp>
      <p:sp>
        <p:nvSpPr>
          <p:cNvPr id="45" name="Text 40"/>
          <p:cNvSpPr txBox="1"/>
          <p:nvPr/>
        </p:nvSpPr>
        <p:spPr>
          <a:xfrm>
            <a:off x="5625389"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Sends the drafted reply</a:t>
            </a:r>
            <a:endParaRPr lang="en-US" sz="900" dirty="0"/>
          </a:p>
        </p:txBody>
      </p:sp>
      <p:sp>
        <p:nvSpPr>
          <p:cNvPr id="46" name="Shape 41"/>
          <p:cNvSpPr/>
          <p:nvPr/>
        </p:nvSpPr>
        <p:spPr>
          <a:xfrm>
            <a:off x="7018934" y="3904488"/>
            <a:ext cx="164592" cy="237744"/>
          </a:xfrm>
          <a:prstGeom prst="rightArrow">
            <a:avLst/>
          </a:prstGeom>
          <a:solidFill>
            <a:srgbClr val="2A9D8F"/>
          </a:solidFill>
          <a:ln w="12700">
            <a:solidFill>
              <a:srgbClr val="2A9D8F"/>
            </a:solidFill>
            <a:prstDash val="solid"/>
          </a:ln>
        </p:spPr>
      </p:sp>
      <p:sp>
        <p:nvSpPr>
          <p:cNvPr id="47" name="Shape 42"/>
          <p:cNvSpPr/>
          <p:nvPr/>
        </p:nvSpPr>
        <p:spPr>
          <a:xfrm>
            <a:off x="720181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8" name="Text 43"/>
          <p:cNvSpPr txBox="1"/>
          <p:nvPr/>
        </p:nvSpPr>
        <p:spPr>
          <a:xfrm>
            <a:off x="731154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5  Sends the claim</a:t>
            </a:r>
            <a:endParaRPr lang="en-US" sz="1050" dirty="0"/>
          </a:p>
        </p:txBody>
      </p:sp>
      <p:sp>
        <p:nvSpPr>
          <p:cNvPr id="49" name="Shape 44"/>
          <p:cNvSpPr/>
          <p:nvPr/>
        </p:nvSpPr>
        <p:spPr>
          <a:xfrm>
            <a:off x="7311542" y="3867912"/>
            <a:ext cx="570586" cy="237744"/>
          </a:xfrm>
          <a:prstGeom prst="roundRect">
            <a:avLst>
              <a:gd name="adj" fmla="val 50000"/>
            </a:avLst>
          </a:prstGeom>
          <a:solidFill>
            <a:srgbClr val="FFFFFF"/>
          </a:solidFill>
          <a:ln w="12700">
            <a:solidFill>
              <a:srgbClr val="FFFFFF"/>
            </a:solidFill>
            <a:prstDash val="solid"/>
          </a:ln>
        </p:spPr>
      </p:sp>
      <p:sp>
        <p:nvSpPr>
          <p:cNvPr id="50" name="Text 45"/>
          <p:cNvSpPr txBox="1"/>
          <p:nvPr/>
        </p:nvSpPr>
        <p:spPr>
          <a:xfrm>
            <a:off x="7311542" y="3867912"/>
            <a:ext cx="570586"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Claims</a:t>
            </a:r>
            <a:endParaRPr lang="en-US" sz="850" dirty="0"/>
          </a:p>
        </p:txBody>
      </p:sp>
      <p:sp>
        <p:nvSpPr>
          <p:cNvPr id="51" name="Text 46"/>
          <p:cNvSpPr txBox="1"/>
          <p:nvPr/>
        </p:nvSpPr>
        <p:spPr>
          <a:xfrm>
            <a:off x="731154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837P built from the visit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Meet Northside Operations</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Hospital administrators responsible for flow, compliance, access and safe AI</a:t>
            </a:r>
            <a:endParaRPr lang="en-US" sz="1300" dirty="0"/>
          </a:p>
        </p:txBody>
      </p:sp>
      <p:sp>
        <p:nvSpPr>
          <p:cNvPr id="4" name="Shape 2"/>
          <p:cNvSpPr/>
          <p:nvPr/>
        </p:nvSpPr>
        <p:spPr>
          <a:xfrm>
            <a:off x="457200" y="1325880"/>
            <a:ext cx="3063240" cy="3429000"/>
          </a:xfrm>
          <a:prstGeom prst="roundRect">
            <a:avLst>
              <a:gd name="adj" fmla="val 358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658368" y="1481328"/>
            <a:ext cx="658368" cy="658368"/>
          </a:xfrm>
          <a:prstGeom prst="ellipse">
            <a:avLst/>
          </a:prstGeom>
          <a:solidFill>
            <a:srgbClr val="374151"/>
          </a:solidFill>
          <a:ln w="25400">
            <a:solidFill>
              <a:srgbClr val="FFFFFF"/>
            </a:solidFill>
            <a:prstDash val="solid"/>
          </a:ln>
        </p:spPr>
      </p:sp>
      <p:sp>
        <p:nvSpPr>
          <p:cNvPr id="6" name="Text 4"/>
          <p:cNvSpPr txBox="1"/>
          <p:nvPr/>
        </p:nvSpPr>
        <p:spPr>
          <a:xfrm>
            <a:off x="658368" y="1481328"/>
            <a:ext cx="658368" cy="658368"/>
          </a:xfrm>
          <a:prstGeom prst="rect">
            <a:avLst/>
          </a:prstGeom>
          <a:noFill/>
          <a:ln/>
        </p:spPr>
        <p:txBody>
          <a:bodyPr wrap="square" lIns="0" tIns="0" rIns="0" bIns="0" rtlCol="0" anchor="ctr"/>
          <a:lstStyle/>
          <a:p>
            <a:pPr algn="ctr" indent="0" marL="0">
              <a:buNone/>
            </a:pPr>
            <a:r>
              <a:rPr lang="en-US" sz="1584" b="1" dirty="0">
                <a:solidFill>
                  <a:srgbClr val="FFFFFF"/>
                </a:solidFill>
                <a:latin typeface="Calibri" pitchFamily="34" charset="0"/>
                <a:ea typeface="Calibri" pitchFamily="34" charset="-122"/>
                <a:cs typeface="Calibri" pitchFamily="34" charset="-120"/>
              </a:rPr>
              <a:t>NO</a:t>
            </a:r>
            <a:endParaRPr lang="en-US" sz="1584" dirty="0"/>
          </a:p>
        </p:txBody>
      </p:sp>
      <p:sp>
        <p:nvSpPr>
          <p:cNvPr id="7" name="Text 5"/>
          <p:cNvSpPr txBox="1"/>
          <p:nvPr/>
        </p:nvSpPr>
        <p:spPr>
          <a:xfrm>
            <a:off x="1444752" y="1481328"/>
            <a:ext cx="2011680" cy="658368"/>
          </a:xfrm>
          <a:prstGeom prst="rect">
            <a:avLst/>
          </a:prstGeom>
          <a:noFill/>
          <a:ln/>
        </p:spPr>
        <p:txBody>
          <a:bodyPr wrap="square" lIns="0" tIns="0" rIns="0" bIns="0" rtlCol="0" anchor="ctr"/>
          <a:lstStyle/>
          <a:p>
            <a:pPr indent="0" marL="0">
              <a:buNone/>
            </a:pPr>
            <a:r>
              <a:rPr lang="en-US" sz="1400" b="1" dirty="0">
                <a:solidFill>
                  <a:srgbClr val="111827"/>
                </a:solidFill>
                <a:latin typeface="Calibri" pitchFamily="34" charset="0"/>
                <a:ea typeface="Calibri" pitchFamily="34" charset="-122"/>
                <a:cs typeface="Calibri" pitchFamily="34" charset="-120"/>
              </a:rPr>
              <a:t>Northside Operations</a:t>
            </a:r>
            <a:endParaRPr lang="en-US" sz="1400" dirty="0"/>
          </a:p>
        </p:txBody>
      </p:sp>
      <p:sp>
        <p:nvSpPr>
          <p:cNvPr id="8" name="Text 6"/>
          <p:cNvSpPr txBox="1"/>
          <p:nvPr/>
        </p:nvSpPr>
        <p:spPr>
          <a:xfrm>
            <a:off x="658368" y="2212848"/>
            <a:ext cx="274320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Administrator · signs in with Entra ID · owns People &amp; sign-in</a:t>
            </a:r>
            <a:endParaRPr lang="en-US" sz="1000" dirty="0"/>
          </a:p>
        </p:txBody>
      </p:sp>
      <p:sp>
        <p:nvSpPr>
          <p:cNvPr id="9" name="Text 7"/>
          <p:cNvSpPr txBox="1"/>
          <p:nvPr/>
        </p:nvSpPr>
        <p:spPr>
          <a:xfrm>
            <a:off x="658368" y="2651760"/>
            <a:ext cx="2743200" cy="237744"/>
          </a:xfrm>
          <a:prstGeom prst="rect">
            <a:avLst/>
          </a:prstGeom>
          <a:noFill/>
          <a:ln/>
        </p:spPr>
        <p:txBody>
          <a:bodyPr wrap="square" lIns="0" tIns="0" rIns="0" bIns="0" rtlCol="0" anchor="t"/>
          <a:lstStyle/>
          <a:p>
            <a:pPr indent="0" marL="0">
              <a:buNone/>
            </a:pPr>
            <a:r>
              <a:rPr lang="en-US" sz="1150" b="1" dirty="0">
                <a:solidFill>
                  <a:srgbClr val="134E4A"/>
                </a:solidFill>
                <a:latin typeface="Calibri" pitchFamily="34" charset="0"/>
                <a:ea typeface="Calibri" pitchFamily="34" charset="-122"/>
                <a:cs typeface="Calibri" pitchFamily="34" charset="-120"/>
              </a:rPr>
              <a:t>Goals</a:t>
            </a:r>
            <a:endParaRPr lang="en-US" sz="1150" dirty="0"/>
          </a:p>
        </p:txBody>
      </p:sp>
      <p:sp>
        <p:nvSpPr>
          <p:cNvPr id="10" name="Text 8"/>
          <p:cNvSpPr txBox="1"/>
          <p:nvPr/>
        </p:nvSpPr>
        <p:spPr>
          <a:xfrm>
            <a:off x="658368" y="2889504"/>
            <a:ext cx="2697480" cy="822960"/>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Run capacity and patient flow smoothly</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Stay compliant and audit-ready</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Adopt AI safely, with proof</a:t>
            </a:r>
            <a:endParaRPr lang="en-US" sz="1000" dirty="0"/>
          </a:p>
        </p:txBody>
      </p:sp>
      <p:sp>
        <p:nvSpPr>
          <p:cNvPr id="11" name="Text 9"/>
          <p:cNvSpPr txBox="1"/>
          <p:nvPr/>
        </p:nvSpPr>
        <p:spPr>
          <a:xfrm>
            <a:off x="658368" y="3730752"/>
            <a:ext cx="2743200" cy="237744"/>
          </a:xfrm>
          <a:prstGeom prst="rect">
            <a:avLst/>
          </a:prstGeom>
          <a:noFill/>
          <a:ln/>
        </p:spPr>
        <p:txBody>
          <a:bodyPr wrap="square" lIns="0" tIns="0" rIns="0" bIns="0" rtlCol="0" anchor="t"/>
          <a:lstStyle/>
          <a:p>
            <a:pPr indent="0" marL="0">
              <a:buNone/>
            </a:pPr>
            <a:r>
              <a:rPr lang="en-US" sz="1150" b="1" dirty="0">
                <a:solidFill>
                  <a:srgbClr val="DC2626"/>
                </a:solidFill>
                <a:latin typeface="Calibri" pitchFamily="34" charset="0"/>
                <a:ea typeface="Calibri" pitchFamily="34" charset="-122"/>
                <a:cs typeface="Calibri" pitchFamily="34" charset="-120"/>
              </a:rPr>
              <a:t>Frustrations today</a:t>
            </a:r>
            <a:endParaRPr lang="en-US" sz="1150" dirty="0"/>
          </a:p>
        </p:txBody>
      </p:sp>
      <p:sp>
        <p:nvSpPr>
          <p:cNvPr id="12" name="Text 10"/>
          <p:cNvSpPr txBox="1"/>
          <p:nvPr/>
        </p:nvSpPr>
        <p:spPr>
          <a:xfrm>
            <a:off x="658368" y="3968496"/>
            <a:ext cx="2697480" cy="749808"/>
          </a:xfrm>
          <a:prstGeom prst="rect">
            <a:avLst/>
          </a:prstGeom>
          <a:noFill/>
          <a:ln/>
        </p:spPr>
        <p:txBody>
          <a:bodyPr wrap="square" lIns="0" tIns="0" rIns="0" bIns="0" rtlCol="0" anchor="t"/>
          <a:lstStyle/>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Access, audit and operations in separate tools</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Onboarding by ticket</a:t>
            </a:r>
            <a:endParaRPr lang="en-US" sz="1000" dirty="0"/>
          </a:p>
          <a:p>
            <a:pPr marL="342900" indent="-342900">
              <a:spcAft>
                <a:spcPts val="100"/>
              </a:spcAft>
              <a:buSzPct val="100000"/>
              <a:buChar char="•"/>
            </a:pPr>
            <a:r>
              <a:rPr lang="en-US" sz="1000" dirty="0">
                <a:solidFill>
                  <a:srgbClr val="111827"/>
                </a:solidFill>
                <a:latin typeface="Calibri" pitchFamily="34" charset="0"/>
                <a:ea typeface="Calibri" pitchFamily="34" charset="-122"/>
                <a:cs typeface="Calibri" pitchFamily="34" charset="-120"/>
              </a:rPr>
              <a:t>No proof of how AI behaves</a:t>
            </a:r>
            <a:endParaRPr lang="en-US" sz="1000" dirty="0"/>
          </a:p>
        </p:txBody>
      </p:sp>
      <p:sp>
        <p:nvSpPr>
          <p:cNvPr id="13" name="Text 11"/>
          <p:cNvSpPr txBox="1"/>
          <p:nvPr/>
        </p:nvSpPr>
        <p:spPr>
          <a:xfrm>
            <a:off x="3794760" y="1325880"/>
            <a:ext cx="4892040" cy="320040"/>
          </a:xfrm>
          <a:prstGeom prst="rect">
            <a:avLst/>
          </a:prstGeom>
          <a:noFill/>
          <a:ln/>
        </p:spPr>
        <p:txBody>
          <a:bodyPr wrap="square" lIns="0" tIns="0" rIns="0" bIns="0" rtlCol="0" anchor="t"/>
          <a:lstStyle/>
          <a:p>
            <a:pPr indent="0" marL="0">
              <a:buNone/>
            </a:pPr>
            <a:r>
              <a:rPr lang="en-US" sz="1400" b="1" dirty="0">
                <a:solidFill>
                  <a:srgbClr val="134E4A"/>
                </a:solidFill>
                <a:latin typeface="Calibri" pitchFamily="34" charset="0"/>
                <a:ea typeface="Calibri" pitchFamily="34" charset="-122"/>
                <a:cs typeface="Calibri" pitchFamily="34" charset="-120"/>
              </a:rPr>
              <a:t>What Bioverse One gives them</a:t>
            </a:r>
            <a:endParaRPr lang="en-US" sz="1400" dirty="0"/>
          </a:p>
        </p:txBody>
      </p:sp>
      <p:sp>
        <p:nvSpPr>
          <p:cNvPr id="14" name="Shape 12"/>
          <p:cNvSpPr/>
          <p:nvPr/>
        </p:nvSpPr>
        <p:spPr>
          <a:xfrm>
            <a:off x="3794760" y="173736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3904488" y="1869948"/>
            <a:ext cx="420624" cy="420624"/>
          </a:xfrm>
          <a:prstGeom prst="ellipse">
            <a:avLst/>
          </a:prstGeom>
          <a:solidFill>
            <a:srgbClr val="1B6B63"/>
          </a:solidFill>
          <a:ln w="12700">
            <a:solidFill>
              <a:srgbClr val="1B6B63"/>
            </a:solidFill>
            <a:prstDash val="solid"/>
          </a:ln>
        </p:spPr>
      </p:sp>
      <p:pic>
        <p:nvPicPr>
          <p:cNvPr id="16" name="Image 0" descr="preencoded.png">    </p:cNvPr>
          <p:cNvPicPr>
            <a:picLocks noChangeAspect="1"/>
          </p:cNvPicPr>
          <p:nvPr/>
        </p:nvPicPr>
        <p:blipFill>
          <a:blip r:embed="rId1"/>
          <a:stretch>
            <a:fillRect/>
          </a:stretch>
        </p:blipFill>
        <p:spPr>
          <a:xfrm>
            <a:off x="4009644" y="1975104"/>
            <a:ext cx="210312" cy="210312"/>
          </a:xfrm>
          <a:prstGeom prst="rect">
            <a:avLst/>
          </a:prstGeom>
        </p:spPr>
      </p:pic>
      <p:sp>
        <p:nvSpPr>
          <p:cNvPr id="17" name="Text 14"/>
          <p:cNvSpPr txBox="1"/>
          <p:nvPr/>
        </p:nvSpPr>
        <p:spPr>
          <a:xfrm>
            <a:off x="4434840" y="179222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Operations at a glance</a:t>
            </a:r>
            <a:endParaRPr lang="en-US" sz="1200" dirty="0"/>
          </a:p>
        </p:txBody>
      </p:sp>
      <p:sp>
        <p:nvSpPr>
          <p:cNvPr id="18" name="Text 15"/>
          <p:cNvSpPr txBox="1"/>
          <p:nvPr/>
        </p:nvSpPr>
        <p:spPr>
          <a:xfrm>
            <a:off x="4434840" y="202996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Capacity, demand, escalations and a Hospital Agent that answers in plain language</a:t>
            </a:r>
            <a:endParaRPr lang="en-US" sz="950" dirty="0"/>
          </a:p>
        </p:txBody>
      </p:sp>
      <p:sp>
        <p:nvSpPr>
          <p:cNvPr id="19" name="Shape 16"/>
          <p:cNvSpPr/>
          <p:nvPr/>
        </p:nvSpPr>
        <p:spPr>
          <a:xfrm>
            <a:off x="3794760" y="251460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0" name="Shape 17"/>
          <p:cNvSpPr/>
          <p:nvPr/>
        </p:nvSpPr>
        <p:spPr>
          <a:xfrm>
            <a:off x="3904488" y="2647188"/>
            <a:ext cx="420624" cy="420624"/>
          </a:xfrm>
          <a:prstGeom prst="ellipse">
            <a:avLst/>
          </a:prstGeom>
          <a:solidFill>
            <a:srgbClr val="1B6B63"/>
          </a:solidFill>
          <a:ln w="12700">
            <a:solidFill>
              <a:srgbClr val="1B6B63"/>
            </a:solidFill>
            <a:prstDash val="solid"/>
          </a:ln>
        </p:spPr>
      </p:sp>
      <p:pic>
        <p:nvPicPr>
          <p:cNvPr id="21" name="Image 1" descr="preencoded.png">    </p:cNvPr>
          <p:cNvPicPr>
            <a:picLocks noChangeAspect="1"/>
          </p:cNvPicPr>
          <p:nvPr/>
        </p:nvPicPr>
        <p:blipFill>
          <a:blip r:embed="rId2"/>
          <a:stretch>
            <a:fillRect/>
          </a:stretch>
        </p:blipFill>
        <p:spPr>
          <a:xfrm>
            <a:off x="4009644" y="2752344"/>
            <a:ext cx="210312" cy="210312"/>
          </a:xfrm>
          <a:prstGeom prst="rect">
            <a:avLst/>
          </a:prstGeom>
        </p:spPr>
      </p:pic>
      <p:sp>
        <p:nvSpPr>
          <p:cNvPr id="22" name="Text 18"/>
          <p:cNvSpPr txBox="1"/>
          <p:nvPr/>
        </p:nvSpPr>
        <p:spPr>
          <a:xfrm>
            <a:off x="4434840" y="256946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Access in one place</a:t>
            </a:r>
            <a:endParaRPr lang="en-US" sz="1200" dirty="0"/>
          </a:p>
        </p:txBody>
      </p:sp>
      <p:sp>
        <p:nvSpPr>
          <p:cNvPr id="23" name="Text 19"/>
          <p:cNvSpPr txBox="1"/>
          <p:nvPr/>
        </p:nvSpPr>
        <p:spPr>
          <a:xfrm>
            <a:off x="4434840" y="280720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Single sign-on, People &amp; sign-in, license credentialing, instant sign-out and turn-off</a:t>
            </a:r>
            <a:endParaRPr lang="en-US" sz="950" dirty="0"/>
          </a:p>
        </p:txBody>
      </p:sp>
      <p:sp>
        <p:nvSpPr>
          <p:cNvPr id="24" name="Shape 20"/>
          <p:cNvSpPr/>
          <p:nvPr/>
        </p:nvSpPr>
        <p:spPr>
          <a:xfrm>
            <a:off x="3794760" y="329184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5" name="Shape 21"/>
          <p:cNvSpPr/>
          <p:nvPr/>
        </p:nvSpPr>
        <p:spPr>
          <a:xfrm>
            <a:off x="3904488" y="3424428"/>
            <a:ext cx="420624" cy="420624"/>
          </a:xfrm>
          <a:prstGeom prst="ellipse">
            <a:avLst/>
          </a:prstGeom>
          <a:solidFill>
            <a:srgbClr val="1B6B63"/>
          </a:solidFill>
          <a:ln w="12700">
            <a:solidFill>
              <a:srgbClr val="1B6B63"/>
            </a:solidFill>
            <a:prstDash val="solid"/>
          </a:ln>
        </p:spPr>
      </p:sp>
      <p:pic>
        <p:nvPicPr>
          <p:cNvPr id="26" name="Image 2" descr="preencoded.png">    </p:cNvPr>
          <p:cNvPicPr>
            <a:picLocks noChangeAspect="1"/>
          </p:cNvPicPr>
          <p:nvPr/>
        </p:nvPicPr>
        <p:blipFill>
          <a:blip r:embed="rId3"/>
          <a:stretch>
            <a:fillRect/>
          </a:stretch>
        </p:blipFill>
        <p:spPr>
          <a:xfrm>
            <a:off x="4009644" y="3529584"/>
            <a:ext cx="210312" cy="210312"/>
          </a:xfrm>
          <a:prstGeom prst="rect">
            <a:avLst/>
          </a:prstGeom>
        </p:spPr>
      </p:pic>
      <p:sp>
        <p:nvSpPr>
          <p:cNvPr id="27" name="Text 22"/>
          <p:cNvSpPr txBox="1"/>
          <p:nvPr/>
        </p:nvSpPr>
        <p:spPr>
          <a:xfrm>
            <a:off x="4434840" y="334670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AI you can govern</a:t>
            </a:r>
            <a:endParaRPr lang="en-US" sz="1200" dirty="0"/>
          </a:p>
        </p:txBody>
      </p:sp>
      <p:sp>
        <p:nvSpPr>
          <p:cNvPr id="28" name="Text 23"/>
          <p:cNvSpPr txBox="1"/>
          <p:nvPr/>
        </p:nvSpPr>
        <p:spPr>
          <a:xfrm>
            <a:off x="4434840" y="358444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Registry of every AI agent, live model, evaluations, and a hash-chained audit trail</a:t>
            </a:r>
            <a:endParaRPr lang="en-US" sz="950" dirty="0"/>
          </a:p>
        </p:txBody>
      </p:sp>
      <p:sp>
        <p:nvSpPr>
          <p:cNvPr id="29" name="Shape 24"/>
          <p:cNvSpPr/>
          <p:nvPr/>
        </p:nvSpPr>
        <p:spPr>
          <a:xfrm>
            <a:off x="3794760" y="4069080"/>
            <a:ext cx="4892040" cy="685800"/>
          </a:xfrm>
          <a:prstGeom prst="roundRect">
            <a:avLst>
              <a:gd name="adj" fmla="val 16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0" name="Shape 25"/>
          <p:cNvSpPr/>
          <p:nvPr/>
        </p:nvSpPr>
        <p:spPr>
          <a:xfrm>
            <a:off x="3904488" y="4201668"/>
            <a:ext cx="420624" cy="420624"/>
          </a:xfrm>
          <a:prstGeom prst="ellipse">
            <a:avLst/>
          </a:prstGeom>
          <a:solidFill>
            <a:srgbClr val="1B6B63"/>
          </a:solidFill>
          <a:ln w="12700">
            <a:solidFill>
              <a:srgbClr val="1B6B63"/>
            </a:solidFill>
            <a:prstDash val="solid"/>
          </a:ln>
        </p:spPr>
      </p:sp>
      <p:pic>
        <p:nvPicPr>
          <p:cNvPr id="31" name="Image 3" descr="preencoded.png">    </p:cNvPr>
          <p:cNvPicPr>
            <a:picLocks noChangeAspect="1"/>
          </p:cNvPicPr>
          <p:nvPr/>
        </p:nvPicPr>
        <p:blipFill>
          <a:blip r:embed="rId4"/>
          <a:stretch>
            <a:fillRect/>
          </a:stretch>
        </p:blipFill>
        <p:spPr>
          <a:xfrm>
            <a:off x="4009644" y="4306824"/>
            <a:ext cx="210312" cy="210312"/>
          </a:xfrm>
          <a:prstGeom prst="rect">
            <a:avLst/>
          </a:prstGeom>
        </p:spPr>
      </p:pic>
      <p:sp>
        <p:nvSpPr>
          <p:cNvPr id="32" name="Text 26"/>
          <p:cNvSpPr txBox="1"/>
          <p:nvPr/>
        </p:nvSpPr>
        <p:spPr>
          <a:xfrm>
            <a:off x="4434840" y="4123944"/>
            <a:ext cx="4160520" cy="256032"/>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Revenue cycle connected</a:t>
            </a:r>
            <a:endParaRPr lang="en-US" sz="1200" dirty="0"/>
          </a:p>
        </p:txBody>
      </p:sp>
      <p:sp>
        <p:nvSpPr>
          <p:cNvPr id="33" name="Text 27"/>
          <p:cNvSpPr txBox="1"/>
          <p:nvPr/>
        </p:nvSpPr>
        <p:spPr>
          <a:xfrm>
            <a:off x="4434840" y="4361688"/>
            <a:ext cx="4160520" cy="374904"/>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Payer connections, eligibility, claims and remittances with plain-language denials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The administrators' journey</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A week of running the hospital from one console</a:t>
            </a:r>
            <a:endParaRPr lang="en-US" sz="1300" dirty="0"/>
          </a:p>
        </p:txBody>
      </p:sp>
      <p:sp>
        <p:nvSpPr>
          <p:cNvPr id="4" name="Shape 2"/>
          <p:cNvSpPr/>
          <p:nvPr/>
        </p:nvSpPr>
        <p:spPr>
          <a:xfrm>
            <a:off x="457200"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66928" y="1453896"/>
            <a:ext cx="420624" cy="420624"/>
          </a:xfrm>
          <a:prstGeom prst="ellipse">
            <a:avLst/>
          </a:prstGeom>
          <a:solidFill>
            <a:srgbClr val="1B6B63"/>
          </a:solidFill>
          <a:ln w="12700">
            <a:solidFill>
              <a:srgbClr val="1B6B63"/>
            </a:solidFill>
            <a:prstDash val="solid"/>
          </a:ln>
        </p:spPr>
      </p:sp>
      <p:pic>
        <p:nvPicPr>
          <p:cNvPr id="6" name="Image 0" descr="preencoded.png">    </p:cNvPr>
          <p:cNvPicPr>
            <a:picLocks noChangeAspect="1"/>
          </p:cNvPicPr>
          <p:nvPr/>
        </p:nvPicPr>
        <p:blipFill>
          <a:blip r:embed="rId1"/>
          <a:stretch>
            <a:fillRect/>
          </a:stretch>
        </p:blipFill>
        <p:spPr>
          <a:xfrm>
            <a:off x="672084" y="1559052"/>
            <a:ext cx="210312" cy="210312"/>
          </a:xfrm>
          <a:prstGeom prst="rect">
            <a:avLst/>
          </a:prstGeom>
        </p:spPr>
      </p:pic>
      <p:sp>
        <p:nvSpPr>
          <p:cNvPr id="7" name="Text 4"/>
          <p:cNvSpPr txBox="1"/>
          <p:nvPr/>
        </p:nvSpPr>
        <p:spPr>
          <a:xfrm>
            <a:off x="161300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566928"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Onboards a clinician</a:t>
            </a:r>
            <a:endParaRPr lang="en-US" sz="1150" dirty="0"/>
          </a:p>
        </p:txBody>
      </p:sp>
      <p:sp>
        <p:nvSpPr>
          <p:cNvPr id="9" name="Shape 6"/>
          <p:cNvSpPr/>
          <p:nvPr/>
        </p:nvSpPr>
        <p:spPr>
          <a:xfrm>
            <a:off x="566928" y="2468880"/>
            <a:ext cx="1155802" cy="237744"/>
          </a:xfrm>
          <a:prstGeom prst="roundRect">
            <a:avLst>
              <a:gd name="adj" fmla="val 50000"/>
            </a:avLst>
          </a:prstGeom>
          <a:solidFill>
            <a:srgbClr val="E6F4F1"/>
          </a:solidFill>
          <a:ln w="12700">
            <a:solidFill>
              <a:srgbClr val="E6F4F1"/>
            </a:solidFill>
            <a:prstDash val="solid"/>
          </a:ln>
        </p:spPr>
      </p:sp>
      <p:sp>
        <p:nvSpPr>
          <p:cNvPr id="10" name="Text 7"/>
          <p:cNvSpPr txBox="1"/>
          <p:nvPr/>
        </p:nvSpPr>
        <p:spPr>
          <a:xfrm>
            <a:off x="566928" y="2468880"/>
            <a:ext cx="115580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People &amp; sign-in</a:t>
            </a:r>
            <a:endParaRPr lang="en-US" sz="850" dirty="0"/>
          </a:p>
        </p:txBody>
      </p:sp>
      <p:sp>
        <p:nvSpPr>
          <p:cNvPr id="11" name="Text 8"/>
          <p:cNvSpPr txBox="1"/>
          <p:nvPr/>
        </p:nvSpPr>
        <p:spPr>
          <a:xfrm>
            <a:off x="566928"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Adds her with her Entra email; she signs in with SSO</a:t>
            </a:r>
            <a:endParaRPr lang="en-US" sz="950" dirty="0"/>
          </a:p>
        </p:txBody>
      </p:sp>
      <p:sp>
        <p:nvSpPr>
          <p:cNvPr id="12" name="Shape 9"/>
          <p:cNvSpPr/>
          <p:nvPr/>
        </p:nvSpPr>
        <p:spPr>
          <a:xfrm>
            <a:off x="1960474" y="2464308"/>
            <a:ext cx="164592" cy="237744"/>
          </a:xfrm>
          <a:prstGeom prst="rightArrow">
            <a:avLst/>
          </a:prstGeom>
          <a:solidFill>
            <a:srgbClr val="2A9D8F"/>
          </a:solidFill>
          <a:ln w="12700">
            <a:solidFill>
              <a:srgbClr val="2A9D8F"/>
            </a:solidFill>
            <a:prstDash val="solid"/>
          </a:ln>
        </p:spPr>
      </p:sp>
      <p:sp>
        <p:nvSpPr>
          <p:cNvPr id="13" name="Shape 10"/>
          <p:cNvSpPr/>
          <p:nvPr/>
        </p:nvSpPr>
        <p:spPr>
          <a:xfrm>
            <a:off x="2143354"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4" name="Shape 11"/>
          <p:cNvSpPr/>
          <p:nvPr/>
        </p:nvSpPr>
        <p:spPr>
          <a:xfrm>
            <a:off x="2253082" y="1453896"/>
            <a:ext cx="420624" cy="420624"/>
          </a:xfrm>
          <a:prstGeom prst="ellipse">
            <a:avLst/>
          </a:prstGeom>
          <a:solidFill>
            <a:srgbClr val="1B6B63"/>
          </a:solidFill>
          <a:ln w="12700">
            <a:solidFill>
              <a:srgbClr val="1B6B63"/>
            </a:solidFill>
            <a:prstDash val="solid"/>
          </a:ln>
        </p:spPr>
      </p:sp>
      <p:pic>
        <p:nvPicPr>
          <p:cNvPr id="15" name="Image 1" descr="preencoded.png">    </p:cNvPr>
          <p:cNvPicPr>
            <a:picLocks noChangeAspect="1"/>
          </p:cNvPicPr>
          <p:nvPr/>
        </p:nvPicPr>
        <p:blipFill>
          <a:blip r:embed="rId2"/>
          <a:stretch>
            <a:fillRect/>
          </a:stretch>
        </p:blipFill>
        <p:spPr>
          <a:xfrm>
            <a:off x="2358238" y="1559052"/>
            <a:ext cx="210312" cy="210312"/>
          </a:xfrm>
          <a:prstGeom prst="rect">
            <a:avLst/>
          </a:prstGeom>
        </p:spPr>
      </p:pic>
      <p:sp>
        <p:nvSpPr>
          <p:cNvPr id="16" name="Text 12"/>
          <p:cNvSpPr txBox="1"/>
          <p:nvPr/>
        </p:nvSpPr>
        <p:spPr>
          <a:xfrm>
            <a:off x="3299155"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2</a:t>
            </a:r>
            <a:endParaRPr lang="en-US" sz="1200" dirty="0"/>
          </a:p>
        </p:txBody>
      </p:sp>
      <p:sp>
        <p:nvSpPr>
          <p:cNvPr id="17" name="Text 13"/>
          <p:cNvSpPr txBox="1"/>
          <p:nvPr/>
        </p:nvSpPr>
        <p:spPr>
          <a:xfrm>
            <a:off x="2253082"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Verifies license</a:t>
            </a:r>
            <a:endParaRPr lang="en-US" sz="1150" dirty="0"/>
          </a:p>
        </p:txBody>
      </p:sp>
      <p:sp>
        <p:nvSpPr>
          <p:cNvPr id="18" name="Shape 14"/>
          <p:cNvSpPr/>
          <p:nvPr/>
        </p:nvSpPr>
        <p:spPr>
          <a:xfrm>
            <a:off x="2253082" y="2468880"/>
            <a:ext cx="980237" cy="237744"/>
          </a:xfrm>
          <a:prstGeom prst="roundRect">
            <a:avLst>
              <a:gd name="adj" fmla="val 50000"/>
            </a:avLst>
          </a:prstGeom>
          <a:solidFill>
            <a:srgbClr val="E6F4F1"/>
          </a:solidFill>
          <a:ln w="12700">
            <a:solidFill>
              <a:srgbClr val="E6F4F1"/>
            </a:solidFill>
            <a:prstDash val="solid"/>
          </a:ln>
        </p:spPr>
      </p:sp>
      <p:sp>
        <p:nvSpPr>
          <p:cNvPr id="19" name="Text 15"/>
          <p:cNvSpPr txBox="1"/>
          <p:nvPr/>
        </p:nvSpPr>
        <p:spPr>
          <a:xfrm>
            <a:off x="2253082" y="2468880"/>
            <a:ext cx="98023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Credentialing</a:t>
            </a:r>
            <a:endParaRPr lang="en-US" sz="850" dirty="0"/>
          </a:p>
        </p:txBody>
      </p:sp>
      <p:sp>
        <p:nvSpPr>
          <p:cNvPr id="20" name="Text 16"/>
          <p:cNvSpPr txBox="1"/>
          <p:nvPr/>
        </p:nvSpPr>
        <p:spPr>
          <a:xfrm>
            <a:off x="2253082"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Checked and verified before she can take consults</a:t>
            </a:r>
            <a:endParaRPr lang="en-US" sz="950" dirty="0"/>
          </a:p>
        </p:txBody>
      </p:sp>
      <p:sp>
        <p:nvSpPr>
          <p:cNvPr id="21" name="Shape 17"/>
          <p:cNvSpPr/>
          <p:nvPr/>
        </p:nvSpPr>
        <p:spPr>
          <a:xfrm>
            <a:off x="3646627" y="2464308"/>
            <a:ext cx="164592" cy="237744"/>
          </a:xfrm>
          <a:prstGeom prst="rightArrow">
            <a:avLst/>
          </a:prstGeom>
          <a:solidFill>
            <a:srgbClr val="2A9D8F"/>
          </a:solidFill>
          <a:ln w="12700">
            <a:solidFill>
              <a:srgbClr val="2A9D8F"/>
            </a:solidFill>
            <a:prstDash val="solid"/>
          </a:ln>
        </p:spPr>
      </p:sp>
      <p:sp>
        <p:nvSpPr>
          <p:cNvPr id="22" name="Shape 18"/>
          <p:cNvSpPr/>
          <p:nvPr/>
        </p:nvSpPr>
        <p:spPr>
          <a:xfrm>
            <a:off x="3829507"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3" name="Shape 19"/>
          <p:cNvSpPr/>
          <p:nvPr/>
        </p:nvSpPr>
        <p:spPr>
          <a:xfrm>
            <a:off x="3939235" y="1453896"/>
            <a:ext cx="420624" cy="420624"/>
          </a:xfrm>
          <a:prstGeom prst="ellipse">
            <a:avLst/>
          </a:prstGeom>
          <a:solidFill>
            <a:srgbClr val="1B6B63"/>
          </a:solidFill>
          <a:ln w="12700">
            <a:solidFill>
              <a:srgbClr val="1B6B63"/>
            </a:solidFill>
            <a:prstDash val="solid"/>
          </a:ln>
        </p:spPr>
      </p:sp>
      <p:pic>
        <p:nvPicPr>
          <p:cNvPr id="24" name="Image 2" descr="preencoded.png">    </p:cNvPr>
          <p:cNvPicPr>
            <a:picLocks noChangeAspect="1"/>
          </p:cNvPicPr>
          <p:nvPr/>
        </p:nvPicPr>
        <p:blipFill>
          <a:blip r:embed="rId3"/>
          <a:stretch>
            <a:fillRect/>
          </a:stretch>
        </p:blipFill>
        <p:spPr>
          <a:xfrm>
            <a:off x="4044391" y="1559052"/>
            <a:ext cx="210312" cy="210312"/>
          </a:xfrm>
          <a:prstGeom prst="rect">
            <a:avLst/>
          </a:prstGeom>
        </p:spPr>
      </p:pic>
      <p:sp>
        <p:nvSpPr>
          <p:cNvPr id="25" name="Text 20"/>
          <p:cNvSpPr txBox="1"/>
          <p:nvPr/>
        </p:nvSpPr>
        <p:spPr>
          <a:xfrm>
            <a:off x="4985309"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3</a:t>
            </a:r>
            <a:endParaRPr lang="en-US" sz="1200" dirty="0"/>
          </a:p>
        </p:txBody>
      </p:sp>
      <p:sp>
        <p:nvSpPr>
          <p:cNvPr id="26" name="Text 21"/>
          <p:cNvSpPr txBox="1"/>
          <p:nvPr/>
        </p:nvSpPr>
        <p:spPr>
          <a:xfrm>
            <a:off x="3939235"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Checks flow</a:t>
            </a:r>
            <a:endParaRPr lang="en-US" sz="1150" dirty="0"/>
          </a:p>
        </p:txBody>
      </p:sp>
      <p:sp>
        <p:nvSpPr>
          <p:cNvPr id="27" name="Shape 22"/>
          <p:cNvSpPr/>
          <p:nvPr/>
        </p:nvSpPr>
        <p:spPr>
          <a:xfrm>
            <a:off x="3939235" y="2468880"/>
            <a:ext cx="804672" cy="237744"/>
          </a:xfrm>
          <a:prstGeom prst="roundRect">
            <a:avLst>
              <a:gd name="adj" fmla="val 50000"/>
            </a:avLst>
          </a:prstGeom>
          <a:solidFill>
            <a:srgbClr val="E6F4F1"/>
          </a:solidFill>
          <a:ln w="12700">
            <a:solidFill>
              <a:srgbClr val="E6F4F1"/>
            </a:solidFill>
            <a:prstDash val="solid"/>
          </a:ln>
        </p:spPr>
      </p:sp>
      <p:sp>
        <p:nvSpPr>
          <p:cNvPr id="28" name="Text 23"/>
          <p:cNvSpPr txBox="1"/>
          <p:nvPr/>
        </p:nvSpPr>
        <p:spPr>
          <a:xfrm>
            <a:off x="3939235" y="2468880"/>
            <a:ext cx="80467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Operations</a:t>
            </a:r>
            <a:endParaRPr lang="en-US" sz="850" dirty="0"/>
          </a:p>
        </p:txBody>
      </p:sp>
      <p:sp>
        <p:nvSpPr>
          <p:cNvPr id="29" name="Text 24"/>
          <p:cNvSpPr txBox="1"/>
          <p:nvPr/>
        </p:nvSpPr>
        <p:spPr>
          <a:xfrm>
            <a:off x="3939235"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Capacity, escalations; asks the Hospital Agent</a:t>
            </a:r>
            <a:endParaRPr lang="en-US" sz="950" dirty="0"/>
          </a:p>
        </p:txBody>
      </p:sp>
      <p:sp>
        <p:nvSpPr>
          <p:cNvPr id="30" name="Shape 25"/>
          <p:cNvSpPr/>
          <p:nvPr/>
        </p:nvSpPr>
        <p:spPr>
          <a:xfrm>
            <a:off x="5332781" y="2464308"/>
            <a:ext cx="164592" cy="237744"/>
          </a:xfrm>
          <a:prstGeom prst="rightArrow">
            <a:avLst/>
          </a:prstGeom>
          <a:solidFill>
            <a:srgbClr val="2A9D8F"/>
          </a:solidFill>
          <a:ln w="12700">
            <a:solidFill>
              <a:srgbClr val="2A9D8F"/>
            </a:solidFill>
            <a:prstDash val="solid"/>
          </a:ln>
        </p:spPr>
      </p:sp>
      <p:sp>
        <p:nvSpPr>
          <p:cNvPr id="31" name="Shape 26"/>
          <p:cNvSpPr/>
          <p:nvPr/>
        </p:nvSpPr>
        <p:spPr>
          <a:xfrm>
            <a:off x="5515661"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2" name="Shape 27"/>
          <p:cNvSpPr/>
          <p:nvPr/>
        </p:nvSpPr>
        <p:spPr>
          <a:xfrm>
            <a:off x="5625389" y="1453896"/>
            <a:ext cx="420624" cy="420624"/>
          </a:xfrm>
          <a:prstGeom prst="ellipse">
            <a:avLst/>
          </a:prstGeom>
          <a:solidFill>
            <a:srgbClr val="1B6B63"/>
          </a:solidFill>
          <a:ln w="12700">
            <a:solidFill>
              <a:srgbClr val="1B6B63"/>
            </a:solidFill>
            <a:prstDash val="solid"/>
          </a:ln>
        </p:spPr>
      </p:sp>
      <p:pic>
        <p:nvPicPr>
          <p:cNvPr id="33" name="Image 3" descr="preencoded.png">    </p:cNvPr>
          <p:cNvPicPr>
            <a:picLocks noChangeAspect="1"/>
          </p:cNvPicPr>
          <p:nvPr/>
        </p:nvPicPr>
        <p:blipFill>
          <a:blip r:embed="rId4"/>
          <a:stretch>
            <a:fillRect/>
          </a:stretch>
        </p:blipFill>
        <p:spPr>
          <a:xfrm>
            <a:off x="5730545" y="1559052"/>
            <a:ext cx="210312" cy="210312"/>
          </a:xfrm>
          <a:prstGeom prst="rect">
            <a:avLst/>
          </a:prstGeom>
        </p:spPr>
      </p:pic>
      <p:sp>
        <p:nvSpPr>
          <p:cNvPr id="34" name="Text 28"/>
          <p:cNvSpPr txBox="1"/>
          <p:nvPr/>
        </p:nvSpPr>
        <p:spPr>
          <a:xfrm>
            <a:off x="6671462"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4</a:t>
            </a:r>
            <a:endParaRPr lang="en-US" sz="1200" dirty="0"/>
          </a:p>
        </p:txBody>
      </p:sp>
      <p:sp>
        <p:nvSpPr>
          <p:cNvPr id="35" name="Text 29"/>
          <p:cNvSpPr txBox="1"/>
          <p:nvPr/>
        </p:nvSpPr>
        <p:spPr>
          <a:xfrm>
            <a:off x="5625389"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Closes an elevator</a:t>
            </a:r>
            <a:endParaRPr lang="en-US" sz="1150" dirty="0"/>
          </a:p>
        </p:txBody>
      </p:sp>
      <p:sp>
        <p:nvSpPr>
          <p:cNvPr id="36" name="Shape 30"/>
          <p:cNvSpPr/>
          <p:nvPr/>
        </p:nvSpPr>
        <p:spPr>
          <a:xfrm>
            <a:off x="5625389" y="2468880"/>
            <a:ext cx="804672" cy="237744"/>
          </a:xfrm>
          <a:prstGeom prst="roundRect">
            <a:avLst>
              <a:gd name="adj" fmla="val 50000"/>
            </a:avLst>
          </a:prstGeom>
          <a:solidFill>
            <a:srgbClr val="E6F4F1"/>
          </a:solidFill>
          <a:ln w="12700">
            <a:solidFill>
              <a:srgbClr val="E6F4F1"/>
            </a:solidFill>
            <a:prstDash val="solid"/>
          </a:ln>
        </p:spPr>
      </p:sp>
      <p:sp>
        <p:nvSpPr>
          <p:cNvPr id="37" name="Text 31"/>
          <p:cNvSpPr txBox="1"/>
          <p:nvPr/>
        </p:nvSpPr>
        <p:spPr>
          <a:xfrm>
            <a:off x="5625389" y="2468880"/>
            <a:ext cx="80467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Wayfinding</a:t>
            </a:r>
            <a:endParaRPr lang="en-US" sz="850" dirty="0"/>
          </a:p>
        </p:txBody>
      </p:sp>
      <p:sp>
        <p:nvSpPr>
          <p:cNvPr id="38" name="Text 32"/>
          <p:cNvSpPr txBox="1"/>
          <p:nvPr/>
        </p:nvSpPr>
        <p:spPr>
          <a:xfrm>
            <a:off x="5625389"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Patient routes update at once, step-free paths kept</a:t>
            </a:r>
            <a:endParaRPr lang="en-US" sz="950" dirty="0"/>
          </a:p>
        </p:txBody>
      </p:sp>
      <p:sp>
        <p:nvSpPr>
          <p:cNvPr id="39" name="Shape 33"/>
          <p:cNvSpPr/>
          <p:nvPr/>
        </p:nvSpPr>
        <p:spPr>
          <a:xfrm>
            <a:off x="7018934" y="2464308"/>
            <a:ext cx="164592" cy="237744"/>
          </a:xfrm>
          <a:prstGeom prst="rightArrow">
            <a:avLst/>
          </a:prstGeom>
          <a:solidFill>
            <a:srgbClr val="2A9D8F"/>
          </a:solidFill>
          <a:ln w="12700">
            <a:solidFill>
              <a:srgbClr val="2A9D8F"/>
            </a:solidFill>
            <a:prstDash val="solid"/>
          </a:ln>
        </p:spPr>
      </p:sp>
      <p:sp>
        <p:nvSpPr>
          <p:cNvPr id="40" name="Shape 34"/>
          <p:cNvSpPr/>
          <p:nvPr/>
        </p:nvSpPr>
        <p:spPr>
          <a:xfrm>
            <a:off x="7201814" y="1325880"/>
            <a:ext cx="1484986" cy="2514600"/>
          </a:xfrm>
          <a:prstGeom prst="roundRect">
            <a:avLst>
              <a:gd name="adj" fmla="val 7389"/>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1" name="Shape 35"/>
          <p:cNvSpPr/>
          <p:nvPr/>
        </p:nvSpPr>
        <p:spPr>
          <a:xfrm>
            <a:off x="7311542" y="1453896"/>
            <a:ext cx="420624" cy="420624"/>
          </a:xfrm>
          <a:prstGeom prst="ellipse">
            <a:avLst/>
          </a:prstGeom>
          <a:solidFill>
            <a:srgbClr val="1B6B63"/>
          </a:solidFill>
          <a:ln w="12700">
            <a:solidFill>
              <a:srgbClr val="1B6B63"/>
            </a:solidFill>
            <a:prstDash val="solid"/>
          </a:ln>
        </p:spPr>
      </p:sp>
      <p:pic>
        <p:nvPicPr>
          <p:cNvPr id="42" name="Image 4" descr="preencoded.png">    </p:cNvPr>
          <p:cNvPicPr>
            <a:picLocks noChangeAspect="1"/>
          </p:cNvPicPr>
          <p:nvPr/>
        </p:nvPicPr>
        <p:blipFill>
          <a:blip r:embed="rId5"/>
          <a:stretch>
            <a:fillRect/>
          </a:stretch>
        </p:blipFill>
        <p:spPr>
          <a:xfrm>
            <a:off x="7416698" y="1559052"/>
            <a:ext cx="210312" cy="210312"/>
          </a:xfrm>
          <a:prstGeom prst="rect">
            <a:avLst/>
          </a:prstGeom>
        </p:spPr>
      </p:pic>
      <p:sp>
        <p:nvSpPr>
          <p:cNvPr id="43" name="Text 36"/>
          <p:cNvSpPr txBox="1"/>
          <p:nvPr/>
        </p:nvSpPr>
        <p:spPr>
          <a:xfrm>
            <a:off x="8357616" y="1453896"/>
            <a:ext cx="237744" cy="256032"/>
          </a:xfrm>
          <a:prstGeom prst="rect">
            <a:avLst/>
          </a:prstGeom>
          <a:noFill/>
          <a:ln/>
        </p:spPr>
        <p:txBody>
          <a:bodyPr wrap="square" lIns="0" tIns="0" rIns="0" bIns="0" rtlCol="0" anchor="t"/>
          <a:lstStyle/>
          <a:p>
            <a:pPr algn="r" indent="0" marL="0">
              <a:buNone/>
            </a:pPr>
            <a:r>
              <a:rPr lang="en-US" sz="1200" b="1" dirty="0">
                <a:solidFill>
                  <a:srgbClr val="2A9D8F"/>
                </a:solidFill>
                <a:latin typeface="Calibri" pitchFamily="34" charset="0"/>
                <a:ea typeface="Calibri" pitchFamily="34" charset="-122"/>
                <a:cs typeface="Calibri" pitchFamily="34" charset="-120"/>
              </a:rPr>
              <a:t>5</a:t>
            </a:r>
            <a:endParaRPr lang="en-US" sz="1200" dirty="0"/>
          </a:p>
        </p:txBody>
      </p:sp>
      <p:sp>
        <p:nvSpPr>
          <p:cNvPr id="44" name="Text 37"/>
          <p:cNvSpPr txBox="1"/>
          <p:nvPr/>
        </p:nvSpPr>
        <p:spPr>
          <a:xfrm>
            <a:off x="7311542" y="1965960"/>
            <a:ext cx="1302106" cy="475488"/>
          </a:xfrm>
          <a:prstGeom prst="rect">
            <a:avLst/>
          </a:prstGeom>
          <a:noFill/>
          <a:ln/>
        </p:spPr>
        <p:txBody>
          <a:bodyPr wrap="square" lIns="0" tIns="0" rIns="0" bIns="0" rtlCol="0" anchor="t"/>
          <a:lstStyle/>
          <a:p>
            <a:pPr indent="0" marL="0">
              <a:buNone/>
            </a:pPr>
            <a:r>
              <a:rPr lang="en-US" sz="1150" b="1" dirty="0">
                <a:solidFill>
                  <a:srgbClr val="111827"/>
                </a:solidFill>
                <a:latin typeface="Calibri" pitchFamily="34" charset="0"/>
                <a:ea typeface="Calibri" pitchFamily="34" charset="-122"/>
                <a:cs typeface="Calibri" pitchFamily="34" charset="-120"/>
              </a:rPr>
              <a:t>Reviews AI</a:t>
            </a:r>
            <a:endParaRPr lang="en-US" sz="1150" dirty="0"/>
          </a:p>
        </p:txBody>
      </p:sp>
      <p:sp>
        <p:nvSpPr>
          <p:cNvPr id="45" name="Shape 38"/>
          <p:cNvSpPr/>
          <p:nvPr/>
        </p:nvSpPr>
        <p:spPr>
          <a:xfrm>
            <a:off x="7311542" y="2468880"/>
            <a:ext cx="980237" cy="237744"/>
          </a:xfrm>
          <a:prstGeom prst="roundRect">
            <a:avLst>
              <a:gd name="adj" fmla="val 50000"/>
            </a:avLst>
          </a:prstGeom>
          <a:solidFill>
            <a:srgbClr val="E6F4F1"/>
          </a:solidFill>
          <a:ln w="12700">
            <a:solidFill>
              <a:srgbClr val="E6F4F1"/>
            </a:solidFill>
            <a:prstDash val="solid"/>
          </a:ln>
        </p:spPr>
      </p:sp>
      <p:sp>
        <p:nvSpPr>
          <p:cNvPr id="46" name="Text 39"/>
          <p:cNvSpPr txBox="1"/>
          <p:nvPr/>
        </p:nvSpPr>
        <p:spPr>
          <a:xfrm>
            <a:off x="7311542" y="2468880"/>
            <a:ext cx="980237"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AI governance</a:t>
            </a:r>
            <a:endParaRPr lang="en-US" sz="850" dirty="0"/>
          </a:p>
        </p:txBody>
      </p:sp>
      <p:sp>
        <p:nvSpPr>
          <p:cNvPr id="47" name="Text 40"/>
          <p:cNvSpPr txBox="1"/>
          <p:nvPr/>
        </p:nvSpPr>
        <p:spPr>
          <a:xfrm>
            <a:off x="7311542" y="2788920"/>
            <a:ext cx="1302106" cy="996696"/>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Emergency-screening evaluations and agent activity</a:t>
            </a:r>
            <a:endParaRPr lang="en-US" sz="950" dirty="0"/>
          </a:p>
        </p:txBody>
      </p:sp>
      <p:sp>
        <p:nvSpPr>
          <p:cNvPr id="48" name="Shape 41"/>
          <p:cNvSpPr/>
          <p:nvPr/>
        </p:nvSpPr>
        <p:spPr>
          <a:xfrm>
            <a:off x="457200" y="4023360"/>
            <a:ext cx="8229600" cy="685800"/>
          </a:xfrm>
          <a:prstGeom prst="roundRect">
            <a:avLst>
              <a:gd name="adj" fmla="val 16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9" name="Shape 42"/>
          <p:cNvSpPr/>
          <p:nvPr/>
        </p:nvSpPr>
        <p:spPr>
          <a:xfrm>
            <a:off x="594360" y="4133088"/>
            <a:ext cx="457200" cy="457200"/>
          </a:xfrm>
          <a:prstGeom prst="ellipse">
            <a:avLst/>
          </a:prstGeom>
          <a:solidFill>
            <a:srgbClr val="15803D"/>
          </a:solidFill>
          <a:ln w="12700">
            <a:solidFill>
              <a:srgbClr val="15803D"/>
            </a:solidFill>
            <a:prstDash val="solid"/>
          </a:ln>
        </p:spPr>
      </p:sp>
      <p:pic>
        <p:nvPicPr>
          <p:cNvPr id="50" name="Image 5" descr="preencoded.png">    </p:cNvPr>
          <p:cNvPicPr>
            <a:picLocks noChangeAspect="1"/>
          </p:cNvPicPr>
          <p:nvPr/>
        </p:nvPicPr>
        <p:blipFill>
          <a:blip r:embed="rId6"/>
          <a:stretch>
            <a:fillRect/>
          </a:stretch>
        </p:blipFill>
        <p:spPr>
          <a:xfrm>
            <a:off x="708660" y="4247388"/>
            <a:ext cx="228600" cy="228600"/>
          </a:xfrm>
          <a:prstGeom prst="rect">
            <a:avLst/>
          </a:prstGeom>
        </p:spPr>
      </p:pic>
      <p:sp>
        <p:nvSpPr>
          <p:cNvPr id="51" name="Text 43"/>
          <p:cNvSpPr txBox="1"/>
          <p:nvPr/>
        </p:nvSpPr>
        <p:spPr>
          <a:xfrm>
            <a:off x="1188720" y="4050792"/>
            <a:ext cx="7360920" cy="630936"/>
          </a:xfrm>
          <a:prstGeom prst="rect">
            <a:avLst/>
          </a:prstGeom>
          <a:noFill/>
          <a:ln/>
        </p:spPr>
        <p:txBody>
          <a:bodyPr wrap="square" lIns="0" tIns="0" rIns="0" bIns="0" rtlCol="0" anchor="ctr"/>
          <a:lstStyle/>
          <a:p>
            <a:pPr indent="0" marL="0">
              <a:buNone/>
            </a:pPr>
            <a:r>
              <a:rPr lang="en-US" sz="1250" b="1" dirty="0">
                <a:solidFill>
                  <a:srgbClr val="15803D"/>
                </a:solidFill>
                <a:latin typeface="Calibri" pitchFamily="34" charset="0"/>
                <a:ea typeface="Calibri" pitchFamily="34" charset="-122"/>
                <a:cs typeface="Calibri" pitchFamily="34" charset="-120"/>
              </a:rPr>
              <a:t>Outcome  </a:t>
            </a:r>
            <a:pPr indent="0" marL="0">
              <a:buNone/>
            </a:pPr>
            <a:r>
              <a:rPr lang="en-US" sz="1250" dirty="0">
                <a:solidFill>
                  <a:srgbClr val="134E4A"/>
                </a:solidFill>
                <a:latin typeface="Calibri" pitchFamily="34" charset="0"/>
                <a:ea typeface="Calibri" pitchFamily="34" charset="-122"/>
                <a:cs typeface="Calibri" pitchFamily="34" charset="-120"/>
              </a:rPr>
              <a:t>Access, operations, revenue and AI oversight in one audited place, with no tickets and no spreadsheets.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Priya: learning from real cases</a:t>
            </a:r>
            <a:endParaRPr lang="en-US" sz="2800" dirty="0"/>
          </a:p>
        </p:txBody>
      </p:sp>
      <p:sp>
        <p:nvSpPr>
          <p:cNvPr id="3" name="Shape 1"/>
          <p:cNvSpPr/>
          <p:nvPr/>
        </p:nvSpPr>
        <p:spPr>
          <a:xfrm>
            <a:off x="457200" y="960120"/>
            <a:ext cx="8229600" cy="731520"/>
          </a:xfrm>
          <a:prstGeom prst="roundRect">
            <a:avLst>
              <a:gd name="adj" fmla="val 15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4" name="Shape 2"/>
          <p:cNvSpPr/>
          <p:nvPr/>
        </p:nvSpPr>
        <p:spPr>
          <a:xfrm>
            <a:off x="594360" y="1024128"/>
            <a:ext cx="603504" cy="603504"/>
          </a:xfrm>
          <a:prstGeom prst="ellipse">
            <a:avLst/>
          </a:prstGeom>
          <a:solidFill>
            <a:srgbClr val="BE185D"/>
          </a:solidFill>
          <a:ln w="25400">
            <a:solidFill>
              <a:srgbClr val="FFFFFF"/>
            </a:solidFill>
            <a:prstDash val="solid"/>
          </a:ln>
        </p:spPr>
      </p:sp>
      <p:sp>
        <p:nvSpPr>
          <p:cNvPr id="5" name="Text 3"/>
          <p:cNvSpPr txBox="1"/>
          <p:nvPr/>
        </p:nvSpPr>
        <p:spPr>
          <a:xfrm>
            <a:off x="594360" y="1024128"/>
            <a:ext cx="603504" cy="603504"/>
          </a:xfrm>
          <a:prstGeom prst="rect">
            <a:avLst/>
          </a:prstGeom>
          <a:noFill/>
          <a:ln/>
        </p:spPr>
        <p:txBody>
          <a:bodyPr wrap="square" lIns="0" tIns="0" rIns="0" bIns="0" rtlCol="0" anchor="ctr"/>
          <a:lstStyle/>
          <a:p>
            <a:pPr algn="ctr" indent="0" marL="0">
              <a:buNone/>
            </a:pPr>
            <a:r>
              <a:rPr lang="en-US" sz="1452" b="1" dirty="0">
                <a:solidFill>
                  <a:srgbClr val="FFFFFF"/>
                </a:solidFill>
                <a:latin typeface="Calibri" pitchFamily="34" charset="0"/>
                <a:ea typeface="Calibri" pitchFamily="34" charset="-122"/>
                <a:cs typeface="Calibri" pitchFamily="34" charset="-120"/>
              </a:rPr>
              <a:t>PR</a:t>
            </a:r>
            <a:endParaRPr lang="en-US" sz="1452" dirty="0"/>
          </a:p>
        </p:txBody>
      </p:sp>
      <p:sp>
        <p:nvSpPr>
          <p:cNvPr id="6" name="Text 4"/>
          <p:cNvSpPr txBox="1"/>
          <p:nvPr/>
        </p:nvSpPr>
        <p:spPr>
          <a:xfrm>
            <a:off x="1325880" y="1005840"/>
            <a:ext cx="7223760" cy="64008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Medical student</a:t>
            </a:r>
            <a:pPr indent="0" marL="0">
              <a:buNone/>
            </a:pPr>
            <a:r>
              <a:rPr lang="en-US" sz="1150" dirty="0">
                <a:solidFill>
                  <a:srgbClr val="4B5563"/>
                </a:solidFill>
                <a:latin typeface="Calibri" pitchFamily="34" charset="0"/>
                <a:ea typeface="Calibri" pitchFamily="34" charset="-122"/>
                <a:cs typeface="Calibri" pitchFamily="34" charset="-120"/>
              </a:rPr>
              <a:t>   Goal: Practice clinical reasoning on real-world cases without touching patient records</a:t>
            </a:r>
            <a:endParaRPr lang="en-US" sz="1150" dirty="0"/>
          </a:p>
        </p:txBody>
      </p:sp>
      <p:sp>
        <p:nvSpPr>
          <p:cNvPr id="7" name="Shape 5"/>
          <p:cNvSpPr/>
          <p:nvPr/>
        </p:nvSpPr>
        <p:spPr>
          <a:xfrm>
            <a:off x="45720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8" name="Shape 6"/>
          <p:cNvSpPr/>
          <p:nvPr/>
        </p:nvSpPr>
        <p:spPr>
          <a:xfrm>
            <a:off x="585216" y="1956816"/>
            <a:ext cx="420624" cy="420624"/>
          </a:xfrm>
          <a:prstGeom prst="ellipse">
            <a:avLst/>
          </a:prstGeom>
          <a:solidFill>
            <a:srgbClr val="1B6B63"/>
          </a:solidFill>
          <a:ln w="12700">
            <a:solidFill>
              <a:srgbClr val="1B6B63"/>
            </a:solidFill>
            <a:prstDash val="solid"/>
          </a:ln>
        </p:spPr>
      </p:sp>
      <p:pic>
        <p:nvPicPr>
          <p:cNvPr id="9" name="Image 0" descr="preencoded.png">    </p:cNvPr>
          <p:cNvPicPr>
            <a:picLocks noChangeAspect="1"/>
          </p:cNvPicPr>
          <p:nvPr/>
        </p:nvPicPr>
        <p:blipFill>
          <a:blip r:embed="rId1"/>
          <a:stretch>
            <a:fillRect/>
          </a:stretch>
        </p:blipFill>
        <p:spPr>
          <a:xfrm>
            <a:off x="690372" y="2061972"/>
            <a:ext cx="210312" cy="210312"/>
          </a:xfrm>
          <a:prstGeom prst="rect">
            <a:avLst/>
          </a:prstGeom>
        </p:spPr>
      </p:pic>
      <p:sp>
        <p:nvSpPr>
          <p:cNvPr id="10" name="Text 7"/>
          <p:cNvSpPr txBox="1"/>
          <p:nvPr/>
        </p:nvSpPr>
        <p:spPr>
          <a:xfrm>
            <a:off x="111556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De-identified cases</a:t>
            </a:r>
            <a:endParaRPr lang="en-US" sz="1150" dirty="0"/>
          </a:p>
        </p:txBody>
      </p:sp>
      <p:sp>
        <p:nvSpPr>
          <p:cNvPr id="11" name="Text 8"/>
          <p:cNvSpPr txBox="1"/>
          <p:nvPr/>
        </p:nvSpPr>
        <p:spPr>
          <a:xfrm>
            <a:off x="58521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Built from real records with names, dates and identifiers removed</a:t>
            </a:r>
            <a:endParaRPr lang="en-US" sz="950" dirty="0"/>
          </a:p>
        </p:txBody>
      </p:sp>
      <p:sp>
        <p:nvSpPr>
          <p:cNvPr id="12" name="Shape 9"/>
          <p:cNvSpPr/>
          <p:nvPr/>
        </p:nvSpPr>
        <p:spPr>
          <a:xfrm>
            <a:off x="324612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3" name="Shape 10"/>
          <p:cNvSpPr/>
          <p:nvPr/>
        </p:nvSpPr>
        <p:spPr>
          <a:xfrm>
            <a:off x="3374136" y="1956816"/>
            <a:ext cx="420624" cy="420624"/>
          </a:xfrm>
          <a:prstGeom prst="ellipse">
            <a:avLst/>
          </a:prstGeom>
          <a:solidFill>
            <a:srgbClr val="1B6B63"/>
          </a:solidFill>
          <a:ln w="12700">
            <a:solidFill>
              <a:srgbClr val="1B6B63"/>
            </a:solidFill>
            <a:prstDash val="solid"/>
          </a:ln>
        </p:spPr>
      </p:sp>
      <p:pic>
        <p:nvPicPr>
          <p:cNvPr id="14" name="Image 1" descr="preencoded.png">    </p:cNvPr>
          <p:cNvPicPr>
            <a:picLocks noChangeAspect="1"/>
          </p:cNvPicPr>
          <p:nvPr/>
        </p:nvPicPr>
        <p:blipFill>
          <a:blip r:embed="rId2"/>
          <a:stretch>
            <a:fillRect/>
          </a:stretch>
        </p:blipFill>
        <p:spPr>
          <a:xfrm>
            <a:off x="3479292" y="2061972"/>
            <a:ext cx="210312" cy="210312"/>
          </a:xfrm>
          <a:prstGeom prst="rect">
            <a:avLst/>
          </a:prstGeom>
        </p:spPr>
      </p:pic>
      <p:sp>
        <p:nvSpPr>
          <p:cNvPr id="15" name="Text 11"/>
          <p:cNvSpPr txBox="1"/>
          <p:nvPr/>
        </p:nvSpPr>
        <p:spPr>
          <a:xfrm>
            <a:off x="390448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Socratic tutor</a:t>
            </a:r>
            <a:endParaRPr lang="en-US" sz="1150" dirty="0"/>
          </a:p>
        </p:txBody>
      </p:sp>
      <p:sp>
        <p:nvSpPr>
          <p:cNvPr id="16" name="Text 12"/>
          <p:cNvSpPr txBox="1"/>
          <p:nvPr/>
        </p:nvSpPr>
        <p:spPr>
          <a:xfrm>
            <a:off x="337413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Commit an answer, then the next findings are revealed</a:t>
            </a:r>
            <a:endParaRPr lang="en-US" sz="950" dirty="0"/>
          </a:p>
        </p:txBody>
      </p:sp>
      <p:sp>
        <p:nvSpPr>
          <p:cNvPr id="17" name="Shape 13"/>
          <p:cNvSpPr/>
          <p:nvPr/>
        </p:nvSpPr>
        <p:spPr>
          <a:xfrm>
            <a:off x="6035040" y="1828800"/>
            <a:ext cx="2651760" cy="1097280"/>
          </a:xfrm>
          <a:prstGeom prst="roundRect">
            <a:avLst>
              <a:gd name="adj" fmla="val 10000"/>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8" name="Shape 14"/>
          <p:cNvSpPr/>
          <p:nvPr/>
        </p:nvSpPr>
        <p:spPr>
          <a:xfrm>
            <a:off x="6163056" y="1956816"/>
            <a:ext cx="420624" cy="420624"/>
          </a:xfrm>
          <a:prstGeom prst="ellipse">
            <a:avLst/>
          </a:prstGeom>
          <a:solidFill>
            <a:srgbClr val="1B6B63"/>
          </a:solidFill>
          <a:ln w="12700">
            <a:solidFill>
              <a:srgbClr val="1B6B63"/>
            </a:solidFill>
            <a:prstDash val="solid"/>
          </a:ln>
        </p:spPr>
      </p:sp>
      <p:pic>
        <p:nvPicPr>
          <p:cNvPr id="19" name="Image 2" descr="preencoded.png">    </p:cNvPr>
          <p:cNvPicPr>
            <a:picLocks noChangeAspect="1"/>
          </p:cNvPicPr>
          <p:nvPr/>
        </p:nvPicPr>
        <p:blipFill>
          <a:blip r:embed="rId3"/>
          <a:stretch>
            <a:fillRect/>
          </a:stretch>
        </p:blipFill>
        <p:spPr>
          <a:xfrm>
            <a:off x="6268212" y="2061972"/>
            <a:ext cx="210312" cy="210312"/>
          </a:xfrm>
          <a:prstGeom prst="rect">
            <a:avLst/>
          </a:prstGeom>
        </p:spPr>
      </p:pic>
      <p:sp>
        <p:nvSpPr>
          <p:cNvPr id="20" name="Text 15"/>
          <p:cNvSpPr txBox="1"/>
          <p:nvPr/>
        </p:nvSpPr>
        <p:spPr>
          <a:xfrm>
            <a:off x="6693408" y="1938528"/>
            <a:ext cx="1901952" cy="4572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No patient access</a:t>
            </a:r>
            <a:endParaRPr lang="en-US" sz="1150" dirty="0"/>
          </a:p>
        </p:txBody>
      </p:sp>
      <p:sp>
        <p:nvSpPr>
          <p:cNvPr id="21" name="Text 16"/>
          <p:cNvSpPr txBox="1"/>
          <p:nvPr/>
        </p:nvSpPr>
        <p:spPr>
          <a:xfrm>
            <a:off x="6163056" y="2441448"/>
            <a:ext cx="2432304" cy="45720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Tested on every patient route: students are always refused</a:t>
            </a:r>
            <a:endParaRPr lang="en-US" sz="950" dirty="0"/>
          </a:p>
        </p:txBody>
      </p:sp>
      <p:sp>
        <p:nvSpPr>
          <p:cNvPr id="22" name="Text 17"/>
          <p:cNvSpPr txBox="1"/>
          <p:nvPr/>
        </p:nvSpPr>
        <p:spPr>
          <a:xfrm>
            <a:off x="457200" y="3035808"/>
            <a:ext cx="2743200" cy="274320"/>
          </a:xfrm>
          <a:prstGeom prst="rect">
            <a:avLst/>
          </a:prstGeom>
          <a:noFill/>
          <a:ln/>
        </p:spPr>
        <p:txBody>
          <a:bodyPr wrap="square" lIns="0" tIns="0" rIns="0" bIns="0" rtlCol="0" anchor="t"/>
          <a:lstStyle/>
          <a:p>
            <a:pPr indent="0" marL="0">
              <a:buNone/>
            </a:pPr>
            <a:r>
              <a:rPr lang="en-US" sz="1200" b="1" dirty="0">
                <a:solidFill>
                  <a:srgbClr val="134E4A"/>
                </a:solidFill>
                <a:latin typeface="Calibri" pitchFamily="34" charset="0"/>
                <a:ea typeface="Calibri" pitchFamily="34" charset="-122"/>
                <a:cs typeface="Calibri" pitchFamily="34" charset="-120"/>
              </a:rPr>
              <a:t>Journey</a:t>
            </a:r>
            <a:endParaRPr lang="en-US" sz="1200" dirty="0"/>
          </a:p>
        </p:txBody>
      </p:sp>
      <p:sp>
        <p:nvSpPr>
          <p:cNvPr id="23" name="Shape 18"/>
          <p:cNvSpPr/>
          <p:nvPr/>
        </p:nvSpPr>
        <p:spPr>
          <a:xfrm>
            <a:off x="457200"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24" name="Text 19"/>
          <p:cNvSpPr txBox="1"/>
          <p:nvPr/>
        </p:nvSpPr>
        <p:spPr>
          <a:xfrm>
            <a:off x="566928"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1  Picks a case</a:t>
            </a:r>
            <a:endParaRPr lang="en-US" sz="1050" dirty="0"/>
          </a:p>
        </p:txBody>
      </p:sp>
      <p:sp>
        <p:nvSpPr>
          <p:cNvPr id="25" name="Shape 20"/>
          <p:cNvSpPr/>
          <p:nvPr/>
        </p:nvSpPr>
        <p:spPr>
          <a:xfrm>
            <a:off x="566928" y="3867912"/>
            <a:ext cx="921715" cy="237744"/>
          </a:xfrm>
          <a:prstGeom prst="roundRect">
            <a:avLst>
              <a:gd name="adj" fmla="val 50000"/>
            </a:avLst>
          </a:prstGeom>
          <a:solidFill>
            <a:srgbClr val="FFFFFF"/>
          </a:solidFill>
          <a:ln w="12700">
            <a:solidFill>
              <a:srgbClr val="FFFFFF"/>
            </a:solidFill>
            <a:prstDash val="solid"/>
          </a:ln>
        </p:spPr>
      </p:sp>
      <p:sp>
        <p:nvSpPr>
          <p:cNvPr id="26" name="Text 21"/>
          <p:cNvSpPr txBox="1"/>
          <p:nvPr/>
        </p:nvSpPr>
        <p:spPr>
          <a:xfrm>
            <a:off x="566928" y="3867912"/>
            <a:ext cx="921715"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Case library</a:t>
            </a:r>
            <a:endParaRPr lang="en-US" sz="850" dirty="0"/>
          </a:p>
        </p:txBody>
      </p:sp>
      <p:sp>
        <p:nvSpPr>
          <p:cNvPr id="27" name="Text 22"/>
          <p:cNvSpPr txBox="1"/>
          <p:nvPr/>
        </p:nvSpPr>
        <p:spPr>
          <a:xfrm>
            <a:off x="566928"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 de-identified cardiology case</a:t>
            </a:r>
            <a:endParaRPr lang="en-US" sz="900" dirty="0"/>
          </a:p>
        </p:txBody>
      </p:sp>
      <p:sp>
        <p:nvSpPr>
          <p:cNvPr id="28" name="Shape 23"/>
          <p:cNvSpPr/>
          <p:nvPr/>
        </p:nvSpPr>
        <p:spPr>
          <a:xfrm>
            <a:off x="1960474" y="3904488"/>
            <a:ext cx="164592" cy="237744"/>
          </a:xfrm>
          <a:prstGeom prst="rightArrow">
            <a:avLst/>
          </a:prstGeom>
          <a:solidFill>
            <a:srgbClr val="2A9D8F"/>
          </a:solidFill>
          <a:ln w="12700">
            <a:solidFill>
              <a:srgbClr val="2A9D8F"/>
            </a:solidFill>
            <a:prstDash val="solid"/>
          </a:ln>
        </p:spPr>
      </p:sp>
      <p:sp>
        <p:nvSpPr>
          <p:cNvPr id="29" name="Shape 24"/>
          <p:cNvSpPr/>
          <p:nvPr/>
        </p:nvSpPr>
        <p:spPr>
          <a:xfrm>
            <a:off x="214335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0" name="Text 25"/>
          <p:cNvSpPr txBox="1"/>
          <p:nvPr/>
        </p:nvSpPr>
        <p:spPr>
          <a:xfrm>
            <a:off x="225308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2  Commits a differential</a:t>
            </a:r>
            <a:endParaRPr lang="en-US" sz="1050" dirty="0"/>
          </a:p>
        </p:txBody>
      </p:sp>
      <p:sp>
        <p:nvSpPr>
          <p:cNvPr id="31" name="Shape 26"/>
          <p:cNvSpPr/>
          <p:nvPr/>
        </p:nvSpPr>
        <p:spPr>
          <a:xfrm>
            <a:off x="2253082" y="3867912"/>
            <a:ext cx="512064" cy="237744"/>
          </a:xfrm>
          <a:prstGeom prst="roundRect">
            <a:avLst>
              <a:gd name="adj" fmla="val 50000"/>
            </a:avLst>
          </a:prstGeom>
          <a:solidFill>
            <a:srgbClr val="FFFFFF"/>
          </a:solidFill>
          <a:ln w="12700">
            <a:solidFill>
              <a:srgbClr val="FFFFFF"/>
            </a:solidFill>
            <a:prstDash val="solid"/>
          </a:ln>
        </p:spPr>
      </p:sp>
      <p:sp>
        <p:nvSpPr>
          <p:cNvPr id="32" name="Text 27"/>
          <p:cNvSpPr txBox="1"/>
          <p:nvPr/>
        </p:nvSpPr>
        <p:spPr>
          <a:xfrm>
            <a:off x="2253082" y="3867912"/>
            <a:ext cx="51206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Tutor</a:t>
            </a:r>
            <a:endParaRPr lang="en-US" sz="850" dirty="0"/>
          </a:p>
        </p:txBody>
      </p:sp>
      <p:sp>
        <p:nvSpPr>
          <p:cNvPr id="33" name="Text 28"/>
          <p:cNvSpPr txBox="1"/>
          <p:nvPr/>
        </p:nvSpPr>
        <p:spPr>
          <a:xfrm>
            <a:off x="225308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Before seeing the results</a:t>
            </a:r>
            <a:endParaRPr lang="en-US" sz="900" dirty="0"/>
          </a:p>
        </p:txBody>
      </p:sp>
      <p:sp>
        <p:nvSpPr>
          <p:cNvPr id="34" name="Shape 29"/>
          <p:cNvSpPr/>
          <p:nvPr/>
        </p:nvSpPr>
        <p:spPr>
          <a:xfrm>
            <a:off x="3646627" y="3904488"/>
            <a:ext cx="164592" cy="237744"/>
          </a:xfrm>
          <a:prstGeom prst="rightArrow">
            <a:avLst/>
          </a:prstGeom>
          <a:solidFill>
            <a:srgbClr val="2A9D8F"/>
          </a:solidFill>
          <a:ln w="12700">
            <a:solidFill>
              <a:srgbClr val="2A9D8F"/>
            </a:solidFill>
            <a:prstDash val="solid"/>
          </a:ln>
        </p:spPr>
      </p:sp>
      <p:sp>
        <p:nvSpPr>
          <p:cNvPr id="35" name="Shape 30"/>
          <p:cNvSpPr/>
          <p:nvPr/>
        </p:nvSpPr>
        <p:spPr>
          <a:xfrm>
            <a:off x="3829507"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36" name="Text 31"/>
          <p:cNvSpPr txBox="1"/>
          <p:nvPr/>
        </p:nvSpPr>
        <p:spPr>
          <a:xfrm>
            <a:off x="3939235"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3  Sees the next data</a:t>
            </a:r>
            <a:endParaRPr lang="en-US" sz="1050" dirty="0"/>
          </a:p>
        </p:txBody>
      </p:sp>
      <p:sp>
        <p:nvSpPr>
          <p:cNvPr id="37" name="Shape 32"/>
          <p:cNvSpPr/>
          <p:nvPr/>
        </p:nvSpPr>
        <p:spPr>
          <a:xfrm>
            <a:off x="3939235" y="3867912"/>
            <a:ext cx="512064" cy="237744"/>
          </a:xfrm>
          <a:prstGeom prst="roundRect">
            <a:avLst>
              <a:gd name="adj" fmla="val 50000"/>
            </a:avLst>
          </a:prstGeom>
          <a:solidFill>
            <a:srgbClr val="FFFFFF"/>
          </a:solidFill>
          <a:ln w="12700">
            <a:solidFill>
              <a:srgbClr val="FFFFFF"/>
            </a:solidFill>
            <a:prstDash val="solid"/>
          </a:ln>
        </p:spPr>
      </p:sp>
      <p:sp>
        <p:nvSpPr>
          <p:cNvPr id="38" name="Text 33"/>
          <p:cNvSpPr txBox="1"/>
          <p:nvPr/>
        </p:nvSpPr>
        <p:spPr>
          <a:xfrm>
            <a:off x="3939235" y="3867912"/>
            <a:ext cx="512064"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Tutor</a:t>
            </a:r>
            <a:endParaRPr lang="en-US" sz="850" dirty="0"/>
          </a:p>
        </p:txBody>
      </p:sp>
      <p:sp>
        <p:nvSpPr>
          <p:cNvPr id="39" name="Text 34"/>
          <p:cNvSpPr txBox="1"/>
          <p:nvPr/>
        </p:nvSpPr>
        <p:spPr>
          <a:xfrm>
            <a:off x="3939235"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Labs and ECG revealed with feedback</a:t>
            </a:r>
            <a:endParaRPr lang="en-US" sz="900" dirty="0"/>
          </a:p>
        </p:txBody>
      </p:sp>
      <p:sp>
        <p:nvSpPr>
          <p:cNvPr id="40" name="Shape 35"/>
          <p:cNvSpPr/>
          <p:nvPr/>
        </p:nvSpPr>
        <p:spPr>
          <a:xfrm>
            <a:off x="5332781" y="3904488"/>
            <a:ext cx="164592" cy="237744"/>
          </a:xfrm>
          <a:prstGeom prst="rightArrow">
            <a:avLst/>
          </a:prstGeom>
          <a:solidFill>
            <a:srgbClr val="2A9D8F"/>
          </a:solidFill>
          <a:ln w="12700">
            <a:solidFill>
              <a:srgbClr val="2A9D8F"/>
            </a:solidFill>
            <a:prstDash val="solid"/>
          </a:ln>
        </p:spPr>
      </p:sp>
      <p:sp>
        <p:nvSpPr>
          <p:cNvPr id="41" name="Shape 36"/>
          <p:cNvSpPr/>
          <p:nvPr/>
        </p:nvSpPr>
        <p:spPr>
          <a:xfrm>
            <a:off x="5515661"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2" name="Text 37"/>
          <p:cNvSpPr txBox="1"/>
          <p:nvPr/>
        </p:nvSpPr>
        <p:spPr>
          <a:xfrm>
            <a:off x="5625389"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4  Takes the quiz</a:t>
            </a:r>
            <a:endParaRPr lang="en-US" sz="1050" dirty="0"/>
          </a:p>
        </p:txBody>
      </p:sp>
      <p:sp>
        <p:nvSpPr>
          <p:cNvPr id="43" name="Shape 38"/>
          <p:cNvSpPr/>
          <p:nvPr/>
        </p:nvSpPr>
        <p:spPr>
          <a:xfrm>
            <a:off x="5625389" y="3867912"/>
            <a:ext cx="453542" cy="237744"/>
          </a:xfrm>
          <a:prstGeom prst="roundRect">
            <a:avLst>
              <a:gd name="adj" fmla="val 50000"/>
            </a:avLst>
          </a:prstGeom>
          <a:solidFill>
            <a:srgbClr val="FFFFFF"/>
          </a:solidFill>
          <a:ln w="12700">
            <a:solidFill>
              <a:srgbClr val="FFFFFF"/>
            </a:solidFill>
            <a:prstDash val="solid"/>
          </a:ln>
        </p:spPr>
      </p:sp>
      <p:sp>
        <p:nvSpPr>
          <p:cNvPr id="44" name="Text 39"/>
          <p:cNvSpPr txBox="1"/>
          <p:nvPr/>
        </p:nvSpPr>
        <p:spPr>
          <a:xfrm>
            <a:off x="5625389" y="3867912"/>
            <a:ext cx="453542"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Quiz</a:t>
            </a:r>
            <a:endParaRPr lang="en-US" sz="850" dirty="0"/>
          </a:p>
        </p:txBody>
      </p:sp>
      <p:sp>
        <p:nvSpPr>
          <p:cNvPr id="45" name="Text 40"/>
          <p:cNvSpPr txBox="1"/>
          <p:nvPr/>
        </p:nvSpPr>
        <p:spPr>
          <a:xfrm>
            <a:off x="5625389"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Questions from the case's own values</a:t>
            </a:r>
            <a:endParaRPr lang="en-US" sz="900" dirty="0"/>
          </a:p>
        </p:txBody>
      </p:sp>
      <p:sp>
        <p:nvSpPr>
          <p:cNvPr id="46" name="Shape 41"/>
          <p:cNvSpPr/>
          <p:nvPr/>
        </p:nvSpPr>
        <p:spPr>
          <a:xfrm>
            <a:off x="7018934" y="3904488"/>
            <a:ext cx="164592" cy="237744"/>
          </a:xfrm>
          <a:prstGeom prst="rightArrow">
            <a:avLst/>
          </a:prstGeom>
          <a:solidFill>
            <a:srgbClr val="2A9D8F"/>
          </a:solidFill>
          <a:ln w="12700">
            <a:solidFill>
              <a:srgbClr val="2A9D8F"/>
            </a:solidFill>
            <a:prstDash val="solid"/>
          </a:ln>
        </p:spPr>
      </p:sp>
      <p:sp>
        <p:nvSpPr>
          <p:cNvPr id="47" name="Shape 42"/>
          <p:cNvSpPr/>
          <p:nvPr/>
        </p:nvSpPr>
        <p:spPr>
          <a:xfrm>
            <a:off x="7201814" y="3337560"/>
            <a:ext cx="1484986" cy="1371600"/>
          </a:xfrm>
          <a:prstGeom prst="roundRect">
            <a:avLst>
              <a:gd name="adj" fmla="val 8000"/>
            </a:avLst>
          </a:prstGeom>
          <a:solidFill>
            <a:srgbClr val="E6F4F1"/>
          </a:solidFill>
          <a:ln w="9525">
            <a:solidFill>
              <a:srgbClr val="E6F4F1"/>
            </a:solidFill>
            <a:prstDash val="solid"/>
          </a:ln>
          <a:effectLst>
            <a:outerShdw sx="100000" sy="100000" kx="0" ky="0" algn="bl" rotWithShape="0" blurRad="76200" dist="19050" dir="5400000">
              <a:srgbClr val="000000">
                <a:alpha val="8000"/>
              </a:srgbClr>
            </a:outerShdw>
          </a:effectLst>
        </p:spPr>
      </p:sp>
      <p:sp>
        <p:nvSpPr>
          <p:cNvPr id="48" name="Text 43"/>
          <p:cNvSpPr txBox="1"/>
          <p:nvPr/>
        </p:nvSpPr>
        <p:spPr>
          <a:xfrm>
            <a:off x="7311542" y="3429000"/>
            <a:ext cx="1302106" cy="411480"/>
          </a:xfrm>
          <a:prstGeom prst="rect">
            <a:avLst/>
          </a:prstGeom>
          <a:noFill/>
          <a:ln/>
        </p:spPr>
        <p:txBody>
          <a:bodyPr wrap="square" lIns="0" tIns="0" rIns="0" bIns="0" rtlCol="0" anchor="t"/>
          <a:lstStyle/>
          <a:p>
            <a:pPr indent="0" marL="0">
              <a:buNone/>
            </a:pPr>
            <a:r>
              <a:rPr lang="en-US" sz="1050" b="1" dirty="0">
                <a:solidFill>
                  <a:srgbClr val="134E4A"/>
                </a:solidFill>
                <a:latin typeface="Calibri" pitchFamily="34" charset="0"/>
                <a:ea typeface="Calibri" pitchFamily="34" charset="-122"/>
                <a:cs typeface="Calibri" pitchFamily="34" charset="-120"/>
              </a:rPr>
              <a:t>5  Checks evidence</a:t>
            </a:r>
            <a:endParaRPr lang="en-US" sz="1050" dirty="0"/>
          </a:p>
        </p:txBody>
      </p:sp>
      <p:sp>
        <p:nvSpPr>
          <p:cNvPr id="49" name="Shape 44"/>
          <p:cNvSpPr/>
          <p:nvPr/>
        </p:nvSpPr>
        <p:spPr>
          <a:xfrm>
            <a:off x="7311542" y="3867912"/>
            <a:ext cx="1097280" cy="237744"/>
          </a:xfrm>
          <a:prstGeom prst="roundRect">
            <a:avLst>
              <a:gd name="adj" fmla="val 50000"/>
            </a:avLst>
          </a:prstGeom>
          <a:solidFill>
            <a:srgbClr val="FFFFFF"/>
          </a:solidFill>
          <a:ln w="12700">
            <a:solidFill>
              <a:srgbClr val="FFFFFF"/>
            </a:solidFill>
            <a:prstDash val="solid"/>
          </a:ln>
        </p:spPr>
      </p:sp>
      <p:sp>
        <p:nvSpPr>
          <p:cNvPr id="50" name="Text 45"/>
          <p:cNvSpPr txBox="1"/>
          <p:nvPr/>
        </p:nvSpPr>
        <p:spPr>
          <a:xfrm>
            <a:off x="7311542" y="3867912"/>
            <a:ext cx="1097280" cy="237744"/>
          </a:xfrm>
          <a:prstGeom prst="rect">
            <a:avLst/>
          </a:prstGeom>
          <a:noFill/>
          <a:ln/>
        </p:spPr>
        <p:txBody>
          <a:bodyPr wrap="square" lIns="0" tIns="0" rIns="0" bIns="0" rtlCol="0" anchor="ctr"/>
          <a:lstStyle/>
          <a:p>
            <a:pPr algn="ctr" indent="0" marL="0">
              <a:buNone/>
            </a:pPr>
            <a:r>
              <a:rPr lang="en-US" sz="850" b="1" dirty="0">
                <a:solidFill>
                  <a:srgbClr val="134E4A"/>
                </a:solidFill>
                <a:latin typeface="Calibri" pitchFamily="34" charset="0"/>
                <a:ea typeface="Calibri" pitchFamily="34" charset="-122"/>
                <a:cs typeface="Calibri" pitchFamily="34" charset="-120"/>
              </a:rPr>
              <a:t>Evidence search</a:t>
            </a:r>
            <a:endParaRPr lang="en-US" sz="850" dirty="0"/>
          </a:p>
        </p:txBody>
      </p:sp>
      <p:sp>
        <p:nvSpPr>
          <p:cNvPr id="51" name="Text 46"/>
          <p:cNvSpPr txBox="1"/>
          <p:nvPr/>
        </p:nvSpPr>
        <p:spPr>
          <a:xfrm>
            <a:off x="7311542" y="4160520"/>
            <a:ext cx="1302106" cy="51206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Guidelines behind the answer</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One event, every persona in step</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Maya's high reading, seen from each side</a:t>
            </a:r>
            <a:endParaRPr lang="en-US" sz="1300" dirty="0"/>
          </a:p>
        </p:txBody>
      </p:sp>
      <p:sp>
        <p:nvSpPr>
          <p:cNvPr id="4" name="Shape 2"/>
          <p:cNvSpPr/>
          <p:nvPr/>
        </p:nvSpPr>
        <p:spPr>
          <a:xfrm>
            <a:off x="457200" y="1280160"/>
            <a:ext cx="8229600" cy="484632"/>
          </a:xfrm>
          <a:prstGeom prst="roundRect">
            <a:avLst>
              <a:gd name="adj" fmla="val 22642"/>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548640" y="1325880"/>
            <a:ext cx="393192" cy="393192"/>
          </a:xfrm>
          <a:prstGeom prst="ellipse">
            <a:avLst/>
          </a:prstGeom>
          <a:solidFill>
            <a:srgbClr val="1B6B63"/>
          </a:solidFill>
          <a:ln w="25400">
            <a:solidFill>
              <a:srgbClr val="FFFFFF"/>
            </a:solidFill>
            <a:prstDash val="solid"/>
          </a:ln>
        </p:spPr>
      </p:sp>
      <p:sp>
        <p:nvSpPr>
          <p:cNvPr id="6" name="Text 4"/>
          <p:cNvSpPr txBox="1"/>
          <p:nvPr/>
        </p:nvSpPr>
        <p:spPr>
          <a:xfrm>
            <a:off x="548640" y="1325880"/>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MT</a:t>
            </a:r>
            <a:endParaRPr lang="en-US" sz="946" dirty="0"/>
          </a:p>
        </p:txBody>
      </p:sp>
      <p:sp>
        <p:nvSpPr>
          <p:cNvPr id="7" name="Text 5"/>
          <p:cNvSpPr txBox="1"/>
          <p:nvPr/>
        </p:nvSpPr>
        <p:spPr>
          <a:xfrm>
            <a:off x="1051560" y="1316736"/>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Maya</a:t>
            </a:r>
            <a:endParaRPr lang="en-US" sz="1200" dirty="0"/>
          </a:p>
        </p:txBody>
      </p:sp>
      <p:sp>
        <p:nvSpPr>
          <p:cNvPr id="8" name="Text 6"/>
          <p:cNvSpPr txBox="1"/>
          <p:nvPr/>
        </p:nvSpPr>
        <p:spPr>
          <a:xfrm>
            <a:off x="2514600" y="1316736"/>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Snaps 186/121 · sees safety guidance · books a video consult · gets medicine and reminders</a:t>
            </a:r>
            <a:endParaRPr lang="en-US" sz="1100" dirty="0"/>
          </a:p>
        </p:txBody>
      </p:sp>
      <p:sp>
        <p:nvSpPr>
          <p:cNvPr id="9" name="Shape 7"/>
          <p:cNvSpPr/>
          <p:nvPr/>
        </p:nvSpPr>
        <p:spPr>
          <a:xfrm>
            <a:off x="457200" y="1856232"/>
            <a:ext cx="8229600" cy="484632"/>
          </a:xfrm>
          <a:prstGeom prst="roundRect">
            <a:avLst>
              <a:gd name="adj" fmla="val 2264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10" name="Shape 8"/>
          <p:cNvSpPr/>
          <p:nvPr/>
        </p:nvSpPr>
        <p:spPr>
          <a:xfrm>
            <a:off x="548640" y="1901952"/>
            <a:ext cx="393192" cy="393192"/>
          </a:xfrm>
          <a:prstGeom prst="ellipse">
            <a:avLst/>
          </a:prstGeom>
          <a:solidFill>
            <a:srgbClr val="134E4A"/>
          </a:solidFill>
          <a:ln w="25400">
            <a:solidFill>
              <a:srgbClr val="FFFFFF"/>
            </a:solidFill>
            <a:prstDash val="solid"/>
          </a:ln>
        </p:spPr>
      </p:sp>
      <p:sp>
        <p:nvSpPr>
          <p:cNvPr id="11" name="Text 9"/>
          <p:cNvSpPr txBox="1"/>
          <p:nvPr/>
        </p:nvSpPr>
        <p:spPr>
          <a:xfrm>
            <a:off x="548640" y="1901952"/>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AO</a:t>
            </a:r>
            <a:endParaRPr lang="en-US" sz="946" dirty="0"/>
          </a:p>
        </p:txBody>
      </p:sp>
      <p:sp>
        <p:nvSpPr>
          <p:cNvPr id="12" name="Text 10"/>
          <p:cNvSpPr txBox="1"/>
          <p:nvPr/>
        </p:nvSpPr>
        <p:spPr>
          <a:xfrm>
            <a:off x="1051560" y="1892808"/>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Dr. Okafor</a:t>
            </a:r>
            <a:endParaRPr lang="en-US" sz="1200" dirty="0"/>
          </a:p>
        </p:txBody>
      </p:sp>
      <p:sp>
        <p:nvSpPr>
          <p:cNvPr id="13" name="Text 11"/>
          <p:cNvSpPr txBox="1"/>
          <p:nvPr/>
        </p:nvSpPr>
        <p:spPr>
          <a:xfrm>
            <a:off x="2514600" y="1892808"/>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Urgent item at the top of her queue · sets a monitoring plan · consults · prescribes</a:t>
            </a:r>
            <a:endParaRPr lang="en-US" sz="1100" dirty="0"/>
          </a:p>
        </p:txBody>
      </p:sp>
      <p:sp>
        <p:nvSpPr>
          <p:cNvPr id="14" name="Shape 12"/>
          <p:cNvSpPr/>
          <p:nvPr/>
        </p:nvSpPr>
        <p:spPr>
          <a:xfrm>
            <a:off x="457200" y="2432304"/>
            <a:ext cx="8229600" cy="484632"/>
          </a:xfrm>
          <a:prstGeom prst="roundRect">
            <a:avLst>
              <a:gd name="adj" fmla="val 22642"/>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15" name="Shape 13"/>
          <p:cNvSpPr/>
          <p:nvPr/>
        </p:nvSpPr>
        <p:spPr>
          <a:xfrm>
            <a:off x="548640" y="2478024"/>
            <a:ext cx="393192" cy="393192"/>
          </a:xfrm>
          <a:prstGeom prst="ellipse">
            <a:avLst/>
          </a:prstGeom>
          <a:solidFill>
            <a:srgbClr val="0F766E"/>
          </a:solidFill>
          <a:ln w="25400">
            <a:solidFill>
              <a:srgbClr val="FFFFFF"/>
            </a:solidFill>
            <a:prstDash val="solid"/>
          </a:ln>
        </p:spPr>
      </p:sp>
      <p:sp>
        <p:nvSpPr>
          <p:cNvPr id="16" name="Text 14"/>
          <p:cNvSpPr txBox="1"/>
          <p:nvPr/>
        </p:nvSpPr>
        <p:spPr>
          <a:xfrm>
            <a:off x="548640" y="2478024"/>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LM</a:t>
            </a:r>
            <a:endParaRPr lang="en-US" sz="946" dirty="0"/>
          </a:p>
        </p:txBody>
      </p:sp>
      <p:sp>
        <p:nvSpPr>
          <p:cNvPr id="17" name="Text 15"/>
          <p:cNvSpPr txBox="1"/>
          <p:nvPr/>
        </p:nvSpPr>
        <p:spPr>
          <a:xfrm>
            <a:off x="1051560" y="2468880"/>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Lena</a:t>
            </a:r>
            <a:endParaRPr lang="en-US" sz="1200" dirty="0"/>
          </a:p>
        </p:txBody>
      </p:sp>
      <p:sp>
        <p:nvSpPr>
          <p:cNvPr id="18" name="Text 16"/>
          <p:cNvSpPr txBox="1"/>
          <p:nvPr/>
        </p:nvSpPr>
        <p:spPr>
          <a:xfrm>
            <a:off x="2514600" y="2468880"/>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Verifies the new prescription · checks interactions and allergies · dispatches</a:t>
            </a:r>
            <a:endParaRPr lang="en-US" sz="1100" dirty="0"/>
          </a:p>
        </p:txBody>
      </p:sp>
      <p:sp>
        <p:nvSpPr>
          <p:cNvPr id="19" name="Shape 17"/>
          <p:cNvSpPr/>
          <p:nvPr/>
        </p:nvSpPr>
        <p:spPr>
          <a:xfrm>
            <a:off x="457200" y="3008376"/>
            <a:ext cx="8229600" cy="484632"/>
          </a:xfrm>
          <a:prstGeom prst="roundRect">
            <a:avLst>
              <a:gd name="adj" fmla="val 2264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20" name="Shape 18"/>
          <p:cNvSpPr/>
          <p:nvPr/>
        </p:nvSpPr>
        <p:spPr>
          <a:xfrm>
            <a:off x="548640" y="3054096"/>
            <a:ext cx="393192" cy="393192"/>
          </a:xfrm>
          <a:prstGeom prst="ellipse">
            <a:avLst/>
          </a:prstGeom>
          <a:solidFill>
            <a:srgbClr val="B45309"/>
          </a:solidFill>
          <a:ln w="25400">
            <a:solidFill>
              <a:srgbClr val="FFFFFF"/>
            </a:solidFill>
            <a:prstDash val="solid"/>
          </a:ln>
        </p:spPr>
      </p:sp>
      <p:sp>
        <p:nvSpPr>
          <p:cNvPr id="21" name="Text 19"/>
          <p:cNvSpPr txBox="1"/>
          <p:nvPr/>
        </p:nvSpPr>
        <p:spPr>
          <a:xfrm>
            <a:off x="548640" y="3054096"/>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FD</a:t>
            </a:r>
            <a:endParaRPr lang="en-US" sz="946" dirty="0"/>
          </a:p>
        </p:txBody>
      </p:sp>
      <p:sp>
        <p:nvSpPr>
          <p:cNvPr id="22" name="Text 20"/>
          <p:cNvSpPr txBox="1"/>
          <p:nvPr/>
        </p:nvSpPr>
        <p:spPr>
          <a:xfrm>
            <a:off x="1051560" y="3044952"/>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Front desk</a:t>
            </a:r>
            <a:endParaRPr lang="en-US" sz="1200" dirty="0"/>
          </a:p>
        </p:txBody>
      </p:sp>
      <p:sp>
        <p:nvSpPr>
          <p:cNvPr id="23" name="Text 21"/>
          <p:cNvSpPr txBox="1"/>
          <p:nvPr/>
        </p:nvSpPr>
        <p:spPr>
          <a:xfrm>
            <a:off x="2514600" y="3044952"/>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Eligibility confirmed before the follow-up visit · claim sent after it</a:t>
            </a:r>
            <a:endParaRPr lang="en-US" sz="1100" dirty="0"/>
          </a:p>
        </p:txBody>
      </p:sp>
      <p:sp>
        <p:nvSpPr>
          <p:cNvPr id="24" name="Shape 22"/>
          <p:cNvSpPr/>
          <p:nvPr/>
        </p:nvSpPr>
        <p:spPr>
          <a:xfrm>
            <a:off x="457200" y="3584448"/>
            <a:ext cx="8229600" cy="484632"/>
          </a:xfrm>
          <a:prstGeom prst="roundRect">
            <a:avLst>
              <a:gd name="adj" fmla="val 22642"/>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25" name="Shape 23"/>
          <p:cNvSpPr/>
          <p:nvPr/>
        </p:nvSpPr>
        <p:spPr>
          <a:xfrm>
            <a:off x="548640" y="3630168"/>
            <a:ext cx="393192" cy="393192"/>
          </a:xfrm>
          <a:prstGeom prst="ellipse">
            <a:avLst/>
          </a:prstGeom>
          <a:solidFill>
            <a:srgbClr val="0369A1"/>
          </a:solidFill>
          <a:ln w="25400">
            <a:solidFill>
              <a:srgbClr val="FFFFFF"/>
            </a:solidFill>
            <a:prstDash val="solid"/>
          </a:ln>
        </p:spPr>
      </p:sp>
      <p:sp>
        <p:nvSpPr>
          <p:cNvPr id="26" name="Text 24"/>
          <p:cNvSpPr txBox="1"/>
          <p:nvPr/>
        </p:nvSpPr>
        <p:spPr>
          <a:xfrm>
            <a:off x="548640" y="3630168"/>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DT</a:t>
            </a:r>
            <a:endParaRPr lang="en-US" sz="946" dirty="0"/>
          </a:p>
        </p:txBody>
      </p:sp>
      <p:sp>
        <p:nvSpPr>
          <p:cNvPr id="27" name="Text 25"/>
          <p:cNvSpPr txBox="1"/>
          <p:nvPr/>
        </p:nvSpPr>
        <p:spPr>
          <a:xfrm>
            <a:off x="1051560" y="3621024"/>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David</a:t>
            </a:r>
            <a:endParaRPr lang="en-US" sz="1200" dirty="0"/>
          </a:p>
        </p:txBody>
      </p:sp>
      <p:sp>
        <p:nvSpPr>
          <p:cNvPr id="28" name="Text 26"/>
          <p:cNvSpPr txBox="1"/>
          <p:nvPr/>
        </p:nvSpPr>
        <p:spPr>
          <a:xfrm>
            <a:off x="2514600" y="3621024"/>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Sees the new appointment and reminder that Maya shared with him</a:t>
            </a:r>
            <a:endParaRPr lang="en-US" sz="1100" dirty="0"/>
          </a:p>
        </p:txBody>
      </p:sp>
      <p:sp>
        <p:nvSpPr>
          <p:cNvPr id="29" name="Shape 27"/>
          <p:cNvSpPr/>
          <p:nvPr/>
        </p:nvSpPr>
        <p:spPr>
          <a:xfrm>
            <a:off x="457200" y="4160520"/>
            <a:ext cx="8229600" cy="484632"/>
          </a:xfrm>
          <a:prstGeom prst="roundRect">
            <a:avLst>
              <a:gd name="adj" fmla="val 22642"/>
            </a:avLst>
          </a:prstGeom>
          <a:solidFill>
            <a:srgbClr val="FFFFFF"/>
          </a:solidFill>
          <a:ln w="9525">
            <a:solidFill>
              <a:srgbClr val="E5E7EB"/>
            </a:solidFill>
            <a:prstDash val="solid"/>
          </a:ln>
          <a:effectLst>
            <a:outerShdw sx="100000" sy="100000" kx="0" ky="0" algn="bl" rotWithShape="0" blurRad="76200" dist="19050" dir="5400000">
              <a:srgbClr val="000000">
                <a:alpha val="8000"/>
              </a:srgbClr>
            </a:outerShdw>
          </a:effectLst>
        </p:spPr>
      </p:sp>
      <p:sp>
        <p:nvSpPr>
          <p:cNvPr id="30" name="Shape 28"/>
          <p:cNvSpPr/>
          <p:nvPr/>
        </p:nvSpPr>
        <p:spPr>
          <a:xfrm>
            <a:off x="548640" y="4206240"/>
            <a:ext cx="393192" cy="393192"/>
          </a:xfrm>
          <a:prstGeom prst="ellipse">
            <a:avLst/>
          </a:prstGeom>
          <a:solidFill>
            <a:srgbClr val="374151"/>
          </a:solidFill>
          <a:ln w="25400">
            <a:solidFill>
              <a:srgbClr val="FFFFFF"/>
            </a:solidFill>
            <a:prstDash val="solid"/>
          </a:ln>
        </p:spPr>
      </p:sp>
      <p:sp>
        <p:nvSpPr>
          <p:cNvPr id="31" name="Text 29"/>
          <p:cNvSpPr txBox="1"/>
          <p:nvPr/>
        </p:nvSpPr>
        <p:spPr>
          <a:xfrm>
            <a:off x="548640" y="4206240"/>
            <a:ext cx="393192" cy="393192"/>
          </a:xfrm>
          <a:prstGeom prst="rect">
            <a:avLst/>
          </a:prstGeom>
          <a:noFill/>
          <a:ln/>
        </p:spPr>
        <p:txBody>
          <a:bodyPr wrap="square" lIns="0" tIns="0" rIns="0" bIns="0" rtlCol="0" anchor="ctr"/>
          <a:lstStyle/>
          <a:p>
            <a:pPr algn="ctr" indent="0" marL="0">
              <a:buNone/>
            </a:pPr>
            <a:r>
              <a:rPr lang="en-US" sz="946" b="1" dirty="0">
                <a:solidFill>
                  <a:srgbClr val="FFFFFF"/>
                </a:solidFill>
                <a:latin typeface="Calibri" pitchFamily="34" charset="0"/>
                <a:ea typeface="Calibri" pitchFamily="34" charset="-122"/>
                <a:cs typeface="Calibri" pitchFamily="34" charset="-120"/>
              </a:rPr>
              <a:t>NO</a:t>
            </a:r>
            <a:endParaRPr lang="en-US" sz="946" dirty="0"/>
          </a:p>
        </p:txBody>
      </p:sp>
      <p:sp>
        <p:nvSpPr>
          <p:cNvPr id="32" name="Text 30"/>
          <p:cNvSpPr txBox="1"/>
          <p:nvPr/>
        </p:nvSpPr>
        <p:spPr>
          <a:xfrm>
            <a:off x="1051560" y="4197096"/>
            <a:ext cx="1463040" cy="4114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Administrators</a:t>
            </a:r>
            <a:endParaRPr lang="en-US" sz="1200" dirty="0"/>
          </a:p>
        </p:txBody>
      </p:sp>
      <p:sp>
        <p:nvSpPr>
          <p:cNvPr id="33" name="Text 31"/>
          <p:cNvSpPr txBox="1"/>
          <p:nvPr/>
        </p:nvSpPr>
        <p:spPr>
          <a:xfrm>
            <a:off x="2514600" y="4197096"/>
            <a:ext cx="6080760" cy="4114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Everything recorded in the audit trail · AI agents' activity visible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8"/>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Value, and how to measure it in a pilot</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Benefits to prove with your own data, not promises</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463040"/>
                <a:gridCol w="2926080"/>
                <a:gridCol w="3840480"/>
              </a:tblGrid>
              <a:tr h="40233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Persona</a:t>
                      </a:r>
                      <a:endParaRPr lang="en-US" sz="11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6B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value</a:t>
                      </a:r>
                      <a:endParaRPr lang="en-US" sz="11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6B6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Measure in a pilot</a:t>
                      </a:r>
                      <a:endParaRPr lang="en-US" sz="11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6B63"/>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Patients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Answers and care without phone tag</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Calls to the clinic, time to first answer, portal satisfaction</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Older patients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Independent use with safety checks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Share of senior-mode users completing tasks unaided</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Clinicians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Context first, urgent first, approve not draft</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Prep time per visit, time to act on critical readings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Pharmacists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Unsafe orders stopped early</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Interventions per 100 orders, callbacks, delivery on time</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Front desk</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Coverage verified before arrival</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Eligibility denials, check-in time, message backlog</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Administrators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Access, revenue and AI oversight in one place</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Onboarding time, claim first-pass rate, audit findings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F1"/>
                    </a:solidFill>
                  </a:tcPr>
                </a:tc>
              </a:tr>
              <a:tr h="402336">
                <a:tc>
                  <a:txBody>
                    <a:bodyPr/>
                    <a:lstStyle/>
                    <a:p>
                      <a:pPr indent="0" marL="0">
                        <a:buNone/>
                      </a:pPr>
                      <a:r>
                        <a:rPr lang="en-US" sz="1050" b="1" dirty="0">
                          <a:solidFill>
                            <a:srgbClr val="134E4A"/>
                          </a:solidFill>
                          <a:latin typeface="Calibri" pitchFamily="34" charset="0"/>
                          <a:ea typeface="Calibri" pitchFamily="34" charset="-122"/>
                          <a:cs typeface="Calibri" pitchFamily="34" charset="-120"/>
                        </a:rPr>
                        <a:t>Students</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Real-case practice without patient data</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Cases completed, quiz scores over time</a:t>
                      </a:r>
                      <a:endParaRPr lang="en-US" sz="1050" dirty="0">
                        <a:latin typeface="Calibri" charset="0"/>
                        <a:ea typeface="Calibri" charset="0"/>
                        <a:cs typeface="Calibri" charset="0"/>
                      </a:endParaRPr>
                    </a:p>
                  </a:txBody>
                  <a:tcPr marL="88900" marR="889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34E4A"/>
                </a:solidFill>
                <a:latin typeface="Calibri" pitchFamily="34" charset="0"/>
                <a:ea typeface="Calibri" pitchFamily="34" charset="-122"/>
                <a:cs typeface="Calibri" pitchFamily="34" charset="-120"/>
              </a:rPr>
              <a:t>What every persona can count on</a:t>
            </a:r>
            <a:endParaRPr lang="en-US" sz="2800" dirty="0"/>
          </a:p>
        </p:txBody>
      </p:sp>
      <p:sp>
        <p:nvSpPr>
          <p:cNvPr id="3" name="Text 1"/>
          <p:cNvSpPr txBox="1"/>
          <p:nvPr/>
        </p:nvSpPr>
        <p:spPr>
          <a:xfrm>
            <a:off x="457200" y="822960"/>
            <a:ext cx="8229600" cy="320040"/>
          </a:xfrm>
          <a:prstGeom prst="rect">
            <a:avLst/>
          </a:prstGeom>
          <a:noFill/>
          <a:ln/>
        </p:spPr>
        <p:txBody>
          <a:bodyPr wrap="square" lIns="0" tIns="0" rIns="0" bIns="0" rtlCol="0" anchor="t"/>
          <a:lstStyle/>
          <a:p>
            <a:pPr indent="0" marL="0">
              <a:buNone/>
            </a:pPr>
            <a:r>
              <a:rPr lang="en-US" sz="1300" dirty="0">
                <a:solidFill>
                  <a:srgbClr val="4B5563"/>
                </a:solidFill>
                <a:latin typeface="Calibri" pitchFamily="34" charset="0"/>
                <a:ea typeface="Calibri" pitchFamily="34" charset="-122"/>
                <a:cs typeface="Calibri" pitchFamily="34" charset="-120"/>
              </a:rPr>
              <a:t>Guardrails that don't depend on which AI model is running</a:t>
            </a:r>
            <a:endParaRPr lang="en-US" sz="1300" dirty="0"/>
          </a:p>
        </p:txBody>
      </p:sp>
      <p:sp>
        <p:nvSpPr>
          <p:cNvPr id="4" name="Shape 2"/>
          <p:cNvSpPr/>
          <p:nvPr/>
        </p:nvSpPr>
        <p:spPr>
          <a:xfrm>
            <a:off x="457200" y="132588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621792" y="1490472"/>
            <a:ext cx="502920" cy="502920"/>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747522" y="1616202"/>
            <a:ext cx="251460" cy="251460"/>
          </a:xfrm>
          <a:prstGeom prst="rect">
            <a:avLst/>
          </a:prstGeom>
        </p:spPr>
      </p:pic>
      <p:sp>
        <p:nvSpPr>
          <p:cNvPr id="7" name="Text 4"/>
          <p:cNvSpPr txBox="1"/>
          <p:nvPr/>
        </p:nvSpPr>
        <p:spPr>
          <a:xfrm>
            <a:off x="621792" y="210312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Emergencies first</a:t>
            </a:r>
            <a:endParaRPr lang="en-US" sz="1250" dirty="0"/>
          </a:p>
        </p:txBody>
      </p:sp>
      <p:sp>
        <p:nvSpPr>
          <p:cNvPr id="8" name="Text 5"/>
          <p:cNvSpPr txBox="1"/>
          <p:nvPr/>
        </p:nvSpPr>
        <p:spPr>
          <a:xfrm>
            <a:off x="621792" y="237744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Rules screen every patient message before any AI</a:t>
            </a:r>
            <a:endParaRPr lang="en-US" sz="1000" dirty="0"/>
          </a:p>
        </p:txBody>
      </p:sp>
      <p:sp>
        <p:nvSpPr>
          <p:cNvPr id="9" name="Shape 6"/>
          <p:cNvSpPr/>
          <p:nvPr/>
        </p:nvSpPr>
        <p:spPr>
          <a:xfrm>
            <a:off x="3246120" y="132588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10" name="Shape 7"/>
          <p:cNvSpPr/>
          <p:nvPr/>
        </p:nvSpPr>
        <p:spPr>
          <a:xfrm>
            <a:off x="3410712" y="1490472"/>
            <a:ext cx="502920" cy="502920"/>
          </a:xfrm>
          <a:prstGeom prst="ellipse">
            <a:avLst/>
          </a:prstGeom>
          <a:solidFill>
            <a:srgbClr val="1B6B63"/>
          </a:solidFill>
          <a:ln w="12700">
            <a:solidFill>
              <a:srgbClr val="1B6B63"/>
            </a:solidFill>
            <a:prstDash val="solid"/>
          </a:ln>
        </p:spPr>
      </p:sp>
      <p:pic>
        <p:nvPicPr>
          <p:cNvPr id="11" name="Image 1" descr="preencoded.png">    </p:cNvPr>
          <p:cNvPicPr>
            <a:picLocks noChangeAspect="1"/>
          </p:cNvPicPr>
          <p:nvPr/>
        </p:nvPicPr>
        <p:blipFill>
          <a:blip r:embed="rId2"/>
          <a:stretch>
            <a:fillRect/>
          </a:stretch>
        </p:blipFill>
        <p:spPr>
          <a:xfrm>
            <a:off x="3536442" y="1616202"/>
            <a:ext cx="251460" cy="251460"/>
          </a:xfrm>
          <a:prstGeom prst="rect">
            <a:avLst/>
          </a:prstGeom>
        </p:spPr>
      </p:pic>
      <p:sp>
        <p:nvSpPr>
          <p:cNvPr id="12" name="Text 8"/>
          <p:cNvSpPr txBox="1"/>
          <p:nvPr/>
        </p:nvSpPr>
        <p:spPr>
          <a:xfrm>
            <a:off x="3410712" y="210312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Clinicians decide</a:t>
            </a:r>
            <a:endParaRPr lang="en-US" sz="1250" dirty="0"/>
          </a:p>
        </p:txBody>
      </p:sp>
      <p:sp>
        <p:nvSpPr>
          <p:cNvPr id="13" name="Text 9"/>
          <p:cNvSpPr txBox="1"/>
          <p:nvPr/>
        </p:nvSpPr>
        <p:spPr>
          <a:xfrm>
            <a:off x="3410712" y="237744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Clinical content for patients is approved first</a:t>
            </a:r>
            <a:endParaRPr lang="en-US" sz="1000" dirty="0"/>
          </a:p>
        </p:txBody>
      </p:sp>
      <p:sp>
        <p:nvSpPr>
          <p:cNvPr id="14" name="Shape 10"/>
          <p:cNvSpPr/>
          <p:nvPr/>
        </p:nvSpPr>
        <p:spPr>
          <a:xfrm>
            <a:off x="6035040" y="132588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15" name="Shape 11"/>
          <p:cNvSpPr/>
          <p:nvPr/>
        </p:nvSpPr>
        <p:spPr>
          <a:xfrm>
            <a:off x="6199632" y="1490472"/>
            <a:ext cx="502920" cy="502920"/>
          </a:xfrm>
          <a:prstGeom prst="ellipse">
            <a:avLst/>
          </a:prstGeom>
          <a:solidFill>
            <a:srgbClr val="1B6B63"/>
          </a:solidFill>
          <a:ln w="12700">
            <a:solidFill>
              <a:srgbClr val="1B6B63"/>
            </a:solidFill>
            <a:prstDash val="solid"/>
          </a:ln>
        </p:spPr>
      </p:sp>
      <p:pic>
        <p:nvPicPr>
          <p:cNvPr id="16" name="Image 2" descr="preencoded.png">    </p:cNvPr>
          <p:cNvPicPr>
            <a:picLocks noChangeAspect="1"/>
          </p:cNvPicPr>
          <p:nvPr/>
        </p:nvPicPr>
        <p:blipFill>
          <a:blip r:embed="rId3"/>
          <a:stretch>
            <a:fillRect/>
          </a:stretch>
        </p:blipFill>
        <p:spPr>
          <a:xfrm>
            <a:off x="6325362" y="1616202"/>
            <a:ext cx="251460" cy="251460"/>
          </a:xfrm>
          <a:prstGeom prst="rect">
            <a:avLst/>
          </a:prstGeom>
        </p:spPr>
      </p:pic>
      <p:sp>
        <p:nvSpPr>
          <p:cNvPr id="17" name="Text 12"/>
          <p:cNvSpPr txBox="1"/>
          <p:nvPr/>
        </p:nvSpPr>
        <p:spPr>
          <a:xfrm>
            <a:off x="6199632" y="210312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Consent respected</a:t>
            </a:r>
            <a:endParaRPr lang="en-US" sz="1250" dirty="0"/>
          </a:p>
        </p:txBody>
      </p:sp>
      <p:sp>
        <p:nvSpPr>
          <p:cNvPr id="18" name="Text 13"/>
          <p:cNvSpPr txBox="1"/>
          <p:nvPr/>
        </p:nvSpPr>
        <p:spPr>
          <a:xfrm>
            <a:off x="6199632" y="237744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AI, research and caregiver access follow patient choices</a:t>
            </a:r>
            <a:endParaRPr lang="en-US" sz="1000" dirty="0"/>
          </a:p>
        </p:txBody>
      </p:sp>
      <p:sp>
        <p:nvSpPr>
          <p:cNvPr id="19" name="Shape 14"/>
          <p:cNvSpPr/>
          <p:nvPr/>
        </p:nvSpPr>
        <p:spPr>
          <a:xfrm>
            <a:off x="457200" y="297180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20" name="Shape 15"/>
          <p:cNvSpPr/>
          <p:nvPr/>
        </p:nvSpPr>
        <p:spPr>
          <a:xfrm>
            <a:off x="621792" y="3136392"/>
            <a:ext cx="502920" cy="502920"/>
          </a:xfrm>
          <a:prstGeom prst="ellipse">
            <a:avLst/>
          </a:prstGeom>
          <a:solidFill>
            <a:srgbClr val="1B6B63"/>
          </a:solidFill>
          <a:ln w="12700">
            <a:solidFill>
              <a:srgbClr val="1B6B63"/>
            </a:solidFill>
            <a:prstDash val="solid"/>
          </a:ln>
        </p:spPr>
      </p:sp>
      <p:pic>
        <p:nvPicPr>
          <p:cNvPr id="21" name="Image 3" descr="preencoded.png">    </p:cNvPr>
          <p:cNvPicPr>
            <a:picLocks noChangeAspect="1"/>
          </p:cNvPicPr>
          <p:nvPr/>
        </p:nvPicPr>
        <p:blipFill>
          <a:blip r:embed="rId4"/>
          <a:stretch>
            <a:fillRect/>
          </a:stretch>
        </p:blipFill>
        <p:spPr>
          <a:xfrm>
            <a:off x="747522" y="3262122"/>
            <a:ext cx="251460" cy="251460"/>
          </a:xfrm>
          <a:prstGeom prst="rect">
            <a:avLst/>
          </a:prstGeom>
        </p:spPr>
      </p:pic>
      <p:sp>
        <p:nvSpPr>
          <p:cNvPr id="22" name="Text 16"/>
          <p:cNvSpPr txBox="1"/>
          <p:nvPr/>
        </p:nvSpPr>
        <p:spPr>
          <a:xfrm>
            <a:off x="621792" y="374904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Single sign-on</a:t>
            </a:r>
            <a:endParaRPr lang="en-US" sz="1250" dirty="0"/>
          </a:p>
        </p:txBody>
      </p:sp>
      <p:sp>
        <p:nvSpPr>
          <p:cNvPr id="23" name="Text 17"/>
          <p:cNvSpPr txBox="1"/>
          <p:nvPr/>
        </p:nvSpPr>
        <p:spPr>
          <a:xfrm>
            <a:off x="621792" y="402336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Your organization's Microsoft Entra ID, Okta or Google account</a:t>
            </a:r>
            <a:endParaRPr lang="en-US" sz="1000" dirty="0"/>
          </a:p>
        </p:txBody>
      </p:sp>
      <p:sp>
        <p:nvSpPr>
          <p:cNvPr id="24" name="Shape 18"/>
          <p:cNvSpPr/>
          <p:nvPr/>
        </p:nvSpPr>
        <p:spPr>
          <a:xfrm>
            <a:off x="3246120" y="297180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25" name="Shape 19"/>
          <p:cNvSpPr/>
          <p:nvPr/>
        </p:nvSpPr>
        <p:spPr>
          <a:xfrm>
            <a:off x="3410712" y="3136392"/>
            <a:ext cx="502920" cy="502920"/>
          </a:xfrm>
          <a:prstGeom prst="ellipse">
            <a:avLst/>
          </a:prstGeom>
          <a:solidFill>
            <a:srgbClr val="1B6B63"/>
          </a:solidFill>
          <a:ln w="12700">
            <a:solidFill>
              <a:srgbClr val="1B6B63"/>
            </a:solidFill>
            <a:prstDash val="solid"/>
          </a:ln>
        </p:spPr>
      </p:sp>
      <p:pic>
        <p:nvPicPr>
          <p:cNvPr id="26" name="Image 4" descr="preencoded.png">    </p:cNvPr>
          <p:cNvPicPr>
            <a:picLocks noChangeAspect="1"/>
          </p:cNvPicPr>
          <p:nvPr/>
        </p:nvPicPr>
        <p:blipFill>
          <a:blip r:embed="rId5"/>
          <a:stretch>
            <a:fillRect/>
          </a:stretch>
        </p:blipFill>
        <p:spPr>
          <a:xfrm>
            <a:off x="3536442" y="3262122"/>
            <a:ext cx="251460" cy="251460"/>
          </a:xfrm>
          <a:prstGeom prst="rect">
            <a:avLst/>
          </a:prstGeom>
        </p:spPr>
      </p:pic>
      <p:sp>
        <p:nvSpPr>
          <p:cNvPr id="27" name="Text 20"/>
          <p:cNvSpPr txBox="1"/>
          <p:nvPr/>
        </p:nvSpPr>
        <p:spPr>
          <a:xfrm>
            <a:off x="3410712" y="374904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Everything audited</a:t>
            </a:r>
            <a:endParaRPr lang="en-US" sz="1250" dirty="0"/>
          </a:p>
        </p:txBody>
      </p:sp>
      <p:sp>
        <p:nvSpPr>
          <p:cNvPr id="28" name="Text 21"/>
          <p:cNvSpPr txBox="1"/>
          <p:nvPr/>
        </p:nvSpPr>
        <p:spPr>
          <a:xfrm>
            <a:off x="3410712" y="402336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Tamper-evident log of every read and change</a:t>
            </a:r>
            <a:endParaRPr lang="en-US" sz="1000" dirty="0"/>
          </a:p>
        </p:txBody>
      </p:sp>
      <p:sp>
        <p:nvSpPr>
          <p:cNvPr id="29" name="Shape 22"/>
          <p:cNvSpPr/>
          <p:nvPr/>
        </p:nvSpPr>
        <p:spPr>
          <a:xfrm>
            <a:off x="6035040" y="2971800"/>
            <a:ext cx="2651760" cy="1463040"/>
          </a:xfrm>
          <a:prstGeom prst="roundRect">
            <a:avLst>
              <a:gd name="adj" fmla="val 7500"/>
            </a:avLst>
          </a:prstGeom>
          <a:solidFill>
            <a:srgbClr val="F5F7F8"/>
          </a:solidFill>
          <a:ln w="9525">
            <a:solidFill>
              <a:srgbClr val="F5F7F8"/>
            </a:solidFill>
            <a:prstDash val="solid"/>
          </a:ln>
          <a:effectLst>
            <a:outerShdw sx="100000" sy="100000" kx="0" ky="0" algn="bl" rotWithShape="0" blurRad="76200" dist="19050" dir="5400000">
              <a:srgbClr val="000000">
                <a:alpha val="8000"/>
              </a:srgbClr>
            </a:outerShdw>
          </a:effectLst>
        </p:spPr>
      </p:sp>
      <p:sp>
        <p:nvSpPr>
          <p:cNvPr id="30" name="Shape 23"/>
          <p:cNvSpPr/>
          <p:nvPr/>
        </p:nvSpPr>
        <p:spPr>
          <a:xfrm>
            <a:off x="6199632" y="3136392"/>
            <a:ext cx="502920" cy="502920"/>
          </a:xfrm>
          <a:prstGeom prst="ellipse">
            <a:avLst/>
          </a:prstGeom>
          <a:solidFill>
            <a:srgbClr val="1B6B63"/>
          </a:solidFill>
          <a:ln w="12700">
            <a:solidFill>
              <a:srgbClr val="1B6B63"/>
            </a:solidFill>
            <a:prstDash val="solid"/>
          </a:ln>
        </p:spPr>
      </p:sp>
      <p:pic>
        <p:nvPicPr>
          <p:cNvPr id="31" name="Image 5" descr="preencoded.png">    </p:cNvPr>
          <p:cNvPicPr>
            <a:picLocks noChangeAspect="1"/>
          </p:cNvPicPr>
          <p:nvPr/>
        </p:nvPicPr>
        <p:blipFill>
          <a:blip r:embed="rId6"/>
          <a:stretch>
            <a:fillRect/>
          </a:stretch>
        </p:blipFill>
        <p:spPr>
          <a:xfrm>
            <a:off x="6325362" y="3262122"/>
            <a:ext cx="251460" cy="251460"/>
          </a:xfrm>
          <a:prstGeom prst="rect">
            <a:avLst/>
          </a:prstGeom>
        </p:spPr>
      </p:pic>
      <p:sp>
        <p:nvSpPr>
          <p:cNvPr id="32" name="Text 24"/>
          <p:cNvSpPr txBox="1"/>
          <p:nvPr/>
        </p:nvSpPr>
        <p:spPr>
          <a:xfrm>
            <a:off x="6199632" y="3749040"/>
            <a:ext cx="2377440" cy="292608"/>
          </a:xfrm>
          <a:prstGeom prst="rect">
            <a:avLst/>
          </a:prstGeom>
          <a:noFill/>
          <a:ln/>
        </p:spPr>
        <p:txBody>
          <a:bodyPr wrap="square" lIns="0" tIns="0" rIns="0" bIns="0" rtlCol="0" anchor="t"/>
          <a:lstStyle/>
          <a:p>
            <a:pPr indent="0" marL="0">
              <a:buNone/>
            </a:pPr>
            <a:r>
              <a:rPr lang="en-US" sz="1250" b="1" dirty="0">
                <a:solidFill>
                  <a:srgbClr val="111827"/>
                </a:solidFill>
                <a:latin typeface="Calibri" pitchFamily="34" charset="0"/>
                <a:ea typeface="Calibri" pitchFamily="34" charset="-122"/>
                <a:cs typeface="Calibri" pitchFamily="34" charset="-120"/>
              </a:rPr>
              <a:t>Medical AI, governed</a:t>
            </a:r>
            <a:endParaRPr lang="en-US" sz="1250" dirty="0"/>
          </a:p>
        </p:txBody>
      </p:sp>
      <p:sp>
        <p:nvSpPr>
          <p:cNvPr id="33" name="Text 25"/>
          <p:cNvSpPr txBox="1"/>
          <p:nvPr/>
        </p:nvSpPr>
        <p:spPr>
          <a:xfrm>
            <a:off x="6199632" y="4023360"/>
            <a:ext cx="2377440" cy="384048"/>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MedGemma first, Claude backup, rules always; all registered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F3C"/>
        </a:solidFill>
      </p:bgPr>
    </p:bg>
    <p:spTree>
      <p:nvGrpSpPr>
        <p:cNvPr id="1" name=""/>
        <p:cNvGrpSpPr/>
        <p:nvPr/>
      </p:nvGrpSpPr>
      <p:grpSpPr>
        <a:xfrm>
          <a:off x="0" y="0"/>
          <a:ext cx="0" cy="0"/>
          <a:chOff x="0" y="0"/>
          <a:chExt cx="0" cy="0"/>
        </a:xfrm>
      </p:grpSpPr>
      <p:sp>
        <p:nvSpPr>
          <p:cNvPr id="2" name="Shape 0"/>
          <p:cNvSpPr/>
          <p:nvPr/>
        </p:nvSpPr>
        <p:spPr>
          <a:xfrm>
            <a:off x="457200" y="594360"/>
            <a:ext cx="731520" cy="731520"/>
          </a:xfrm>
          <a:prstGeom prst="ellipse">
            <a:avLst/>
          </a:prstGeom>
          <a:solidFill>
            <a:srgbClr val="2A9D8F"/>
          </a:solidFill>
          <a:ln w="12700">
            <a:solidFill>
              <a:srgbClr val="2A9D8F"/>
            </a:solidFill>
            <a:prstDash val="solid"/>
          </a:ln>
        </p:spPr>
      </p:sp>
      <p:pic>
        <p:nvPicPr>
          <p:cNvPr id="3" name="Image 0" descr="preencoded.png">    </p:cNvPr>
          <p:cNvPicPr>
            <a:picLocks noChangeAspect="1"/>
          </p:cNvPicPr>
          <p:nvPr/>
        </p:nvPicPr>
        <p:blipFill>
          <a:blip r:embed="rId1"/>
          <a:stretch>
            <a:fillRect/>
          </a:stretch>
        </p:blipFill>
        <p:spPr>
          <a:xfrm>
            <a:off x="640080" y="777240"/>
            <a:ext cx="365760" cy="365760"/>
          </a:xfrm>
          <a:prstGeom prst="rect">
            <a:avLst/>
          </a:prstGeom>
        </p:spPr>
      </p:pic>
      <p:sp>
        <p:nvSpPr>
          <p:cNvPr id="4" name="Text 1"/>
          <p:cNvSpPr txBox="1"/>
          <p:nvPr/>
        </p:nvSpPr>
        <p:spPr>
          <a:xfrm>
            <a:off x="457200" y="1554480"/>
            <a:ext cx="8229600" cy="64008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One place for your healthcare</a:t>
            </a:r>
            <a:endParaRPr lang="en-US" sz="3600" dirty="0"/>
          </a:p>
        </p:txBody>
      </p:sp>
      <p:sp>
        <p:nvSpPr>
          <p:cNvPr id="5" name="Text 2"/>
          <p:cNvSpPr txBox="1"/>
          <p:nvPr/>
        </p:nvSpPr>
        <p:spPr>
          <a:xfrm>
            <a:off x="457200" y="2377440"/>
            <a:ext cx="8229600" cy="365760"/>
          </a:xfrm>
          <a:prstGeom prst="rect">
            <a:avLst/>
          </a:prstGeom>
          <a:noFill/>
          <a:ln/>
        </p:spPr>
        <p:txBody>
          <a:bodyPr wrap="square" lIns="0" tIns="0" rIns="0" bIns="0" rtlCol="0" anchor="t"/>
          <a:lstStyle/>
          <a:p>
            <a:pPr indent="0" marL="0">
              <a:buNone/>
            </a:pPr>
            <a:r>
              <a:rPr lang="en-US" sz="1600" b="1" dirty="0">
                <a:solidFill>
                  <a:srgbClr val="CFEAE3"/>
                </a:solidFill>
                <a:latin typeface="Calibri" pitchFamily="34" charset="0"/>
                <a:ea typeface="Calibri" pitchFamily="34" charset="-122"/>
                <a:cs typeface="Calibri" pitchFamily="34" charset="-120"/>
              </a:rPr>
              <a:t>Pilot plan</a:t>
            </a:r>
            <a:endParaRPr lang="en-US" sz="1600" dirty="0"/>
          </a:p>
        </p:txBody>
      </p:sp>
      <p:sp>
        <p:nvSpPr>
          <p:cNvPr id="6" name="Text 3"/>
          <p:cNvSpPr txBox="1"/>
          <p:nvPr/>
        </p:nvSpPr>
        <p:spPr>
          <a:xfrm>
            <a:off x="457200" y="2788920"/>
            <a:ext cx="822960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Pick one clinic and three personas to start: patients, clinicians, pharmacist</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Turn on single sign-on and MedGemma; load your own staff under People &amp; sign-in</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Capture baselines for the measures on the value slide</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Run 60 to 90 days, then compare and decide on rollout</a:t>
            </a:r>
            <a:endParaRPr lang="en-US" sz="1400" dirty="0"/>
          </a:p>
        </p:txBody>
      </p:sp>
      <p:sp>
        <p:nvSpPr>
          <p:cNvPr id="7" name="Text 4"/>
          <p:cNvSpPr txBox="1"/>
          <p:nvPr/>
        </p:nvSpPr>
        <p:spPr>
          <a:xfrm>
            <a:off x="457200" y="4572000"/>
            <a:ext cx="8229600" cy="274320"/>
          </a:xfrm>
          <a:prstGeom prst="rect">
            <a:avLst/>
          </a:prstGeom>
          <a:noFill/>
          <a:ln/>
        </p:spPr>
        <p:txBody>
          <a:bodyPr wrap="square" lIns="0" tIns="0" rIns="0" bIns="0" rtlCol="0" anchor="t"/>
          <a:lstStyle/>
          <a:p>
            <a:pPr indent="0" marL="0">
              <a:buNone/>
            </a:pPr>
            <a:r>
              <a:rPr lang="en-US" sz="1100" dirty="0">
                <a:solidFill>
                  <a:srgbClr val="CFEAE3"/>
                </a:solidFill>
                <a:latin typeface="Calibri" pitchFamily="34" charset="0"/>
                <a:ea typeface="Calibri" pitchFamily="34" charset="-122"/>
                <a:cs typeface="Calibri" pitchFamily="34" charset="-120"/>
              </a:rPr>
              <a:t>Live demo: https://bioverse-1057658446982.us-central1.run.app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Bioverse One: personas, value and journeys</dc:title>
  <dc:subject>PptxGenJS Presentation</dc:subject>
  <dc:creator>Bioverse One</dc:creator>
  <cp:lastModifiedBy>Bioverse One</cp:lastModifiedBy>
  <cp:revision>1</cp:revision>
  <dcterms:created xsi:type="dcterms:W3CDTF">2026-09-25T09:36:40Z</dcterms:created>
  <dcterms:modified xsi:type="dcterms:W3CDTF">2026-09-25T09:36:40Z</dcterms:modified>
</cp:coreProperties>
</file>