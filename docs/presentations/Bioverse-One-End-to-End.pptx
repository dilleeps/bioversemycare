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Bioverse One connects patients, clinicians, pharmacy, front desk and hospital administrators on one platform. This deck walks the end-to-end flow: sign-in, the patient journey, what clinicians see, medicines, insurance, the proactive engine, safety and how it runs on Google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has 36 modules that plug into one database, one API, one front door and one audit trail. Seven roles each land on their own home screen. Sixteen scheduled jobs send reminders, alerts and follow-ups between visits. 887 automated tests pass, plus a check of every screen for every demo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talks to one Cloud Run service that serves both the React app and the FastAPI API. Data lives in Cloud SQL. Sign-in goes to Entra, Okta or Google. AI calls go to MedGemma on Vertex AI, with Claude as backup and rules as the last resort. Cloud Scheduler runs the jobs container every five minutes, which sends notifications. All credentials live in Secret Manager.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Sign-in uses the organization's own identity provider. Bioverse verifies the ID token, links it to an existing Bioverse user by verified email, and starts a server-side session held in an HttpOnly, Secure cookie. Roles stay in Bioverse. The demo identity switcher turns off once a provider is configured.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patient starts by asking in plain words. Safety screening runs first. Triage routes to care: book in person or start an online consult. Before the visit, Bioverse gives a checklist and indoor directions. Results are explained only after a clinician approves the explanation. The companion then keeps the plan going with reminders and check-ins.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 can be text, voice or a photo. The deterministic red-flag rules run before any model and can only raise urgency, never lower it. Emergencies stop the routine flow. Otherwise the AI triages and routes the person to the right screen, such as booking, vitals, pharmacy or wayfinding.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Clinicians start from the pre-visit brief, work the review queue by urgency, handle online consults, approve anything clinical before patients see it, and follow patients between visits through the vitals, companion, nutrition and mood panels.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 readings come in by typing, a photo of the meter that the patient confirms, or a device import. Rules evaluate every reading. A critical reading shows fixed safety guidance and raises an urgent review item for the care team. Monitoring plans send reminders at planned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prescription can be ordered for delivery or pickup. Automated checks flag interactions, allergies and duplicates, and route orders to the pharmacist. The pharmacist verifies, packs and dispatches. After pickup or delivery, the companion starts dose reminders and tracks adherence.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Patients add their card by photo or use the digital card. Eligibility checks run in real time and again before appointments. Claims go out as 837P, acknowledgments and remittances come back and post to billing. Denials are explained in plain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Between visits, the companion keeps people on track. Nutrition, weight coaching and challenges build habits. Mood checks use validated questionnaires and show crisis support immediately. Wayfinding gets people to the right room on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 Scheduler starts the jobs runner every five minutes. Jobs are idempotent, so reruns never duplicate a message. Each person chooses channels per message type and quiet hours; only urgent alerts break through. Emails and texts say only that something is waiting.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does not depend on the model. Deterministic rules screen first, clinicians approve clinical content, consent gates sensitive uses, and an append-only hash-chained audit log records everything. The AI governance console lists every agent and runs the red-flag evaluation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roles, each with its own home and menu. Staff are split into front desk and pharmacy teams so each sees only its own screens and alerts.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runs once. Keys are copied from AceSales without being displayed. MedGemma is deployed from Model Garden; it bills for GPU time around the clock. SSO secrets go to Secret Manager. deploy.sh builds, migrates and deploys, and wires in every configured key. Before real patient data: SSO only, a signed BAA, private networking and a safety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go live: turn on single sign-on, deploy MedGemma, load the demo data and walk every role, then complete the real-data checklist in deploy/gcp/README.md.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F3C"/>
        </a:solidFill>
      </p:bgPr>
    </p:bg>
    <p:spTree>
      <p:nvGrpSpPr>
        <p:cNvPr id="1" name=""/>
        <p:cNvGrpSpPr/>
        <p:nvPr/>
      </p:nvGrpSpPr>
      <p:grpSpPr>
        <a:xfrm>
          <a:off x="0" y="0"/>
          <a:ext cx="0" cy="0"/>
          <a:chOff x="0" y="0"/>
          <a:chExt cx="0" cy="0"/>
        </a:xfrm>
      </p:grpSpPr>
      <p:sp>
        <p:nvSpPr>
          <p:cNvPr id="2" name="Shape 0"/>
          <p:cNvSpPr/>
          <p:nvPr/>
        </p:nvSpPr>
        <p:spPr>
          <a:xfrm>
            <a:off x="457200" y="548640"/>
            <a:ext cx="731520" cy="731520"/>
          </a:xfrm>
          <a:prstGeom prst="ellipse">
            <a:avLst/>
          </a:prstGeom>
          <a:solidFill>
            <a:srgbClr val="2A9D8F"/>
          </a:solidFill>
          <a:ln w="12700">
            <a:solidFill>
              <a:srgbClr val="2A9D8F"/>
            </a:solidFill>
            <a:prstDash val="solid"/>
          </a:ln>
        </p:spPr>
      </p:sp>
      <p:pic>
        <p:nvPicPr>
          <p:cNvPr id="3" name="Image 0" descr="preencoded.png">    </p:cNvPr>
          <p:cNvPicPr>
            <a:picLocks noChangeAspect="1"/>
          </p:cNvPicPr>
          <p:nvPr/>
        </p:nvPicPr>
        <p:blipFill>
          <a:blip r:embed="rId1"/>
          <a:stretch>
            <a:fillRect/>
          </a:stretch>
        </p:blipFill>
        <p:spPr>
          <a:xfrm>
            <a:off x="640080" y="731520"/>
            <a:ext cx="365760" cy="365760"/>
          </a:xfrm>
          <a:prstGeom prst="rect">
            <a:avLst/>
          </a:prstGeom>
        </p:spPr>
      </p:pic>
      <p:sp>
        <p:nvSpPr>
          <p:cNvPr id="4" name="Text 1"/>
          <p:cNvSpPr txBox="1"/>
          <p:nvPr/>
        </p:nvSpPr>
        <p:spPr>
          <a:xfrm>
            <a:off x="457200" y="1508760"/>
            <a:ext cx="8229600" cy="73152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Bioverse One</a:t>
            </a:r>
            <a:endParaRPr lang="en-US" sz="4400" dirty="0"/>
          </a:p>
        </p:txBody>
      </p:sp>
      <p:sp>
        <p:nvSpPr>
          <p:cNvPr id="5" name="Text 2"/>
          <p:cNvSpPr txBox="1"/>
          <p:nvPr/>
        </p:nvSpPr>
        <p:spPr>
          <a:xfrm>
            <a:off x="457200" y="2240280"/>
            <a:ext cx="8229600" cy="457200"/>
          </a:xfrm>
          <a:prstGeom prst="rect">
            <a:avLst/>
          </a:prstGeom>
          <a:noFill/>
          <a:ln/>
        </p:spPr>
        <p:txBody>
          <a:bodyPr wrap="square" lIns="0" tIns="0" rIns="0" bIns="0" rtlCol="0" anchor="t"/>
          <a:lstStyle/>
          <a:p>
            <a:pPr indent="0" marL="0">
              <a:buNone/>
            </a:pPr>
            <a:r>
              <a:rPr lang="en-US" sz="2000" dirty="0">
                <a:solidFill>
                  <a:srgbClr val="CFE9E3"/>
                </a:solidFill>
                <a:latin typeface="Calibri" pitchFamily="34" charset="0"/>
                <a:ea typeface="Calibri" pitchFamily="34" charset="-122"/>
                <a:cs typeface="Calibri" pitchFamily="34" charset="-120"/>
              </a:rPr>
              <a:t>End-to-end flow: from the first question to follow-up</a:t>
            </a:r>
            <a:endParaRPr lang="en-US" sz="2000" dirty="0"/>
          </a:p>
        </p:txBody>
      </p:sp>
      <p:sp>
        <p:nvSpPr>
          <p:cNvPr id="6" name="Text 3"/>
          <p:cNvSpPr txBox="1"/>
          <p:nvPr/>
        </p:nvSpPr>
        <p:spPr>
          <a:xfrm>
            <a:off x="457200" y="2788920"/>
            <a:ext cx="8229600" cy="365760"/>
          </a:xfrm>
          <a:prstGeom prst="rect">
            <a:avLst/>
          </a:prstGeom>
          <a:noFill/>
          <a:ln/>
        </p:spPr>
        <p:txBody>
          <a:bodyPr wrap="square" lIns="0" tIns="0" rIns="0" bIns="0" rtlCol="0" anchor="t"/>
          <a:lstStyle/>
          <a:p>
            <a:pPr indent="0" marL="0">
              <a:buNone/>
            </a:pPr>
            <a:r>
              <a:rPr lang="en-US" sz="1400" dirty="0">
                <a:solidFill>
                  <a:srgbClr val="CFEAE3"/>
                </a:solidFill>
                <a:latin typeface="Calibri" pitchFamily="34" charset="0"/>
                <a:ea typeface="Calibri" pitchFamily="34" charset="-122"/>
                <a:cs typeface="Calibri" pitchFamily="34" charset="-120"/>
              </a:rPr>
              <a:t>Patients · clinicians · pharmacy · front desk · administrators · one platform</a:t>
            </a:r>
            <a:endParaRPr lang="en-US" sz="1400" dirty="0"/>
          </a:p>
        </p:txBody>
      </p:sp>
      <p:sp>
        <p:nvSpPr>
          <p:cNvPr id="7" name="Shape 4"/>
          <p:cNvSpPr/>
          <p:nvPr/>
        </p:nvSpPr>
        <p:spPr>
          <a:xfrm>
            <a:off x="457200" y="3977640"/>
            <a:ext cx="1600200" cy="347472"/>
          </a:xfrm>
          <a:prstGeom prst="roundRect">
            <a:avLst>
              <a:gd name="adj" fmla="val 50000"/>
            </a:avLst>
          </a:prstGeom>
          <a:solidFill>
            <a:srgbClr val="134E4A"/>
          </a:solidFill>
          <a:ln w="12700">
            <a:solidFill>
              <a:srgbClr val="2A9D8F"/>
            </a:solidFill>
            <a:prstDash val="solid"/>
          </a:ln>
        </p:spPr>
      </p:sp>
      <p:sp>
        <p:nvSpPr>
          <p:cNvPr id="8" name="Text 5"/>
          <p:cNvSpPr txBox="1"/>
          <p:nvPr/>
        </p:nvSpPr>
        <p:spPr>
          <a:xfrm>
            <a:off x="457200" y="3977640"/>
            <a:ext cx="16002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Single sign-on</a:t>
            </a:r>
            <a:endParaRPr lang="en-US" sz="1100" dirty="0"/>
          </a:p>
        </p:txBody>
      </p:sp>
      <p:sp>
        <p:nvSpPr>
          <p:cNvPr id="9" name="Shape 6"/>
          <p:cNvSpPr/>
          <p:nvPr/>
        </p:nvSpPr>
        <p:spPr>
          <a:xfrm>
            <a:off x="2194560" y="3977640"/>
            <a:ext cx="1325880" cy="347472"/>
          </a:xfrm>
          <a:prstGeom prst="roundRect">
            <a:avLst>
              <a:gd name="adj" fmla="val 50000"/>
            </a:avLst>
          </a:prstGeom>
          <a:solidFill>
            <a:srgbClr val="134E4A"/>
          </a:solidFill>
          <a:ln w="12700">
            <a:solidFill>
              <a:srgbClr val="2A9D8F"/>
            </a:solidFill>
            <a:prstDash val="solid"/>
          </a:ln>
        </p:spPr>
      </p:sp>
      <p:sp>
        <p:nvSpPr>
          <p:cNvPr id="10" name="Text 7"/>
          <p:cNvSpPr txBox="1"/>
          <p:nvPr/>
        </p:nvSpPr>
        <p:spPr>
          <a:xfrm>
            <a:off x="2194560" y="3977640"/>
            <a:ext cx="132588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MedGemma AI</a:t>
            </a:r>
            <a:endParaRPr lang="en-US" sz="1100" dirty="0"/>
          </a:p>
        </p:txBody>
      </p:sp>
      <p:sp>
        <p:nvSpPr>
          <p:cNvPr id="11" name="Shape 8"/>
          <p:cNvSpPr/>
          <p:nvPr/>
        </p:nvSpPr>
        <p:spPr>
          <a:xfrm>
            <a:off x="3657600" y="3977640"/>
            <a:ext cx="1417320" cy="347472"/>
          </a:xfrm>
          <a:prstGeom prst="roundRect">
            <a:avLst>
              <a:gd name="adj" fmla="val 50000"/>
            </a:avLst>
          </a:prstGeom>
          <a:solidFill>
            <a:srgbClr val="134E4A"/>
          </a:solidFill>
          <a:ln w="12700">
            <a:solidFill>
              <a:srgbClr val="2A9D8F"/>
            </a:solidFill>
            <a:prstDash val="solid"/>
          </a:ln>
        </p:spPr>
      </p:sp>
      <p:sp>
        <p:nvSpPr>
          <p:cNvPr id="12" name="Text 9"/>
          <p:cNvSpPr txBox="1"/>
          <p:nvPr/>
        </p:nvSpPr>
        <p:spPr>
          <a:xfrm>
            <a:off x="3657600" y="3977640"/>
            <a:ext cx="141732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Safety first</a:t>
            </a:r>
            <a:endParaRPr lang="en-US" sz="1100" dirty="0"/>
          </a:p>
        </p:txBody>
      </p:sp>
      <p:sp>
        <p:nvSpPr>
          <p:cNvPr id="13" name="Shape 10"/>
          <p:cNvSpPr/>
          <p:nvPr/>
        </p:nvSpPr>
        <p:spPr>
          <a:xfrm>
            <a:off x="5212080" y="3977640"/>
            <a:ext cx="1417320" cy="347472"/>
          </a:xfrm>
          <a:prstGeom prst="roundRect">
            <a:avLst>
              <a:gd name="adj" fmla="val 50000"/>
            </a:avLst>
          </a:prstGeom>
          <a:solidFill>
            <a:srgbClr val="134E4A"/>
          </a:solidFill>
          <a:ln w="12700">
            <a:solidFill>
              <a:srgbClr val="2A9D8F"/>
            </a:solidFill>
            <a:prstDash val="solid"/>
          </a:ln>
        </p:spPr>
      </p:sp>
      <p:sp>
        <p:nvSpPr>
          <p:cNvPr id="14" name="Text 11"/>
          <p:cNvSpPr txBox="1"/>
          <p:nvPr/>
        </p:nvSpPr>
        <p:spPr>
          <a:xfrm>
            <a:off x="5212080" y="3977640"/>
            <a:ext cx="141732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Google Cloud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34E4A"/>
                </a:solidFill>
                <a:latin typeface="Calibri" pitchFamily="34" charset="0"/>
                <a:ea typeface="Calibri" pitchFamily="34" charset="-122"/>
                <a:cs typeface="Calibri" pitchFamily="34" charset="-120"/>
              </a:rPr>
              <a:t>One platform, every step of care</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What is built and running today</a:t>
            </a:r>
            <a:endParaRPr lang="en-US" sz="1300" dirty="0"/>
          </a:p>
        </p:txBody>
      </p:sp>
      <p:sp>
        <p:nvSpPr>
          <p:cNvPr id="4" name="Shape 2"/>
          <p:cNvSpPr/>
          <p:nvPr/>
        </p:nvSpPr>
        <p:spPr>
          <a:xfrm>
            <a:off x="457200" y="1371600"/>
            <a:ext cx="1874520" cy="1417320"/>
          </a:xfrm>
          <a:prstGeom prst="roundRect">
            <a:avLst>
              <a:gd name="adj" fmla="val 7742"/>
            </a:avLst>
          </a:prstGeom>
          <a:solidFill>
            <a:srgbClr val="E6F4F1"/>
          </a:solidFill>
          <a:ln w="9525">
            <a:solidFill>
              <a:srgbClr val="E6F4F1"/>
            </a:solidFill>
            <a:prstDash val="solid"/>
          </a:ln>
          <a:effectLst>
            <a:outerShdw sx="100000" sy="100000" kx="0" ky="0" algn="bl" rotWithShape="0" blurRad="76200" dist="19050" dir="5400000">
              <a:srgbClr val="000000">
                <a:alpha val="8000"/>
              </a:srgbClr>
            </a:outerShdw>
          </a:effectLst>
        </p:spPr>
      </p:sp>
      <p:sp>
        <p:nvSpPr>
          <p:cNvPr id="5" name="Text 3"/>
          <p:cNvSpPr txBox="1"/>
          <p:nvPr/>
        </p:nvSpPr>
        <p:spPr>
          <a:xfrm>
            <a:off x="640080" y="1463040"/>
            <a:ext cx="1554480" cy="731520"/>
          </a:xfrm>
          <a:prstGeom prst="rect">
            <a:avLst/>
          </a:prstGeom>
          <a:noFill/>
          <a:ln/>
        </p:spPr>
        <p:txBody>
          <a:bodyPr wrap="square" lIns="0" tIns="0" rIns="0" bIns="0" rtlCol="0" anchor="t"/>
          <a:lstStyle/>
          <a:p>
            <a:pPr indent="0" marL="0">
              <a:buNone/>
            </a:pPr>
            <a:r>
              <a:rPr lang="en-US" sz="4000" b="1" dirty="0">
                <a:solidFill>
                  <a:srgbClr val="134E4A"/>
                </a:solidFill>
                <a:latin typeface="Calibri" pitchFamily="34" charset="0"/>
                <a:ea typeface="Calibri" pitchFamily="34" charset="-122"/>
                <a:cs typeface="Calibri" pitchFamily="34" charset="-120"/>
              </a:rPr>
              <a:t>36</a:t>
            </a:r>
            <a:endParaRPr lang="en-US" sz="4000" dirty="0"/>
          </a:p>
        </p:txBody>
      </p:sp>
      <p:sp>
        <p:nvSpPr>
          <p:cNvPr id="6" name="Text 4"/>
          <p:cNvSpPr txBox="1"/>
          <p:nvPr/>
        </p:nvSpPr>
        <p:spPr>
          <a:xfrm>
            <a:off x="640080" y="2194560"/>
            <a:ext cx="1554480" cy="548640"/>
          </a:xfrm>
          <a:prstGeom prst="rect">
            <a:avLst/>
          </a:prstGeom>
          <a:noFill/>
          <a:ln/>
        </p:spPr>
        <p:txBody>
          <a:bodyPr wrap="square" lIns="0" tIns="0" rIns="0" bIns="0" rtlCol="0" anchor="t"/>
          <a:lstStyle/>
          <a:p>
            <a:pPr indent="0" marL="0">
              <a:buNone/>
            </a:pPr>
            <a:r>
              <a:rPr lang="en-US" sz="1150" dirty="0">
                <a:solidFill>
                  <a:srgbClr val="4B5563"/>
                </a:solidFill>
                <a:latin typeface="Calibri" pitchFamily="34" charset="0"/>
                <a:ea typeface="Calibri" pitchFamily="34" charset="-122"/>
                <a:cs typeface="Calibri" pitchFamily="34" charset="-120"/>
              </a:rPr>
              <a:t>modules, discovered automatically</a:t>
            </a:r>
            <a:endParaRPr lang="en-US" sz="1150" dirty="0"/>
          </a:p>
        </p:txBody>
      </p:sp>
      <p:sp>
        <p:nvSpPr>
          <p:cNvPr id="7" name="Shape 5"/>
          <p:cNvSpPr/>
          <p:nvPr/>
        </p:nvSpPr>
        <p:spPr>
          <a:xfrm>
            <a:off x="2560320" y="1371600"/>
            <a:ext cx="1874520" cy="1417320"/>
          </a:xfrm>
          <a:prstGeom prst="roundRect">
            <a:avLst>
              <a:gd name="adj" fmla="val 7742"/>
            </a:avLst>
          </a:prstGeom>
          <a:solidFill>
            <a:srgbClr val="E6F4F1"/>
          </a:solidFill>
          <a:ln w="9525">
            <a:solidFill>
              <a:srgbClr val="E6F4F1"/>
            </a:solidFill>
            <a:prstDash val="solid"/>
          </a:ln>
          <a:effectLst>
            <a:outerShdw sx="100000" sy="100000" kx="0" ky="0" algn="bl" rotWithShape="0" blurRad="76200" dist="19050" dir="5400000">
              <a:srgbClr val="000000">
                <a:alpha val="8000"/>
              </a:srgbClr>
            </a:outerShdw>
          </a:effectLst>
        </p:spPr>
      </p:sp>
      <p:sp>
        <p:nvSpPr>
          <p:cNvPr id="8" name="Text 6"/>
          <p:cNvSpPr txBox="1"/>
          <p:nvPr/>
        </p:nvSpPr>
        <p:spPr>
          <a:xfrm>
            <a:off x="2743200" y="1463040"/>
            <a:ext cx="1554480" cy="731520"/>
          </a:xfrm>
          <a:prstGeom prst="rect">
            <a:avLst/>
          </a:prstGeom>
          <a:noFill/>
          <a:ln/>
        </p:spPr>
        <p:txBody>
          <a:bodyPr wrap="square" lIns="0" tIns="0" rIns="0" bIns="0" rtlCol="0" anchor="t"/>
          <a:lstStyle/>
          <a:p>
            <a:pPr indent="0" marL="0">
              <a:buNone/>
            </a:pPr>
            <a:r>
              <a:rPr lang="en-US" sz="4000" b="1" dirty="0">
                <a:solidFill>
                  <a:srgbClr val="134E4A"/>
                </a:solidFill>
                <a:latin typeface="Calibri" pitchFamily="34" charset="0"/>
                <a:ea typeface="Calibri" pitchFamily="34" charset="-122"/>
                <a:cs typeface="Calibri" pitchFamily="34" charset="-120"/>
              </a:rPr>
              <a:t>7</a:t>
            </a:r>
            <a:endParaRPr lang="en-US" sz="4000" dirty="0"/>
          </a:p>
        </p:txBody>
      </p:sp>
      <p:sp>
        <p:nvSpPr>
          <p:cNvPr id="9" name="Text 7"/>
          <p:cNvSpPr txBox="1"/>
          <p:nvPr/>
        </p:nvSpPr>
        <p:spPr>
          <a:xfrm>
            <a:off x="2743200" y="2194560"/>
            <a:ext cx="1554480" cy="548640"/>
          </a:xfrm>
          <a:prstGeom prst="rect">
            <a:avLst/>
          </a:prstGeom>
          <a:noFill/>
          <a:ln/>
        </p:spPr>
        <p:txBody>
          <a:bodyPr wrap="square" lIns="0" tIns="0" rIns="0" bIns="0" rtlCol="0" anchor="t"/>
          <a:lstStyle/>
          <a:p>
            <a:pPr indent="0" marL="0">
              <a:buNone/>
            </a:pPr>
            <a:r>
              <a:rPr lang="en-US" sz="1150" dirty="0">
                <a:solidFill>
                  <a:srgbClr val="4B5563"/>
                </a:solidFill>
                <a:latin typeface="Calibri" pitchFamily="34" charset="0"/>
                <a:ea typeface="Calibri" pitchFamily="34" charset="-122"/>
                <a:cs typeface="Calibri" pitchFamily="34" charset="-120"/>
              </a:rPr>
              <a:t>roles, each with its own home</a:t>
            </a:r>
            <a:endParaRPr lang="en-US" sz="1150" dirty="0"/>
          </a:p>
        </p:txBody>
      </p:sp>
      <p:sp>
        <p:nvSpPr>
          <p:cNvPr id="10" name="Shape 8"/>
          <p:cNvSpPr/>
          <p:nvPr/>
        </p:nvSpPr>
        <p:spPr>
          <a:xfrm>
            <a:off x="4663440" y="1371600"/>
            <a:ext cx="1874520" cy="1417320"/>
          </a:xfrm>
          <a:prstGeom prst="roundRect">
            <a:avLst>
              <a:gd name="adj" fmla="val 7742"/>
            </a:avLst>
          </a:prstGeom>
          <a:solidFill>
            <a:srgbClr val="E6F4F1"/>
          </a:solidFill>
          <a:ln w="9525">
            <a:solidFill>
              <a:srgbClr val="E6F4F1"/>
            </a:solidFill>
            <a:prstDash val="solid"/>
          </a:ln>
          <a:effectLst>
            <a:outerShdw sx="100000" sy="100000" kx="0" ky="0" algn="bl" rotWithShape="0" blurRad="76200" dist="19050" dir="5400000">
              <a:srgbClr val="000000">
                <a:alpha val="8000"/>
              </a:srgbClr>
            </a:outerShdw>
          </a:effectLst>
        </p:spPr>
      </p:sp>
      <p:sp>
        <p:nvSpPr>
          <p:cNvPr id="11" name="Text 9"/>
          <p:cNvSpPr txBox="1"/>
          <p:nvPr/>
        </p:nvSpPr>
        <p:spPr>
          <a:xfrm>
            <a:off x="4846320" y="1463040"/>
            <a:ext cx="1554480" cy="731520"/>
          </a:xfrm>
          <a:prstGeom prst="rect">
            <a:avLst/>
          </a:prstGeom>
          <a:noFill/>
          <a:ln/>
        </p:spPr>
        <p:txBody>
          <a:bodyPr wrap="square" lIns="0" tIns="0" rIns="0" bIns="0" rtlCol="0" anchor="t"/>
          <a:lstStyle/>
          <a:p>
            <a:pPr indent="0" marL="0">
              <a:buNone/>
            </a:pPr>
            <a:r>
              <a:rPr lang="en-US" sz="4000" b="1" dirty="0">
                <a:solidFill>
                  <a:srgbClr val="134E4A"/>
                </a:solidFill>
                <a:latin typeface="Calibri" pitchFamily="34" charset="0"/>
                <a:ea typeface="Calibri" pitchFamily="34" charset="-122"/>
                <a:cs typeface="Calibri" pitchFamily="34" charset="-120"/>
              </a:rPr>
              <a:t>16</a:t>
            </a:r>
            <a:endParaRPr lang="en-US" sz="4000" dirty="0"/>
          </a:p>
        </p:txBody>
      </p:sp>
      <p:sp>
        <p:nvSpPr>
          <p:cNvPr id="12" name="Text 10"/>
          <p:cNvSpPr txBox="1"/>
          <p:nvPr/>
        </p:nvSpPr>
        <p:spPr>
          <a:xfrm>
            <a:off x="4846320" y="2194560"/>
            <a:ext cx="1554480" cy="548640"/>
          </a:xfrm>
          <a:prstGeom prst="rect">
            <a:avLst/>
          </a:prstGeom>
          <a:noFill/>
          <a:ln/>
        </p:spPr>
        <p:txBody>
          <a:bodyPr wrap="square" lIns="0" tIns="0" rIns="0" bIns="0" rtlCol="0" anchor="t"/>
          <a:lstStyle/>
          <a:p>
            <a:pPr indent="0" marL="0">
              <a:buNone/>
            </a:pPr>
            <a:r>
              <a:rPr lang="en-US" sz="1150" dirty="0">
                <a:solidFill>
                  <a:srgbClr val="4B5563"/>
                </a:solidFill>
                <a:latin typeface="Calibri" pitchFamily="34" charset="0"/>
                <a:ea typeface="Calibri" pitchFamily="34" charset="-122"/>
                <a:cs typeface="Calibri" pitchFamily="34" charset="-120"/>
              </a:rPr>
              <a:t>scheduled jobs that act between visits</a:t>
            </a:r>
            <a:endParaRPr lang="en-US" sz="1150" dirty="0"/>
          </a:p>
        </p:txBody>
      </p:sp>
      <p:sp>
        <p:nvSpPr>
          <p:cNvPr id="13" name="Shape 11"/>
          <p:cNvSpPr/>
          <p:nvPr/>
        </p:nvSpPr>
        <p:spPr>
          <a:xfrm>
            <a:off x="6766560" y="1371600"/>
            <a:ext cx="1874520" cy="1417320"/>
          </a:xfrm>
          <a:prstGeom prst="roundRect">
            <a:avLst>
              <a:gd name="adj" fmla="val 7742"/>
            </a:avLst>
          </a:prstGeom>
          <a:solidFill>
            <a:srgbClr val="E6F4F1"/>
          </a:solidFill>
          <a:ln w="9525">
            <a:solidFill>
              <a:srgbClr val="E6F4F1"/>
            </a:solidFill>
            <a:prstDash val="solid"/>
          </a:ln>
          <a:effectLst>
            <a:outerShdw sx="100000" sy="100000" kx="0" ky="0" algn="bl" rotWithShape="0" blurRad="76200" dist="19050" dir="5400000">
              <a:srgbClr val="000000">
                <a:alpha val="8000"/>
              </a:srgbClr>
            </a:outerShdw>
          </a:effectLst>
        </p:spPr>
      </p:sp>
      <p:sp>
        <p:nvSpPr>
          <p:cNvPr id="14" name="Text 12"/>
          <p:cNvSpPr txBox="1"/>
          <p:nvPr/>
        </p:nvSpPr>
        <p:spPr>
          <a:xfrm>
            <a:off x="6949440" y="1463040"/>
            <a:ext cx="1554480" cy="731520"/>
          </a:xfrm>
          <a:prstGeom prst="rect">
            <a:avLst/>
          </a:prstGeom>
          <a:noFill/>
          <a:ln/>
        </p:spPr>
        <p:txBody>
          <a:bodyPr wrap="square" lIns="0" tIns="0" rIns="0" bIns="0" rtlCol="0" anchor="t"/>
          <a:lstStyle/>
          <a:p>
            <a:pPr indent="0" marL="0">
              <a:buNone/>
            </a:pPr>
            <a:r>
              <a:rPr lang="en-US" sz="4000" b="1" dirty="0">
                <a:solidFill>
                  <a:srgbClr val="134E4A"/>
                </a:solidFill>
                <a:latin typeface="Calibri" pitchFamily="34" charset="0"/>
                <a:ea typeface="Calibri" pitchFamily="34" charset="-122"/>
                <a:cs typeface="Calibri" pitchFamily="34" charset="-120"/>
              </a:rPr>
              <a:t>887</a:t>
            </a:r>
            <a:endParaRPr lang="en-US" sz="4000" dirty="0"/>
          </a:p>
        </p:txBody>
      </p:sp>
      <p:sp>
        <p:nvSpPr>
          <p:cNvPr id="15" name="Text 13"/>
          <p:cNvSpPr txBox="1"/>
          <p:nvPr/>
        </p:nvSpPr>
        <p:spPr>
          <a:xfrm>
            <a:off x="6949440" y="2194560"/>
            <a:ext cx="1554480" cy="548640"/>
          </a:xfrm>
          <a:prstGeom prst="rect">
            <a:avLst/>
          </a:prstGeom>
          <a:noFill/>
          <a:ln/>
        </p:spPr>
        <p:txBody>
          <a:bodyPr wrap="square" lIns="0" tIns="0" rIns="0" bIns="0" rtlCol="0" anchor="t"/>
          <a:lstStyle/>
          <a:p>
            <a:pPr indent="0" marL="0">
              <a:buNone/>
            </a:pPr>
            <a:r>
              <a:rPr lang="en-US" sz="1150" dirty="0">
                <a:solidFill>
                  <a:srgbClr val="4B5563"/>
                </a:solidFill>
                <a:latin typeface="Calibri" pitchFamily="34" charset="0"/>
                <a:ea typeface="Calibri" pitchFamily="34" charset="-122"/>
                <a:cs typeface="Calibri" pitchFamily="34" charset="-120"/>
              </a:rPr>
              <a:t>automated tests passing</a:t>
            </a:r>
            <a:endParaRPr lang="en-US" sz="1150" dirty="0"/>
          </a:p>
        </p:txBody>
      </p:sp>
      <p:sp>
        <p:nvSpPr>
          <p:cNvPr id="16" name="Shape 14"/>
          <p:cNvSpPr/>
          <p:nvPr/>
        </p:nvSpPr>
        <p:spPr>
          <a:xfrm>
            <a:off x="457200" y="3108960"/>
            <a:ext cx="475488" cy="475488"/>
          </a:xfrm>
          <a:prstGeom prst="ellipse">
            <a:avLst/>
          </a:prstGeom>
          <a:solidFill>
            <a:srgbClr val="1B6B63"/>
          </a:solidFill>
          <a:ln w="12700">
            <a:solidFill>
              <a:srgbClr val="1B6B63"/>
            </a:solidFill>
            <a:prstDash val="solid"/>
          </a:ln>
        </p:spPr>
      </p:sp>
      <p:pic>
        <p:nvPicPr>
          <p:cNvPr id="17" name="Image 0" descr="preencoded.png">    </p:cNvPr>
          <p:cNvPicPr>
            <a:picLocks noChangeAspect="1"/>
          </p:cNvPicPr>
          <p:nvPr/>
        </p:nvPicPr>
        <p:blipFill>
          <a:blip r:embed="rId1"/>
          <a:stretch>
            <a:fillRect/>
          </a:stretch>
        </p:blipFill>
        <p:spPr>
          <a:xfrm>
            <a:off x="576072" y="3227832"/>
            <a:ext cx="237744" cy="237744"/>
          </a:xfrm>
          <a:prstGeom prst="rect">
            <a:avLst/>
          </a:prstGeom>
        </p:spPr>
      </p:pic>
      <p:sp>
        <p:nvSpPr>
          <p:cNvPr id="18" name="Text 15"/>
          <p:cNvSpPr txBox="1"/>
          <p:nvPr/>
        </p:nvSpPr>
        <p:spPr>
          <a:xfrm>
            <a:off x="1060704" y="3154680"/>
            <a:ext cx="3474720" cy="41148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Sign-in with Microsoft Entra ID, Okta, Google</a:t>
            </a:r>
            <a:endParaRPr lang="en-US" sz="1300" dirty="0"/>
          </a:p>
        </p:txBody>
      </p:sp>
      <p:sp>
        <p:nvSpPr>
          <p:cNvPr id="19" name="Shape 16"/>
          <p:cNvSpPr/>
          <p:nvPr/>
        </p:nvSpPr>
        <p:spPr>
          <a:xfrm>
            <a:off x="4663440" y="3108960"/>
            <a:ext cx="475488" cy="475488"/>
          </a:xfrm>
          <a:prstGeom prst="ellipse">
            <a:avLst/>
          </a:prstGeom>
          <a:solidFill>
            <a:srgbClr val="1B6B63"/>
          </a:solidFill>
          <a:ln w="12700">
            <a:solidFill>
              <a:srgbClr val="1B6B63"/>
            </a:solidFill>
            <a:prstDash val="solid"/>
          </a:ln>
        </p:spPr>
      </p:sp>
      <p:pic>
        <p:nvPicPr>
          <p:cNvPr id="20" name="Image 1" descr="preencoded.png">    </p:cNvPr>
          <p:cNvPicPr>
            <a:picLocks noChangeAspect="1"/>
          </p:cNvPicPr>
          <p:nvPr/>
        </p:nvPicPr>
        <p:blipFill>
          <a:blip r:embed="rId2"/>
          <a:stretch>
            <a:fillRect/>
          </a:stretch>
        </p:blipFill>
        <p:spPr>
          <a:xfrm>
            <a:off x="4782312" y="3227832"/>
            <a:ext cx="237744" cy="237744"/>
          </a:xfrm>
          <a:prstGeom prst="rect">
            <a:avLst/>
          </a:prstGeom>
        </p:spPr>
      </p:pic>
      <p:sp>
        <p:nvSpPr>
          <p:cNvPr id="21" name="Text 17"/>
          <p:cNvSpPr txBox="1"/>
          <p:nvPr/>
        </p:nvSpPr>
        <p:spPr>
          <a:xfrm>
            <a:off x="5266944" y="3154680"/>
            <a:ext cx="3474720" cy="41148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AI: MedGemma first, Claude backup, rules always</a:t>
            </a:r>
            <a:endParaRPr lang="en-US" sz="1300" dirty="0"/>
          </a:p>
        </p:txBody>
      </p:sp>
      <p:sp>
        <p:nvSpPr>
          <p:cNvPr id="22" name="Shape 18"/>
          <p:cNvSpPr/>
          <p:nvPr/>
        </p:nvSpPr>
        <p:spPr>
          <a:xfrm>
            <a:off x="457200" y="3840480"/>
            <a:ext cx="475488" cy="475488"/>
          </a:xfrm>
          <a:prstGeom prst="ellipse">
            <a:avLst/>
          </a:prstGeom>
          <a:solidFill>
            <a:srgbClr val="1B6B63"/>
          </a:solidFill>
          <a:ln w="12700">
            <a:solidFill>
              <a:srgbClr val="1B6B63"/>
            </a:solidFill>
            <a:prstDash val="solid"/>
          </a:ln>
        </p:spPr>
      </p:sp>
      <p:pic>
        <p:nvPicPr>
          <p:cNvPr id="23" name="Image 2" descr="preencoded.png">    </p:cNvPr>
          <p:cNvPicPr>
            <a:picLocks noChangeAspect="1"/>
          </p:cNvPicPr>
          <p:nvPr/>
        </p:nvPicPr>
        <p:blipFill>
          <a:blip r:embed="rId3"/>
          <a:stretch>
            <a:fillRect/>
          </a:stretch>
        </p:blipFill>
        <p:spPr>
          <a:xfrm>
            <a:off x="576072" y="3959352"/>
            <a:ext cx="237744" cy="237744"/>
          </a:xfrm>
          <a:prstGeom prst="rect">
            <a:avLst/>
          </a:prstGeom>
        </p:spPr>
      </p:pic>
      <p:sp>
        <p:nvSpPr>
          <p:cNvPr id="24" name="Text 19"/>
          <p:cNvSpPr txBox="1"/>
          <p:nvPr/>
        </p:nvSpPr>
        <p:spPr>
          <a:xfrm>
            <a:off x="1060704" y="3886200"/>
            <a:ext cx="3474720" cy="41148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Emergency screening before any AI</a:t>
            </a:r>
            <a:endParaRPr lang="en-US" sz="1300" dirty="0"/>
          </a:p>
        </p:txBody>
      </p:sp>
      <p:sp>
        <p:nvSpPr>
          <p:cNvPr id="25" name="Shape 20"/>
          <p:cNvSpPr/>
          <p:nvPr/>
        </p:nvSpPr>
        <p:spPr>
          <a:xfrm>
            <a:off x="4663440" y="3840480"/>
            <a:ext cx="475488" cy="475488"/>
          </a:xfrm>
          <a:prstGeom prst="ellipse">
            <a:avLst/>
          </a:prstGeom>
          <a:solidFill>
            <a:srgbClr val="1B6B63"/>
          </a:solidFill>
          <a:ln w="12700">
            <a:solidFill>
              <a:srgbClr val="1B6B63"/>
            </a:solidFill>
            <a:prstDash val="solid"/>
          </a:ln>
        </p:spPr>
      </p:sp>
      <p:pic>
        <p:nvPicPr>
          <p:cNvPr id="26" name="Image 3" descr="preencoded.png">    </p:cNvPr>
          <p:cNvPicPr>
            <a:picLocks noChangeAspect="1"/>
          </p:cNvPicPr>
          <p:nvPr/>
        </p:nvPicPr>
        <p:blipFill>
          <a:blip r:embed="rId4"/>
          <a:stretch>
            <a:fillRect/>
          </a:stretch>
        </p:blipFill>
        <p:spPr>
          <a:xfrm>
            <a:off x="4782312" y="3959352"/>
            <a:ext cx="237744" cy="237744"/>
          </a:xfrm>
          <a:prstGeom prst="rect">
            <a:avLst/>
          </a:prstGeom>
        </p:spPr>
      </p:pic>
      <p:sp>
        <p:nvSpPr>
          <p:cNvPr id="27" name="Text 21"/>
          <p:cNvSpPr txBox="1"/>
          <p:nvPr/>
        </p:nvSpPr>
        <p:spPr>
          <a:xfrm>
            <a:off x="5266944" y="3886200"/>
            <a:ext cx="3474720" cy="41148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Cloud Run, Cloud SQL, Vertex AI, Secret Manager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8"/>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34E4A"/>
                </a:solidFill>
                <a:latin typeface="Calibri" pitchFamily="34" charset="0"/>
                <a:ea typeface="Calibri" pitchFamily="34" charset="-122"/>
                <a:cs typeface="Calibri" pitchFamily="34" charset="-120"/>
              </a:rPr>
              <a:t>How the pieces connect</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One container on Cloud Run serves the web app and the API</a:t>
            </a:r>
            <a:endParaRPr lang="en-US" sz="1300" dirty="0"/>
          </a:p>
        </p:txBody>
      </p:sp>
      <p:sp>
        <p:nvSpPr>
          <p:cNvPr id="4" name="Shape 2"/>
          <p:cNvSpPr/>
          <p:nvPr/>
        </p:nvSpPr>
        <p:spPr>
          <a:xfrm>
            <a:off x="457200" y="1371600"/>
            <a:ext cx="2560320" cy="914400"/>
          </a:xfrm>
          <a:prstGeom prst="roundRect">
            <a:avLst>
              <a:gd name="adj" fmla="val 1200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5" name="Shape 3"/>
          <p:cNvSpPr/>
          <p:nvPr/>
        </p:nvSpPr>
        <p:spPr>
          <a:xfrm>
            <a:off x="594360" y="1600200"/>
            <a:ext cx="457200" cy="457200"/>
          </a:xfrm>
          <a:prstGeom prst="ellipse">
            <a:avLst/>
          </a:prstGeom>
          <a:solidFill>
            <a:srgbClr val="1B6B63"/>
          </a:solidFill>
          <a:ln w="12700">
            <a:solidFill>
              <a:srgbClr val="1B6B63"/>
            </a:solidFill>
            <a:prstDash val="solid"/>
          </a:ln>
        </p:spPr>
      </p:sp>
      <p:pic>
        <p:nvPicPr>
          <p:cNvPr id="6" name="Image 0" descr="preencoded.png">    </p:cNvPr>
          <p:cNvPicPr>
            <a:picLocks noChangeAspect="1"/>
          </p:cNvPicPr>
          <p:nvPr/>
        </p:nvPicPr>
        <p:blipFill>
          <a:blip r:embed="rId1"/>
          <a:stretch>
            <a:fillRect/>
          </a:stretch>
        </p:blipFill>
        <p:spPr>
          <a:xfrm>
            <a:off x="708660" y="1714500"/>
            <a:ext cx="228600" cy="228600"/>
          </a:xfrm>
          <a:prstGeom prst="rect">
            <a:avLst/>
          </a:prstGeom>
        </p:spPr>
      </p:pic>
      <p:sp>
        <p:nvSpPr>
          <p:cNvPr id="7" name="Text 4"/>
          <p:cNvSpPr txBox="1"/>
          <p:nvPr/>
        </p:nvSpPr>
        <p:spPr>
          <a:xfrm>
            <a:off x="1170432" y="1481328"/>
            <a:ext cx="1737360" cy="292608"/>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Browser &amp; phone</a:t>
            </a:r>
            <a:endParaRPr lang="en-US" sz="1300" dirty="0"/>
          </a:p>
        </p:txBody>
      </p:sp>
      <p:sp>
        <p:nvSpPr>
          <p:cNvPr id="8" name="Text 5"/>
          <p:cNvSpPr txBox="1"/>
          <p:nvPr/>
        </p:nvSpPr>
        <p:spPr>
          <a:xfrm>
            <a:off x="1170432" y="1755648"/>
            <a:ext cx="1755648" cy="49377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React web app, sign-in cookie, voice and camera</a:t>
            </a:r>
            <a:endParaRPr lang="en-US" sz="950" dirty="0"/>
          </a:p>
        </p:txBody>
      </p:sp>
      <p:sp>
        <p:nvSpPr>
          <p:cNvPr id="9" name="Shape 6"/>
          <p:cNvSpPr/>
          <p:nvPr/>
        </p:nvSpPr>
        <p:spPr>
          <a:xfrm>
            <a:off x="3291840" y="1371600"/>
            <a:ext cx="2560320" cy="914400"/>
          </a:xfrm>
          <a:prstGeom prst="roundRect">
            <a:avLst>
              <a:gd name="adj" fmla="val 1200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0" name="Shape 7"/>
          <p:cNvSpPr/>
          <p:nvPr/>
        </p:nvSpPr>
        <p:spPr>
          <a:xfrm>
            <a:off x="3429000" y="1600200"/>
            <a:ext cx="457200" cy="457200"/>
          </a:xfrm>
          <a:prstGeom prst="ellipse">
            <a:avLst/>
          </a:prstGeom>
          <a:solidFill>
            <a:srgbClr val="1B6B63"/>
          </a:solidFill>
          <a:ln w="12700">
            <a:solidFill>
              <a:srgbClr val="1B6B63"/>
            </a:solidFill>
            <a:prstDash val="solid"/>
          </a:ln>
        </p:spPr>
      </p:sp>
      <p:pic>
        <p:nvPicPr>
          <p:cNvPr id="11" name="Image 1" descr="preencoded.png">    </p:cNvPr>
          <p:cNvPicPr>
            <a:picLocks noChangeAspect="1"/>
          </p:cNvPicPr>
          <p:nvPr/>
        </p:nvPicPr>
        <p:blipFill>
          <a:blip r:embed="rId2"/>
          <a:stretch>
            <a:fillRect/>
          </a:stretch>
        </p:blipFill>
        <p:spPr>
          <a:xfrm>
            <a:off x="3543300" y="1714500"/>
            <a:ext cx="228600" cy="228600"/>
          </a:xfrm>
          <a:prstGeom prst="rect">
            <a:avLst/>
          </a:prstGeom>
        </p:spPr>
      </p:pic>
      <p:sp>
        <p:nvSpPr>
          <p:cNvPr id="12" name="Text 8"/>
          <p:cNvSpPr txBox="1"/>
          <p:nvPr/>
        </p:nvSpPr>
        <p:spPr>
          <a:xfrm>
            <a:off x="4005072" y="1481328"/>
            <a:ext cx="1737360" cy="292608"/>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Bioverse API</a:t>
            </a:r>
            <a:endParaRPr lang="en-US" sz="1300" dirty="0"/>
          </a:p>
        </p:txBody>
      </p:sp>
      <p:sp>
        <p:nvSpPr>
          <p:cNvPr id="13" name="Text 9"/>
          <p:cNvSpPr txBox="1"/>
          <p:nvPr/>
        </p:nvSpPr>
        <p:spPr>
          <a:xfrm>
            <a:off x="4005072" y="1755648"/>
            <a:ext cx="1755648" cy="49377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Cloud Run: front door, 36 modules, access, audit</a:t>
            </a:r>
            <a:endParaRPr lang="en-US" sz="950" dirty="0"/>
          </a:p>
        </p:txBody>
      </p:sp>
      <p:sp>
        <p:nvSpPr>
          <p:cNvPr id="14" name="Shape 10"/>
          <p:cNvSpPr/>
          <p:nvPr/>
        </p:nvSpPr>
        <p:spPr>
          <a:xfrm>
            <a:off x="6126480" y="1371600"/>
            <a:ext cx="2560320" cy="914400"/>
          </a:xfrm>
          <a:prstGeom prst="roundRect">
            <a:avLst>
              <a:gd name="adj" fmla="val 1200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5" name="Shape 11"/>
          <p:cNvSpPr/>
          <p:nvPr/>
        </p:nvSpPr>
        <p:spPr>
          <a:xfrm>
            <a:off x="6263640" y="1600200"/>
            <a:ext cx="457200" cy="457200"/>
          </a:xfrm>
          <a:prstGeom prst="ellipse">
            <a:avLst/>
          </a:prstGeom>
          <a:solidFill>
            <a:srgbClr val="1B6B63"/>
          </a:solidFill>
          <a:ln w="12700">
            <a:solidFill>
              <a:srgbClr val="1B6B63"/>
            </a:solidFill>
            <a:prstDash val="solid"/>
          </a:ln>
        </p:spPr>
      </p:sp>
      <p:pic>
        <p:nvPicPr>
          <p:cNvPr id="16" name="Image 2" descr="preencoded.png">    </p:cNvPr>
          <p:cNvPicPr>
            <a:picLocks noChangeAspect="1"/>
          </p:cNvPicPr>
          <p:nvPr/>
        </p:nvPicPr>
        <p:blipFill>
          <a:blip r:embed="rId3"/>
          <a:stretch>
            <a:fillRect/>
          </a:stretch>
        </p:blipFill>
        <p:spPr>
          <a:xfrm>
            <a:off x="6377940" y="1714500"/>
            <a:ext cx="228600" cy="228600"/>
          </a:xfrm>
          <a:prstGeom prst="rect">
            <a:avLst/>
          </a:prstGeom>
        </p:spPr>
      </p:pic>
      <p:sp>
        <p:nvSpPr>
          <p:cNvPr id="17" name="Text 12"/>
          <p:cNvSpPr txBox="1"/>
          <p:nvPr/>
        </p:nvSpPr>
        <p:spPr>
          <a:xfrm>
            <a:off x="6839712" y="1481328"/>
            <a:ext cx="1737360" cy="292608"/>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Cloud SQL</a:t>
            </a:r>
            <a:endParaRPr lang="en-US" sz="1300" dirty="0"/>
          </a:p>
        </p:txBody>
      </p:sp>
      <p:sp>
        <p:nvSpPr>
          <p:cNvPr id="18" name="Text 13"/>
          <p:cNvSpPr txBox="1"/>
          <p:nvPr/>
        </p:nvSpPr>
        <p:spPr>
          <a:xfrm>
            <a:off x="6839712" y="1755648"/>
            <a:ext cx="1755648" cy="49377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PostgreSQL: records, FHIR-aligned tables, audit chain</a:t>
            </a:r>
            <a:endParaRPr lang="en-US" sz="950" dirty="0"/>
          </a:p>
        </p:txBody>
      </p:sp>
      <p:sp>
        <p:nvSpPr>
          <p:cNvPr id="19" name="Shape 14"/>
          <p:cNvSpPr/>
          <p:nvPr/>
        </p:nvSpPr>
        <p:spPr>
          <a:xfrm>
            <a:off x="3035808" y="1709928"/>
            <a:ext cx="256032" cy="237744"/>
          </a:xfrm>
          <a:prstGeom prst="rightArrow">
            <a:avLst/>
          </a:prstGeom>
          <a:solidFill>
            <a:srgbClr val="2A9D8F"/>
          </a:solidFill>
          <a:ln w="12700">
            <a:solidFill>
              <a:srgbClr val="2A9D8F"/>
            </a:solidFill>
            <a:prstDash val="solid"/>
          </a:ln>
        </p:spPr>
      </p:sp>
      <p:sp>
        <p:nvSpPr>
          <p:cNvPr id="20" name="Shape 15"/>
          <p:cNvSpPr/>
          <p:nvPr/>
        </p:nvSpPr>
        <p:spPr>
          <a:xfrm>
            <a:off x="5870448" y="1709928"/>
            <a:ext cx="256032" cy="237744"/>
          </a:xfrm>
          <a:prstGeom prst="rightArrow">
            <a:avLst/>
          </a:prstGeom>
          <a:solidFill>
            <a:srgbClr val="2A9D8F"/>
          </a:solidFill>
          <a:ln w="12700">
            <a:solidFill>
              <a:srgbClr val="2A9D8F"/>
            </a:solidFill>
            <a:prstDash val="solid"/>
          </a:ln>
        </p:spPr>
      </p:sp>
      <p:sp>
        <p:nvSpPr>
          <p:cNvPr id="21" name="Shape 16"/>
          <p:cNvSpPr/>
          <p:nvPr/>
        </p:nvSpPr>
        <p:spPr>
          <a:xfrm>
            <a:off x="457200" y="2697480"/>
            <a:ext cx="2560320" cy="914400"/>
          </a:xfrm>
          <a:prstGeom prst="roundRect">
            <a:avLst>
              <a:gd name="adj" fmla="val 1200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22" name="Shape 17"/>
          <p:cNvSpPr/>
          <p:nvPr/>
        </p:nvSpPr>
        <p:spPr>
          <a:xfrm>
            <a:off x="594360" y="2926080"/>
            <a:ext cx="457200" cy="457200"/>
          </a:xfrm>
          <a:prstGeom prst="ellipse">
            <a:avLst/>
          </a:prstGeom>
          <a:solidFill>
            <a:srgbClr val="1B6B63"/>
          </a:solidFill>
          <a:ln w="12700">
            <a:solidFill>
              <a:srgbClr val="1B6B63"/>
            </a:solidFill>
            <a:prstDash val="solid"/>
          </a:ln>
        </p:spPr>
      </p:sp>
      <p:pic>
        <p:nvPicPr>
          <p:cNvPr id="23" name="Image 3" descr="preencoded.png">    </p:cNvPr>
          <p:cNvPicPr>
            <a:picLocks noChangeAspect="1"/>
          </p:cNvPicPr>
          <p:nvPr/>
        </p:nvPicPr>
        <p:blipFill>
          <a:blip r:embed="rId4"/>
          <a:stretch>
            <a:fillRect/>
          </a:stretch>
        </p:blipFill>
        <p:spPr>
          <a:xfrm>
            <a:off x="708660" y="3040380"/>
            <a:ext cx="228600" cy="228600"/>
          </a:xfrm>
          <a:prstGeom prst="rect">
            <a:avLst/>
          </a:prstGeom>
        </p:spPr>
      </p:pic>
      <p:sp>
        <p:nvSpPr>
          <p:cNvPr id="24" name="Text 18"/>
          <p:cNvSpPr txBox="1"/>
          <p:nvPr/>
        </p:nvSpPr>
        <p:spPr>
          <a:xfrm>
            <a:off x="1170432" y="2807208"/>
            <a:ext cx="1737360" cy="292608"/>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Sign-in providers</a:t>
            </a:r>
            <a:endParaRPr lang="en-US" sz="1300" dirty="0"/>
          </a:p>
        </p:txBody>
      </p:sp>
      <p:sp>
        <p:nvSpPr>
          <p:cNvPr id="25" name="Text 19"/>
          <p:cNvSpPr txBox="1"/>
          <p:nvPr/>
        </p:nvSpPr>
        <p:spPr>
          <a:xfrm>
            <a:off x="1170432" y="3081528"/>
            <a:ext cx="1755648" cy="49377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Microsoft Entra ID, Okta, Google (OpenID Connect)</a:t>
            </a:r>
            <a:endParaRPr lang="en-US" sz="950" dirty="0"/>
          </a:p>
        </p:txBody>
      </p:sp>
      <p:sp>
        <p:nvSpPr>
          <p:cNvPr id="26" name="Shape 20"/>
          <p:cNvSpPr/>
          <p:nvPr/>
        </p:nvSpPr>
        <p:spPr>
          <a:xfrm>
            <a:off x="3291840" y="2697480"/>
            <a:ext cx="2560320" cy="914400"/>
          </a:xfrm>
          <a:prstGeom prst="roundRect">
            <a:avLst>
              <a:gd name="adj" fmla="val 1200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27" name="Shape 21"/>
          <p:cNvSpPr/>
          <p:nvPr/>
        </p:nvSpPr>
        <p:spPr>
          <a:xfrm>
            <a:off x="3429000" y="2926080"/>
            <a:ext cx="457200" cy="457200"/>
          </a:xfrm>
          <a:prstGeom prst="ellipse">
            <a:avLst/>
          </a:prstGeom>
          <a:solidFill>
            <a:srgbClr val="1B6B63"/>
          </a:solidFill>
          <a:ln w="12700">
            <a:solidFill>
              <a:srgbClr val="1B6B63"/>
            </a:solidFill>
            <a:prstDash val="solid"/>
          </a:ln>
        </p:spPr>
      </p:sp>
      <p:pic>
        <p:nvPicPr>
          <p:cNvPr id="28" name="Image 4" descr="preencoded.png">    </p:cNvPr>
          <p:cNvPicPr>
            <a:picLocks noChangeAspect="1"/>
          </p:cNvPicPr>
          <p:nvPr/>
        </p:nvPicPr>
        <p:blipFill>
          <a:blip r:embed="rId5"/>
          <a:stretch>
            <a:fillRect/>
          </a:stretch>
        </p:blipFill>
        <p:spPr>
          <a:xfrm>
            <a:off x="3543300" y="3040380"/>
            <a:ext cx="228600" cy="228600"/>
          </a:xfrm>
          <a:prstGeom prst="rect">
            <a:avLst/>
          </a:prstGeom>
        </p:spPr>
      </p:pic>
      <p:sp>
        <p:nvSpPr>
          <p:cNvPr id="29" name="Text 22"/>
          <p:cNvSpPr txBox="1"/>
          <p:nvPr/>
        </p:nvSpPr>
        <p:spPr>
          <a:xfrm>
            <a:off x="4005072" y="2807208"/>
            <a:ext cx="1737360" cy="292608"/>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AI layer</a:t>
            </a:r>
            <a:endParaRPr lang="en-US" sz="1300" dirty="0"/>
          </a:p>
        </p:txBody>
      </p:sp>
      <p:sp>
        <p:nvSpPr>
          <p:cNvPr id="30" name="Text 23"/>
          <p:cNvSpPr txBox="1"/>
          <p:nvPr/>
        </p:nvSpPr>
        <p:spPr>
          <a:xfrm>
            <a:off x="4005072" y="3081528"/>
            <a:ext cx="1755648" cy="49377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MedGemma on Vertex AI, then Claude, then rules</a:t>
            </a:r>
            <a:endParaRPr lang="en-US" sz="950" dirty="0"/>
          </a:p>
        </p:txBody>
      </p:sp>
      <p:sp>
        <p:nvSpPr>
          <p:cNvPr id="31" name="Shape 24"/>
          <p:cNvSpPr/>
          <p:nvPr/>
        </p:nvSpPr>
        <p:spPr>
          <a:xfrm>
            <a:off x="6126480" y="2697480"/>
            <a:ext cx="2560320" cy="914400"/>
          </a:xfrm>
          <a:prstGeom prst="roundRect">
            <a:avLst>
              <a:gd name="adj" fmla="val 1200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32" name="Shape 25"/>
          <p:cNvSpPr/>
          <p:nvPr/>
        </p:nvSpPr>
        <p:spPr>
          <a:xfrm>
            <a:off x="6263640" y="2926080"/>
            <a:ext cx="457200" cy="457200"/>
          </a:xfrm>
          <a:prstGeom prst="ellipse">
            <a:avLst/>
          </a:prstGeom>
          <a:solidFill>
            <a:srgbClr val="1B6B63"/>
          </a:solidFill>
          <a:ln w="12700">
            <a:solidFill>
              <a:srgbClr val="1B6B63"/>
            </a:solidFill>
            <a:prstDash val="solid"/>
          </a:ln>
        </p:spPr>
      </p:sp>
      <p:pic>
        <p:nvPicPr>
          <p:cNvPr id="33" name="Image 5" descr="preencoded.png">    </p:cNvPr>
          <p:cNvPicPr>
            <a:picLocks noChangeAspect="1"/>
          </p:cNvPicPr>
          <p:nvPr/>
        </p:nvPicPr>
        <p:blipFill>
          <a:blip r:embed="rId6"/>
          <a:stretch>
            <a:fillRect/>
          </a:stretch>
        </p:blipFill>
        <p:spPr>
          <a:xfrm>
            <a:off x="6377940" y="3040380"/>
            <a:ext cx="228600" cy="228600"/>
          </a:xfrm>
          <a:prstGeom prst="rect">
            <a:avLst/>
          </a:prstGeom>
        </p:spPr>
      </p:pic>
      <p:sp>
        <p:nvSpPr>
          <p:cNvPr id="34" name="Text 26"/>
          <p:cNvSpPr txBox="1"/>
          <p:nvPr/>
        </p:nvSpPr>
        <p:spPr>
          <a:xfrm>
            <a:off x="6839712" y="2807208"/>
            <a:ext cx="1737360" cy="292608"/>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Scheduler + jobs</a:t>
            </a:r>
            <a:endParaRPr lang="en-US" sz="1300" dirty="0"/>
          </a:p>
        </p:txBody>
      </p:sp>
      <p:sp>
        <p:nvSpPr>
          <p:cNvPr id="35" name="Text 27"/>
          <p:cNvSpPr txBox="1"/>
          <p:nvPr/>
        </p:nvSpPr>
        <p:spPr>
          <a:xfrm>
            <a:off x="6839712" y="3081528"/>
            <a:ext cx="1755648" cy="49377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Every 5 minutes: reminders, alerts, delivery</a:t>
            </a:r>
            <a:endParaRPr lang="en-US" sz="950" dirty="0"/>
          </a:p>
        </p:txBody>
      </p:sp>
      <p:sp>
        <p:nvSpPr>
          <p:cNvPr id="36" name="Shape 28"/>
          <p:cNvSpPr/>
          <p:nvPr/>
        </p:nvSpPr>
        <p:spPr>
          <a:xfrm>
            <a:off x="3291840" y="3931920"/>
            <a:ext cx="2560320" cy="868680"/>
          </a:xfrm>
          <a:prstGeom prst="roundRect">
            <a:avLst>
              <a:gd name="adj" fmla="val 12632"/>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37" name="Shape 29"/>
          <p:cNvSpPr/>
          <p:nvPr/>
        </p:nvSpPr>
        <p:spPr>
          <a:xfrm>
            <a:off x="3429000" y="4137660"/>
            <a:ext cx="457200" cy="457200"/>
          </a:xfrm>
          <a:prstGeom prst="ellipse">
            <a:avLst/>
          </a:prstGeom>
          <a:solidFill>
            <a:srgbClr val="1B6B63"/>
          </a:solidFill>
          <a:ln w="12700">
            <a:solidFill>
              <a:srgbClr val="1B6B63"/>
            </a:solidFill>
            <a:prstDash val="solid"/>
          </a:ln>
        </p:spPr>
      </p:sp>
      <p:pic>
        <p:nvPicPr>
          <p:cNvPr id="38" name="Image 6" descr="preencoded.png">    </p:cNvPr>
          <p:cNvPicPr>
            <a:picLocks noChangeAspect="1"/>
          </p:cNvPicPr>
          <p:nvPr/>
        </p:nvPicPr>
        <p:blipFill>
          <a:blip r:embed="rId7"/>
          <a:stretch>
            <a:fillRect/>
          </a:stretch>
        </p:blipFill>
        <p:spPr>
          <a:xfrm>
            <a:off x="3543300" y="4251960"/>
            <a:ext cx="228600" cy="228600"/>
          </a:xfrm>
          <a:prstGeom prst="rect">
            <a:avLst/>
          </a:prstGeom>
        </p:spPr>
      </p:pic>
      <p:sp>
        <p:nvSpPr>
          <p:cNvPr id="39" name="Text 30"/>
          <p:cNvSpPr txBox="1"/>
          <p:nvPr/>
        </p:nvSpPr>
        <p:spPr>
          <a:xfrm>
            <a:off x="4005072" y="4041648"/>
            <a:ext cx="1737360" cy="292608"/>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Notifications</a:t>
            </a:r>
            <a:endParaRPr lang="en-US" sz="1300" dirty="0"/>
          </a:p>
        </p:txBody>
      </p:sp>
      <p:sp>
        <p:nvSpPr>
          <p:cNvPr id="40" name="Text 31"/>
          <p:cNvSpPr txBox="1"/>
          <p:nvPr/>
        </p:nvSpPr>
        <p:spPr>
          <a:xfrm>
            <a:off x="4005072" y="4315968"/>
            <a:ext cx="1755648" cy="44805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In-app, email (Gmail SMTP), text (Twilio)</a:t>
            </a:r>
            <a:endParaRPr lang="en-US" sz="950" dirty="0"/>
          </a:p>
        </p:txBody>
      </p:sp>
      <p:sp>
        <p:nvSpPr>
          <p:cNvPr id="41" name="Shape 32"/>
          <p:cNvSpPr/>
          <p:nvPr/>
        </p:nvSpPr>
        <p:spPr>
          <a:xfrm>
            <a:off x="6126480" y="3931920"/>
            <a:ext cx="2560320" cy="868680"/>
          </a:xfrm>
          <a:prstGeom prst="roundRect">
            <a:avLst>
              <a:gd name="adj" fmla="val 12632"/>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42" name="Shape 33"/>
          <p:cNvSpPr/>
          <p:nvPr/>
        </p:nvSpPr>
        <p:spPr>
          <a:xfrm>
            <a:off x="6263640" y="4137660"/>
            <a:ext cx="457200" cy="457200"/>
          </a:xfrm>
          <a:prstGeom prst="ellipse">
            <a:avLst/>
          </a:prstGeom>
          <a:solidFill>
            <a:srgbClr val="1B6B63"/>
          </a:solidFill>
          <a:ln w="12700">
            <a:solidFill>
              <a:srgbClr val="1B6B63"/>
            </a:solidFill>
            <a:prstDash val="solid"/>
          </a:ln>
        </p:spPr>
      </p:sp>
      <p:pic>
        <p:nvPicPr>
          <p:cNvPr id="43" name="Image 7" descr="preencoded.png">    </p:cNvPr>
          <p:cNvPicPr>
            <a:picLocks noChangeAspect="1"/>
          </p:cNvPicPr>
          <p:nvPr/>
        </p:nvPicPr>
        <p:blipFill>
          <a:blip r:embed="rId8"/>
          <a:stretch>
            <a:fillRect/>
          </a:stretch>
        </p:blipFill>
        <p:spPr>
          <a:xfrm>
            <a:off x="6377940" y="4251960"/>
            <a:ext cx="228600" cy="228600"/>
          </a:xfrm>
          <a:prstGeom prst="rect">
            <a:avLst/>
          </a:prstGeom>
        </p:spPr>
      </p:pic>
      <p:sp>
        <p:nvSpPr>
          <p:cNvPr id="44" name="Text 34"/>
          <p:cNvSpPr txBox="1"/>
          <p:nvPr/>
        </p:nvSpPr>
        <p:spPr>
          <a:xfrm>
            <a:off x="6839712" y="4041648"/>
            <a:ext cx="1737360" cy="292608"/>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Secret Manager</a:t>
            </a:r>
            <a:endParaRPr lang="en-US" sz="1300" dirty="0"/>
          </a:p>
        </p:txBody>
      </p:sp>
      <p:sp>
        <p:nvSpPr>
          <p:cNvPr id="45" name="Text 35"/>
          <p:cNvSpPr txBox="1"/>
          <p:nvPr/>
        </p:nvSpPr>
        <p:spPr>
          <a:xfrm>
            <a:off x="6839712" y="4315968"/>
            <a:ext cx="1755648" cy="44805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Database, AI, messaging and sign-in secrets</a:t>
            </a:r>
            <a:endParaRPr lang="en-US" sz="950" dirty="0"/>
          </a:p>
        </p:txBody>
      </p:sp>
      <p:sp>
        <p:nvSpPr>
          <p:cNvPr id="46" name="Shape 36"/>
          <p:cNvSpPr/>
          <p:nvPr/>
        </p:nvSpPr>
        <p:spPr>
          <a:xfrm>
            <a:off x="1737360" y="2286000"/>
            <a:ext cx="0" cy="411480"/>
          </a:xfrm>
          <a:prstGeom prst="line">
            <a:avLst/>
          </a:prstGeom>
          <a:noFill/>
          <a:ln w="19050">
            <a:solidFill>
              <a:srgbClr val="2A9D8F"/>
            </a:solidFill>
            <a:prstDash val="dash"/>
          </a:ln>
        </p:spPr>
      </p:sp>
      <p:sp>
        <p:nvSpPr>
          <p:cNvPr id="47" name="Shape 37"/>
          <p:cNvSpPr/>
          <p:nvPr/>
        </p:nvSpPr>
        <p:spPr>
          <a:xfrm>
            <a:off x="4572000" y="2286000"/>
            <a:ext cx="0" cy="411480"/>
          </a:xfrm>
          <a:prstGeom prst="line">
            <a:avLst/>
          </a:prstGeom>
          <a:noFill/>
          <a:ln w="19050">
            <a:solidFill>
              <a:srgbClr val="2A9D8F"/>
            </a:solidFill>
            <a:prstDash val="dash"/>
          </a:ln>
        </p:spPr>
      </p:sp>
      <p:sp>
        <p:nvSpPr>
          <p:cNvPr id="48" name="Shape 38"/>
          <p:cNvSpPr/>
          <p:nvPr/>
        </p:nvSpPr>
        <p:spPr>
          <a:xfrm>
            <a:off x="7406640" y="2286000"/>
            <a:ext cx="0" cy="411480"/>
          </a:xfrm>
          <a:prstGeom prst="line">
            <a:avLst/>
          </a:prstGeom>
          <a:noFill/>
          <a:ln w="19050">
            <a:solidFill>
              <a:srgbClr val="2A9D8F"/>
            </a:solidFill>
            <a:prstDash val="dash"/>
          </a:ln>
        </p:spPr>
      </p:sp>
      <p:sp>
        <p:nvSpPr>
          <p:cNvPr id="49" name="Shape 39"/>
          <p:cNvSpPr/>
          <p:nvPr/>
        </p:nvSpPr>
        <p:spPr>
          <a:xfrm>
            <a:off x="4572000" y="3611880"/>
            <a:ext cx="0" cy="320040"/>
          </a:xfrm>
          <a:prstGeom prst="line">
            <a:avLst/>
          </a:prstGeom>
          <a:noFill/>
          <a:ln w="19050">
            <a:solidFill>
              <a:srgbClr val="2A9D8F"/>
            </a:solidFill>
            <a:prstDash val="dash"/>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34E4A"/>
                </a:solidFill>
                <a:latin typeface="Calibri" pitchFamily="34" charset="0"/>
                <a:ea typeface="Calibri" pitchFamily="34" charset="-122"/>
                <a:cs typeface="Calibri" pitchFamily="34" charset="-120"/>
              </a:rPr>
              <a:t>Sign-in: your organization's account</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OpenID Connect with PKCE. The provider proves who you are; Bioverse decides what you can do.</a:t>
            </a:r>
            <a:endParaRPr lang="en-US" sz="1300" dirty="0"/>
          </a:p>
        </p:txBody>
      </p:sp>
      <p:sp>
        <p:nvSpPr>
          <p:cNvPr id="4" name="Shape 2"/>
          <p:cNvSpPr/>
          <p:nvPr/>
        </p:nvSpPr>
        <p:spPr>
          <a:xfrm>
            <a:off x="457200" y="1417320"/>
            <a:ext cx="1426464" cy="2331720"/>
          </a:xfrm>
          <a:prstGeom prst="roundRect">
            <a:avLst>
              <a:gd name="adj" fmla="val 7692"/>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5" name="Shape 3"/>
          <p:cNvSpPr/>
          <p:nvPr/>
        </p:nvSpPr>
        <p:spPr>
          <a:xfrm>
            <a:off x="585216" y="1563624"/>
            <a:ext cx="457200" cy="457200"/>
          </a:xfrm>
          <a:prstGeom prst="ellipse">
            <a:avLst/>
          </a:prstGeom>
          <a:solidFill>
            <a:srgbClr val="1B6B63"/>
          </a:solidFill>
          <a:ln w="12700">
            <a:solidFill>
              <a:srgbClr val="1B6B63"/>
            </a:solidFill>
            <a:prstDash val="solid"/>
          </a:ln>
        </p:spPr>
      </p:sp>
      <p:pic>
        <p:nvPicPr>
          <p:cNvPr id="6" name="Image 0" descr="preencoded.png">    </p:cNvPr>
          <p:cNvPicPr>
            <a:picLocks noChangeAspect="1"/>
          </p:cNvPicPr>
          <p:nvPr/>
        </p:nvPicPr>
        <p:blipFill>
          <a:blip r:embed="rId1"/>
          <a:stretch>
            <a:fillRect/>
          </a:stretch>
        </p:blipFill>
        <p:spPr>
          <a:xfrm>
            <a:off x="699516" y="1677924"/>
            <a:ext cx="228600" cy="228600"/>
          </a:xfrm>
          <a:prstGeom prst="rect">
            <a:avLst/>
          </a:prstGeom>
        </p:spPr>
      </p:pic>
      <p:sp>
        <p:nvSpPr>
          <p:cNvPr id="7" name="Text 4"/>
          <p:cNvSpPr txBox="1"/>
          <p:nvPr/>
        </p:nvSpPr>
        <p:spPr>
          <a:xfrm>
            <a:off x="1499616" y="1563624"/>
            <a:ext cx="274320" cy="274320"/>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1</a:t>
            </a:r>
            <a:endParaRPr lang="en-US" sz="1200" dirty="0"/>
          </a:p>
        </p:txBody>
      </p:sp>
      <p:sp>
        <p:nvSpPr>
          <p:cNvPr id="8" name="Text 5"/>
          <p:cNvSpPr txBox="1"/>
          <p:nvPr/>
        </p:nvSpPr>
        <p:spPr>
          <a:xfrm>
            <a:off x="585216" y="2112264"/>
            <a:ext cx="1243584" cy="45720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Choose provider</a:t>
            </a:r>
            <a:endParaRPr lang="en-US" sz="1300" dirty="0"/>
          </a:p>
        </p:txBody>
      </p:sp>
      <p:sp>
        <p:nvSpPr>
          <p:cNvPr id="9" name="Text 6"/>
          <p:cNvSpPr txBox="1"/>
          <p:nvPr/>
        </p:nvSpPr>
        <p:spPr>
          <a:xfrm>
            <a:off x="585216" y="2551176"/>
            <a:ext cx="1207008" cy="1106424"/>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Microsoft, Okta or Google on the sign-in page</a:t>
            </a:r>
            <a:endParaRPr lang="en-US" sz="1050" dirty="0"/>
          </a:p>
        </p:txBody>
      </p:sp>
      <p:sp>
        <p:nvSpPr>
          <p:cNvPr id="10" name="Shape 7"/>
          <p:cNvSpPr/>
          <p:nvPr/>
        </p:nvSpPr>
        <p:spPr>
          <a:xfrm>
            <a:off x="1901952" y="2464308"/>
            <a:ext cx="237744" cy="237744"/>
          </a:xfrm>
          <a:prstGeom prst="rightArrow">
            <a:avLst/>
          </a:prstGeom>
          <a:solidFill>
            <a:srgbClr val="2A9D8F"/>
          </a:solidFill>
          <a:ln w="12700">
            <a:solidFill>
              <a:srgbClr val="2A9D8F"/>
            </a:solidFill>
            <a:prstDash val="solid"/>
          </a:ln>
        </p:spPr>
      </p:sp>
      <p:sp>
        <p:nvSpPr>
          <p:cNvPr id="11" name="Shape 8"/>
          <p:cNvSpPr/>
          <p:nvPr/>
        </p:nvSpPr>
        <p:spPr>
          <a:xfrm>
            <a:off x="2157984" y="1417320"/>
            <a:ext cx="1426464" cy="2331720"/>
          </a:xfrm>
          <a:prstGeom prst="roundRect">
            <a:avLst>
              <a:gd name="adj" fmla="val 7692"/>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2" name="Shape 9"/>
          <p:cNvSpPr/>
          <p:nvPr/>
        </p:nvSpPr>
        <p:spPr>
          <a:xfrm>
            <a:off x="2286000" y="1563624"/>
            <a:ext cx="457200" cy="457200"/>
          </a:xfrm>
          <a:prstGeom prst="ellipse">
            <a:avLst/>
          </a:prstGeom>
          <a:solidFill>
            <a:srgbClr val="1B6B63"/>
          </a:solidFill>
          <a:ln w="12700">
            <a:solidFill>
              <a:srgbClr val="1B6B63"/>
            </a:solidFill>
            <a:prstDash val="solid"/>
          </a:ln>
        </p:spPr>
      </p:sp>
      <p:pic>
        <p:nvPicPr>
          <p:cNvPr id="13" name="Image 1" descr="preencoded.png">    </p:cNvPr>
          <p:cNvPicPr>
            <a:picLocks noChangeAspect="1"/>
          </p:cNvPicPr>
          <p:nvPr/>
        </p:nvPicPr>
        <p:blipFill>
          <a:blip r:embed="rId2"/>
          <a:stretch>
            <a:fillRect/>
          </a:stretch>
        </p:blipFill>
        <p:spPr>
          <a:xfrm>
            <a:off x="2400300" y="1677924"/>
            <a:ext cx="228600" cy="228600"/>
          </a:xfrm>
          <a:prstGeom prst="rect">
            <a:avLst/>
          </a:prstGeom>
        </p:spPr>
      </p:pic>
      <p:sp>
        <p:nvSpPr>
          <p:cNvPr id="14" name="Text 10"/>
          <p:cNvSpPr txBox="1"/>
          <p:nvPr/>
        </p:nvSpPr>
        <p:spPr>
          <a:xfrm>
            <a:off x="3200400" y="1563624"/>
            <a:ext cx="274320" cy="274320"/>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2</a:t>
            </a:r>
            <a:endParaRPr lang="en-US" sz="1200" dirty="0"/>
          </a:p>
        </p:txBody>
      </p:sp>
      <p:sp>
        <p:nvSpPr>
          <p:cNvPr id="15" name="Text 11"/>
          <p:cNvSpPr txBox="1"/>
          <p:nvPr/>
        </p:nvSpPr>
        <p:spPr>
          <a:xfrm>
            <a:off x="2286000" y="2112264"/>
            <a:ext cx="1243584" cy="45720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Sign in there</a:t>
            </a:r>
            <a:endParaRPr lang="en-US" sz="1300" dirty="0"/>
          </a:p>
        </p:txBody>
      </p:sp>
      <p:sp>
        <p:nvSpPr>
          <p:cNvPr id="16" name="Text 12"/>
          <p:cNvSpPr txBox="1"/>
          <p:nvPr/>
        </p:nvSpPr>
        <p:spPr>
          <a:xfrm>
            <a:off x="2286000" y="2551176"/>
            <a:ext cx="1207008" cy="1106424"/>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Your organization's login and MFA, as usual</a:t>
            </a:r>
            <a:endParaRPr lang="en-US" sz="1050" dirty="0"/>
          </a:p>
        </p:txBody>
      </p:sp>
      <p:sp>
        <p:nvSpPr>
          <p:cNvPr id="17" name="Shape 13"/>
          <p:cNvSpPr/>
          <p:nvPr/>
        </p:nvSpPr>
        <p:spPr>
          <a:xfrm>
            <a:off x="3602736" y="2464308"/>
            <a:ext cx="237744" cy="237744"/>
          </a:xfrm>
          <a:prstGeom prst="rightArrow">
            <a:avLst/>
          </a:prstGeom>
          <a:solidFill>
            <a:srgbClr val="2A9D8F"/>
          </a:solidFill>
          <a:ln w="12700">
            <a:solidFill>
              <a:srgbClr val="2A9D8F"/>
            </a:solidFill>
            <a:prstDash val="solid"/>
          </a:ln>
        </p:spPr>
      </p:sp>
      <p:sp>
        <p:nvSpPr>
          <p:cNvPr id="18" name="Shape 14"/>
          <p:cNvSpPr/>
          <p:nvPr/>
        </p:nvSpPr>
        <p:spPr>
          <a:xfrm>
            <a:off x="3858768" y="1417320"/>
            <a:ext cx="1426464" cy="2331720"/>
          </a:xfrm>
          <a:prstGeom prst="roundRect">
            <a:avLst>
              <a:gd name="adj" fmla="val 7692"/>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9" name="Shape 15"/>
          <p:cNvSpPr/>
          <p:nvPr/>
        </p:nvSpPr>
        <p:spPr>
          <a:xfrm>
            <a:off x="3986784" y="1563624"/>
            <a:ext cx="457200" cy="457200"/>
          </a:xfrm>
          <a:prstGeom prst="ellipse">
            <a:avLst/>
          </a:prstGeom>
          <a:solidFill>
            <a:srgbClr val="1B6B63"/>
          </a:solidFill>
          <a:ln w="12700">
            <a:solidFill>
              <a:srgbClr val="1B6B63"/>
            </a:solidFill>
            <a:prstDash val="solid"/>
          </a:ln>
        </p:spPr>
      </p:sp>
      <p:pic>
        <p:nvPicPr>
          <p:cNvPr id="20" name="Image 2" descr="preencoded.png">    </p:cNvPr>
          <p:cNvPicPr>
            <a:picLocks noChangeAspect="1"/>
          </p:cNvPicPr>
          <p:nvPr/>
        </p:nvPicPr>
        <p:blipFill>
          <a:blip r:embed="rId3"/>
          <a:stretch>
            <a:fillRect/>
          </a:stretch>
        </p:blipFill>
        <p:spPr>
          <a:xfrm>
            <a:off x="4101084" y="1677924"/>
            <a:ext cx="228600" cy="228600"/>
          </a:xfrm>
          <a:prstGeom prst="rect">
            <a:avLst/>
          </a:prstGeom>
        </p:spPr>
      </p:pic>
      <p:sp>
        <p:nvSpPr>
          <p:cNvPr id="21" name="Text 16"/>
          <p:cNvSpPr txBox="1"/>
          <p:nvPr/>
        </p:nvSpPr>
        <p:spPr>
          <a:xfrm>
            <a:off x="4901184" y="1563624"/>
            <a:ext cx="274320" cy="274320"/>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3</a:t>
            </a:r>
            <a:endParaRPr lang="en-US" sz="1200" dirty="0"/>
          </a:p>
        </p:txBody>
      </p:sp>
      <p:sp>
        <p:nvSpPr>
          <p:cNvPr id="22" name="Text 17"/>
          <p:cNvSpPr txBox="1"/>
          <p:nvPr/>
        </p:nvSpPr>
        <p:spPr>
          <a:xfrm>
            <a:off x="3986784" y="2112264"/>
            <a:ext cx="1243584" cy="45720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Token checked</a:t>
            </a:r>
            <a:endParaRPr lang="en-US" sz="1300" dirty="0"/>
          </a:p>
        </p:txBody>
      </p:sp>
      <p:sp>
        <p:nvSpPr>
          <p:cNvPr id="23" name="Text 18"/>
          <p:cNvSpPr txBox="1"/>
          <p:nvPr/>
        </p:nvSpPr>
        <p:spPr>
          <a:xfrm>
            <a:off x="3986784" y="2551176"/>
            <a:ext cx="1207008" cy="1106424"/>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Signature, issuer, audience, expiry, one-time state and nonce</a:t>
            </a:r>
            <a:endParaRPr lang="en-US" sz="1050" dirty="0"/>
          </a:p>
        </p:txBody>
      </p:sp>
      <p:sp>
        <p:nvSpPr>
          <p:cNvPr id="24" name="Shape 19"/>
          <p:cNvSpPr/>
          <p:nvPr/>
        </p:nvSpPr>
        <p:spPr>
          <a:xfrm>
            <a:off x="5303520" y="2464308"/>
            <a:ext cx="237744" cy="237744"/>
          </a:xfrm>
          <a:prstGeom prst="rightArrow">
            <a:avLst/>
          </a:prstGeom>
          <a:solidFill>
            <a:srgbClr val="2A9D8F"/>
          </a:solidFill>
          <a:ln w="12700">
            <a:solidFill>
              <a:srgbClr val="2A9D8F"/>
            </a:solidFill>
            <a:prstDash val="solid"/>
          </a:ln>
        </p:spPr>
      </p:sp>
      <p:sp>
        <p:nvSpPr>
          <p:cNvPr id="25" name="Shape 20"/>
          <p:cNvSpPr/>
          <p:nvPr/>
        </p:nvSpPr>
        <p:spPr>
          <a:xfrm>
            <a:off x="5559552" y="1417320"/>
            <a:ext cx="1426464" cy="2331720"/>
          </a:xfrm>
          <a:prstGeom prst="roundRect">
            <a:avLst>
              <a:gd name="adj" fmla="val 7692"/>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26" name="Shape 21"/>
          <p:cNvSpPr/>
          <p:nvPr/>
        </p:nvSpPr>
        <p:spPr>
          <a:xfrm>
            <a:off x="5687568" y="1563624"/>
            <a:ext cx="457200" cy="457200"/>
          </a:xfrm>
          <a:prstGeom prst="ellipse">
            <a:avLst/>
          </a:prstGeom>
          <a:solidFill>
            <a:srgbClr val="1B6B63"/>
          </a:solidFill>
          <a:ln w="12700">
            <a:solidFill>
              <a:srgbClr val="1B6B63"/>
            </a:solidFill>
            <a:prstDash val="solid"/>
          </a:ln>
        </p:spPr>
      </p:sp>
      <p:pic>
        <p:nvPicPr>
          <p:cNvPr id="27" name="Image 3" descr="preencoded.png">    </p:cNvPr>
          <p:cNvPicPr>
            <a:picLocks noChangeAspect="1"/>
          </p:cNvPicPr>
          <p:nvPr/>
        </p:nvPicPr>
        <p:blipFill>
          <a:blip r:embed="rId4"/>
          <a:stretch>
            <a:fillRect/>
          </a:stretch>
        </p:blipFill>
        <p:spPr>
          <a:xfrm>
            <a:off x="5801868" y="1677924"/>
            <a:ext cx="228600" cy="228600"/>
          </a:xfrm>
          <a:prstGeom prst="rect">
            <a:avLst/>
          </a:prstGeom>
        </p:spPr>
      </p:pic>
      <p:sp>
        <p:nvSpPr>
          <p:cNvPr id="28" name="Text 22"/>
          <p:cNvSpPr txBox="1"/>
          <p:nvPr/>
        </p:nvSpPr>
        <p:spPr>
          <a:xfrm>
            <a:off x="6601968" y="1563624"/>
            <a:ext cx="274320" cy="274320"/>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4</a:t>
            </a:r>
            <a:endParaRPr lang="en-US" sz="1200" dirty="0"/>
          </a:p>
        </p:txBody>
      </p:sp>
      <p:sp>
        <p:nvSpPr>
          <p:cNvPr id="29" name="Text 23"/>
          <p:cNvSpPr txBox="1"/>
          <p:nvPr/>
        </p:nvSpPr>
        <p:spPr>
          <a:xfrm>
            <a:off x="5687568" y="2112264"/>
            <a:ext cx="1243584" cy="45720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Linked to you</a:t>
            </a:r>
            <a:endParaRPr lang="en-US" sz="1300" dirty="0"/>
          </a:p>
        </p:txBody>
      </p:sp>
      <p:sp>
        <p:nvSpPr>
          <p:cNvPr id="30" name="Text 24"/>
          <p:cNvSpPr txBox="1"/>
          <p:nvPr/>
        </p:nvSpPr>
        <p:spPr>
          <a:xfrm>
            <a:off x="5687568" y="2551176"/>
            <a:ext cx="1207008" cy="1106424"/>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Verified email matches your Bioverse account and role</a:t>
            </a:r>
            <a:endParaRPr lang="en-US" sz="1050" dirty="0"/>
          </a:p>
        </p:txBody>
      </p:sp>
      <p:sp>
        <p:nvSpPr>
          <p:cNvPr id="31" name="Shape 25"/>
          <p:cNvSpPr/>
          <p:nvPr/>
        </p:nvSpPr>
        <p:spPr>
          <a:xfrm>
            <a:off x="7004304" y="2464308"/>
            <a:ext cx="237744" cy="237744"/>
          </a:xfrm>
          <a:prstGeom prst="rightArrow">
            <a:avLst/>
          </a:prstGeom>
          <a:solidFill>
            <a:srgbClr val="2A9D8F"/>
          </a:solidFill>
          <a:ln w="12700">
            <a:solidFill>
              <a:srgbClr val="2A9D8F"/>
            </a:solidFill>
            <a:prstDash val="solid"/>
          </a:ln>
        </p:spPr>
      </p:sp>
      <p:sp>
        <p:nvSpPr>
          <p:cNvPr id="32" name="Shape 26"/>
          <p:cNvSpPr/>
          <p:nvPr/>
        </p:nvSpPr>
        <p:spPr>
          <a:xfrm>
            <a:off x="7260336" y="1417320"/>
            <a:ext cx="1426464" cy="2331720"/>
          </a:xfrm>
          <a:prstGeom prst="roundRect">
            <a:avLst>
              <a:gd name="adj" fmla="val 7692"/>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33" name="Shape 27"/>
          <p:cNvSpPr/>
          <p:nvPr/>
        </p:nvSpPr>
        <p:spPr>
          <a:xfrm>
            <a:off x="7388352" y="1563624"/>
            <a:ext cx="457200" cy="457200"/>
          </a:xfrm>
          <a:prstGeom prst="ellipse">
            <a:avLst/>
          </a:prstGeom>
          <a:solidFill>
            <a:srgbClr val="1B6B63"/>
          </a:solidFill>
          <a:ln w="12700">
            <a:solidFill>
              <a:srgbClr val="1B6B63"/>
            </a:solidFill>
            <a:prstDash val="solid"/>
          </a:ln>
        </p:spPr>
      </p:sp>
      <p:pic>
        <p:nvPicPr>
          <p:cNvPr id="34" name="Image 4" descr="preencoded.png">    </p:cNvPr>
          <p:cNvPicPr>
            <a:picLocks noChangeAspect="1"/>
          </p:cNvPicPr>
          <p:nvPr/>
        </p:nvPicPr>
        <p:blipFill>
          <a:blip r:embed="rId5"/>
          <a:stretch>
            <a:fillRect/>
          </a:stretch>
        </p:blipFill>
        <p:spPr>
          <a:xfrm>
            <a:off x="7502652" y="1677924"/>
            <a:ext cx="228600" cy="228600"/>
          </a:xfrm>
          <a:prstGeom prst="rect">
            <a:avLst/>
          </a:prstGeom>
        </p:spPr>
      </p:pic>
      <p:sp>
        <p:nvSpPr>
          <p:cNvPr id="35" name="Text 28"/>
          <p:cNvSpPr txBox="1"/>
          <p:nvPr/>
        </p:nvSpPr>
        <p:spPr>
          <a:xfrm>
            <a:off x="8302752" y="1563624"/>
            <a:ext cx="274320" cy="274320"/>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5</a:t>
            </a:r>
            <a:endParaRPr lang="en-US" sz="1200" dirty="0"/>
          </a:p>
        </p:txBody>
      </p:sp>
      <p:sp>
        <p:nvSpPr>
          <p:cNvPr id="36" name="Text 29"/>
          <p:cNvSpPr txBox="1"/>
          <p:nvPr/>
        </p:nvSpPr>
        <p:spPr>
          <a:xfrm>
            <a:off x="7388352" y="2112264"/>
            <a:ext cx="1243584" cy="45720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Your home</a:t>
            </a:r>
            <a:endParaRPr lang="en-US" sz="1300" dirty="0"/>
          </a:p>
        </p:txBody>
      </p:sp>
      <p:sp>
        <p:nvSpPr>
          <p:cNvPr id="37" name="Text 30"/>
          <p:cNvSpPr txBox="1"/>
          <p:nvPr/>
        </p:nvSpPr>
        <p:spPr>
          <a:xfrm>
            <a:off x="7388352" y="2551176"/>
            <a:ext cx="1207008" cy="1106424"/>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Secure session; 60 min idle and 12 h limits; sign-out ends both</a:t>
            </a:r>
            <a:endParaRPr lang="en-US" sz="1050" dirty="0"/>
          </a:p>
        </p:txBody>
      </p:sp>
      <p:sp>
        <p:nvSpPr>
          <p:cNvPr id="38" name="Shape 31"/>
          <p:cNvSpPr/>
          <p:nvPr/>
        </p:nvSpPr>
        <p:spPr>
          <a:xfrm>
            <a:off x="457200" y="3977640"/>
            <a:ext cx="8229600" cy="685800"/>
          </a:xfrm>
          <a:prstGeom prst="roundRect">
            <a:avLst>
              <a:gd name="adj" fmla="val 16000"/>
            </a:avLst>
          </a:prstGeom>
          <a:solidFill>
            <a:srgbClr val="E6F4F1"/>
          </a:solidFill>
          <a:ln w="9525">
            <a:solidFill>
              <a:srgbClr val="E6F4F1"/>
            </a:solidFill>
            <a:prstDash val="solid"/>
          </a:ln>
          <a:effectLst>
            <a:outerShdw sx="100000" sy="100000" kx="0" ky="0" algn="bl" rotWithShape="0" blurRad="76200" dist="19050" dir="5400000">
              <a:srgbClr val="000000">
                <a:alpha val="8000"/>
              </a:srgbClr>
            </a:outerShdw>
          </a:effectLst>
        </p:spPr>
      </p:sp>
      <p:sp>
        <p:nvSpPr>
          <p:cNvPr id="39" name="Text 32"/>
          <p:cNvSpPr txBox="1"/>
          <p:nvPr/>
        </p:nvSpPr>
        <p:spPr>
          <a:xfrm>
            <a:off x="640080" y="4050792"/>
            <a:ext cx="7863840" cy="548640"/>
          </a:xfrm>
          <a:prstGeom prst="rect">
            <a:avLst/>
          </a:prstGeom>
          <a:noFill/>
          <a:ln/>
        </p:spPr>
        <p:txBody>
          <a:bodyPr wrap="square" lIns="0" tIns="0" rIns="0" bIns="0" rtlCol="0" anchor="ctr"/>
          <a:lstStyle/>
          <a:p>
            <a:pPr indent="0" marL="0">
              <a:buNone/>
            </a:pPr>
            <a:r>
              <a:rPr lang="en-US" sz="1200" dirty="0">
                <a:solidFill>
                  <a:srgbClr val="134E4A"/>
                </a:solidFill>
                <a:latin typeface="Calibri" pitchFamily="34" charset="0"/>
                <a:ea typeface="Calibri" pitchFamily="34" charset="-122"/>
                <a:cs typeface="Calibri" pitchFamily="34" charset="-120"/>
              </a:rPr>
              <a:t>Admins add people, set sign-in emails, unlink accounts and turn access off under People &amp; sign-in. The first admin is created from BOOTSTRAP_ADMINS.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8"/>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34E4A"/>
                </a:solidFill>
                <a:latin typeface="Calibri" pitchFamily="34" charset="0"/>
                <a:ea typeface="Calibri" pitchFamily="34" charset="-122"/>
                <a:cs typeface="Calibri" pitchFamily="34" charset="-120"/>
              </a:rPr>
              <a:t>The patient journey</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Maya asks one question; Bioverse carries her through to follow-up</a:t>
            </a:r>
            <a:endParaRPr lang="en-US" sz="1300" dirty="0"/>
          </a:p>
        </p:txBody>
      </p:sp>
      <p:sp>
        <p:nvSpPr>
          <p:cNvPr id="4" name="Shape 2"/>
          <p:cNvSpPr/>
          <p:nvPr/>
        </p:nvSpPr>
        <p:spPr>
          <a:xfrm>
            <a:off x="457200" y="1417320"/>
            <a:ext cx="1203960" cy="2377440"/>
          </a:xfrm>
          <a:prstGeom prst="roundRect">
            <a:avLst>
              <a:gd name="adj" fmla="val 9114"/>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5" name="Shape 3"/>
          <p:cNvSpPr/>
          <p:nvPr/>
        </p:nvSpPr>
        <p:spPr>
          <a:xfrm>
            <a:off x="585216" y="1563624"/>
            <a:ext cx="457200" cy="457200"/>
          </a:xfrm>
          <a:prstGeom prst="ellipse">
            <a:avLst/>
          </a:prstGeom>
          <a:solidFill>
            <a:srgbClr val="1B6B63"/>
          </a:solidFill>
          <a:ln w="12700">
            <a:solidFill>
              <a:srgbClr val="1B6B63"/>
            </a:solidFill>
            <a:prstDash val="solid"/>
          </a:ln>
        </p:spPr>
      </p:sp>
      <p:pic>
        <p:nvPicPr>
          <p:cNvPr id="6" name="Image 0" descr="preencoded.png">    </p:cNvPr>
          <p:cNvPicPr>
            <a:picLocks noChangeAspect="1"/>
          </p:cNvPicPr>
          <p:nvPr/>
        </p:nvPicPr>
        <p:blipFill>
          <a:blip r:embed="rId1"/>
          <a:stretch>
            <a:fillRect/>
          </a:stretch>
        </p:blipFill>
        <p:spPr>
          <a:xfrm>
            <a:off x="699516" y="1677924"/>
            <a:ext cx="228600" cy="228600"/>
          </a:xfrm>
          <a:prstGeom prst="rect">
            <a:avLst/>
          </a:prstGeom>
        </p:spPr>
      </p:pic>
      <p:sp>
        <p:nvSpPr>
          <p:cNvPr id="7" name="Text 4"/>
          <p:cNvSpPr txBox="1"/>
          <p:nvPr/>
        </p:nvSpPr>
        <p:spPr>
          <a:xfrm>
            <a:off x="1277112" y="1563624"/>
            <a:ext cx="274320" cy="274320"/>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1</a:t>
            </a:r>
            <a:endParaRPr lang="en-US" sz="1200" dirty="0"/>
          </a:p>
        </p:txBody>
      </p:sp>
      <p:sp>
        <p:nvSpPr>
          <p:cNvPr id="8" name="Text 5"/>
          <p:cNvSpPr txBox="1"/>
          <p:nvPr/>
        </p:nvSpPr>
        <p:spPr>
          <a:xfrm>
            <a:off x="585216" y="2112264"/>
            <a:ext cx="1021080" cy="457200"/>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Ask</a:t>
            </a:r>
            <a:endParaRPr lang="en-US" sz="1200" dirty="0"/>
          </a:p>
        </p:txBody>
      </p:sp>
      <p:sp>
        <p:nvSpPr>
          <p:cNvPr id="9" name="Text 6"/>
          <p:cNvSpPr txBox="1"/>
          <p:nvPr/>
        </p:nvSpPr>
        <p:spPr>
          <a:xfrm>
            <a:off x="585216" y="2551176"/>
            <a:ext cx="984504" cy="1152144"/>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Type, speak or send a photo on Ask Bioverse</a:t>
            </a:r>
            <a:endParaRPr lang="en-US" sz="1050" dirty="0"/>
          </a:p>
        </p:txBody>
      </p:sp>
      <p:sp>
        <p:nvSpPr>
          <p:cNvPr id="10" name="Shape 7"/>
          <p:cNvSpPr/>
          <p:nvPr/>
        </p:nvSpPr>
        <p:spPr>
          <a:xfrm>
            <a:off x="1679448" y="2487168"/>
            <a:ext cx="164592" cy="237744"/>
          </a:xfrm>
          <a:prstGeom prst="rightArrow">
            <a:avLst/>
          </a:prstGeom>
          <a:solidFill>
            <a:srgbClr val="2A9D8F"/>
          </a:solidFill>
          <a:ln w="12700">
            <a:solidFill>
              <a:srgbClr val="2A9D8F"/>
            </a:solidFill>
            <a:prstDash val="solid"/>
          </a:ln>
        </p:spPr>
      </p:sp>
      <p:sp>
        <p:nvSpPr>
          <p:cNvPr id="11" name="Shape 8"/>
          <p:cNvSpPr/>
          <p:nvPr/>
        </p:nvSpPr>
        <p:spPr>
          <a:xfrm>
            <a:off x="1862328" y="1417320"/>
            <a:ext cx="1203960" cy="2377440"/>
          </a:xfrm>
          <a:prstGeom prst="roundRect">
            <a:avLst>
              <a:gd name="adj" fmla="val 9114"/>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2" name="Shape 9"/>
          <p:cNvSpPr/>
          <p:nvPr/>
        </p:nvSpPr>
        <p:spPr>
          <a:xfrm>
            <a:off x="1990344" y="1563624"/>
            <a:ext cx="457200" cy="457200"/>
          </a:xfrm>
          <a:prstGeom prst="ellipse">
            <a:avLst/>
          </a:prstGeom>
          <a:solidFill>
            <a:srgbClr val="DC2626"/>
          </a:solidFill>
          <a:ln w="12700">
            <a:solidFill>
              <a:srgbClr val="DC2626"/>
            </a:solidFill>
            <a:prstDash val="solid"/>
          </a:ln>
        </p:spPr>
      </p:sp>
      <p:pic>
        <p:nvPicPr>
          <p:cNvPr id="13" name="Image 1" descr="preencoded.png">    </p:cNvPr>
          <p:cNvPicPr>
            <a:picLocks noChangeAspect="1"/>
          </p:cNvPicPr>
          <p:nvPr/>
        </p:nvPicPr>
        <p:blipFill>
          <a:blip r:embed="rId2"/>
          <a:stretch>
            <a:fillRect/>
          </a:stretch>
        </p:blipFill>
        <p:spPr>
          <a:xfrm>
            <a:off x="2104644" y="1677924"/>
            <a:ext cx="228600" cy="228600"/>
          </a:xfrm>
          <a:prstGeom prst="rect">
            <a:avLst/>
          </a:prstGeom>
        </p:spPr>
      </p:pic>
      <p:sp>
        <p:nvSpPr>
          <p:cNvPr id="14" name="Text 10"/>
          <p:cNvSpPr txBox="1"/>
          <p:nvPr/>
        </p:nvSpPr>
        <p:spPr>
          <a:xfrm>
            <a:off x="2682240" y="1563624"/>
            <a:ext cx="274320" cy="274320"/>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2</a:t>
            </a:r>
            <a:endParaRPr lang="en-US" sz="1200" dirty="0"/>
          </a:p>
        </p:txBody>
      </p:sp>
      <p:sp>
        <p:nvSpPr>
          <p:cNvPr id="15" name="Text 11"/>
          <p:cNvSpPr txBox="1"/>
          <p:nvPr/>
        </p:nvSpPr>
        <p:spPr>
          <a:xfrm>
            <a:off x="1990344" y="2112264"/>
            <a:ext cx="1021080" cy="457200"/>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Safety first</a:t>
            </a:r>
            <a:endParaRPr lang="en-US" sz="1200" dirty="0"/>
          </a:p>
        </p:txBody>
      </p:sp>
      <p:sp>
        <p:nvSpPr>
          <p:cNvPr id="16" name="Text 12"/>
          <p:cNvSpPr txBox="1"/>
          <p:nvPr/>
        </p:nvSpPr>
        <p:spPr>
          <a:xfrm>
            <a:off x="1990344" y="2551176"/>
            <a:ext cx="984504" cy="1152144"/>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Emergency screening before anything else</a:t>
            </a:r>
            <a:endParaRPr lang="en-US" sz="1050" dirty="0"/>
          </a:p>
        </p:txBody>
      </p:sp>
      <p:sp>
        <p:nvSpPr>
          <p:cNvPr id="17" name="Shape 13"/>
          <p:cNvSpPr/>
          <p:nvPr/>
        </p:nvSpPr>
        <p:spPr>
          <a:xfrm>
            <a:off x="3084576" y="2487168"/>
            <a:ext cx="164592" cy="237744"/>
          </a:xfrm>
          <a:prstGeom prst="rightArrow">
            <a:avLst/>
          </a:prstGeom>
          <a:solidFill>
            <a:srgbClr val="2A9D8F"/>
          </a:solidFill>
          <a:ln w="12700">
            <a:solidFill>
              <a:srgbClr val="2A9D8F"/>
            </a:solidFill>
            <a:prstDash val="solid"/>
          </a:ln>
        </p:spPr>
      </p:sp>
      <p:sp>
        <p:nvSpPr>
          <p:cNvPr id="18" name="Shape 14"/>
          <p:cNvSpPr/>
          <p:nvPr/>
        </p:nvSpPr>
        <p:spPr>
          <a:xfrm>
            <a:off x="3267456" y="1417320"/>
            <a:ext cx="1203960" cy="2377440"/>
          </a:xfrm>
          <a:prstGeom prst="roundRect">
            <a:avLst>
              <a:gd name="adj" fmla="val 9114"/>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9" name="Shape 15"/>
          <p:cNvSpPr/>
          <p:nvPr/>
        </p:nvSpPr>
        <p:spPr>
          <a:xfrm>
            <a:off x="3395472" y="1563624"/>
            <a:ext cx="457200" cy="457200"/>
          </a:xfrm>
          <a:prstGeom prst="ellipse">
            <a:avLst/>
          </a:prstGeom>
          <a:solidFill>
            <a:srgbClr val="1B6B63"/>
          </a:solidFill>
          <a:ln w="12700">
            <a:solidFill>
              <a:srgbClr val="1B6B63"/>
            </a:solidFill>
            <a:prstDash val="solid"/>
          </a:ln>
        </p:spPr>
      </p:sp>
      <p:pic>
        <p:nvPicPr>
          <p:cNvPr id="20" name="Image 2" descr="preencoded.png">    </p:cNvPr>
          <p:cNvPicPr>
            <a:picLocks noChangeAspect="1"/>
          </p:cNvPicPr>
          <p:nvPr/>
        </p:nvPicPr>
        <p:blipFill>
          <a:blip r:embed="rId3"/>
          <a:stretch>
            <a:fillRect/>
          </a:stretch>
        </p:blipFill>
        <p:spPr>
          <a:xfrm>
            <a:off x="3509772" y="1677924"/>
            <a:ext cx="228600" cy="228600"/>
          </a:xfrm>
          <a:prstGeom prst="rect">
            <a:avLst/>
          </a:prstGeom>
        </p:spPr>
      </p:pic>
      <p:sp>
        <p:nvSpPr>
          <p:cNvPr id="21" name="Text 16"/>
          <p:cNvSpPr txBox="1"/>
          <p:nvPr/>
        </p:nvSpPr>
        <p:spPr>
          <a:xfrm>
            <a:off x="4087368" y="1563624"/>
            <a:ext cx="274320" cy="274320"/>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3</a:t>
            </a:r>
            <a:endParaRPr lang="en-US" sz="1200" dirty="0"/>
          </a:p>
        </p:txBody>
      </p:sp>
      <p:sp>
        <p:nvSpPr>
          <p:cNvPr id="22" name="Text 17"/>
          <p:cNvSpPr txBox="1"/>
          <p:nvPr/>
        </p:nvSpPr>
        <p:spPr>
          <a:xfrm>
            <a:off x="3395472" y="2112264"/>
            <a:ext cx="1021080" cy="457200"/>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Find care</a:t>
            </a:r>
            <a:endParaRPr lang="en-US" sz="1200" dirty="0"/>
          </a:p>
        </p:txBody>
      </p:sp>
      <p:sp>
        <p:nvSpPr>
          <p:cNvPr id="23" name="Text 18"/>
          <p:cNvSpPr txBox="1"/>
          <p:nvPr/>
        </p:nvSpPr>
        <p:spPr>
          <a:xfrm>
            <a:off x="3395472" y="2551176"/>
            <a:ext cx="984504" cy="1152144"/>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Ranked by language, coverage, time; or online consult</a:t>
            </a:r>
            <a:endParaRPr lang="en-US" sz="1050" dirty="0"/>
          </a:p>
        </p:txBody>
      </p:sp>
      <p:sp>
        <p:nvSpPr>
          <p:cNvPr id="24" name="Shape 19"/>
          <p:cNvSpPr/>
          <p:nvPr/>
        </p:nvSpPr>
        <p:spPr>
          <a:xfrm>
            <a:off x="4489704" y="2487168"/>
            <a:ext cx="164592" cy="237744"/>
          </a:xfrm>
          <a:prstGeom prst="rightArrow">
            <a:avLst/>
          </a:prstGeom>
          <a:solidFill>
            <a:srgbClr val="2A9D8F"/>
          </a:solidFill>
          <a:ln w="12700">
            <a:solidFill>
              <a:srgbClr val="2A9D8F"/>
            </a:solidFill>
            <a:prstDash val="solid"/>
          </a:ln>
        </p:spPr>
      </p:sp>
      <p:sp>
        <p:nvSpPr>
          <p:cNvPr id="25" name="Shape 20"/>
          <p:cNvSpPr/>
          <p:nvPr/>
        </p:nvSpPr>
        <p:spPr>
          <a:xfrm>
            <a:off x="4672584" y="1417320"/>
            <a:ext cx="1203960" cy="2377440"/>
          </a:xfrm>
          <a:prstGeom prst="roundRect">
            <a:avLst>
              <a:gd name="adj" fmla="val 9114"/>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26" name="Shape 21"/>
          <p:cNvSpPr/>
          <p:nvPr/>
        </p:nvSpPr>
        <p:spPr>
          <a:xfrm>
            <a:off x="4800600" y="1563624"/>
            <a:ext cx="457200" cy="457200"/>
          </a:xfrm>
          <a:prstGeom prst="ellipse">
            <a:avLst/>
          </a:prstGeom>
          <a:solidFill>
            <a:srgbClr val="1B6B63"/>
          </a:solidFill>
          <a:ln w="12700">
            <a:solidFill>
              <a:srgbClr val="1B6B63"/>
            </a:solidFill>
            <a:prstDash val="solid"/>
          </a:ln>
        </p:spPr>
      </p:sp>
      <p:pic>
        <p:nvPicPr>
          <p:cNvPr id="27" name="Image 3" descr="preencoded.png">    </p:cNvPr>
          <p:cNvPicPr>
            <a:picLocks noChangeAspect="1"/>
          </p:cNvPicPr>
          <p:nvPr/>
        </p:nvPicPr>
        <p:blipFill>
          <a:blip r:embed="rId4"/>
          <a:stretch>
            <a:fillRect/>
          </a:stretch>
        </p:blipFill>
        <p:spPr>
          <a:xfrm>
            <a:off x="4914900" y="1677924"/>
            <a:ext cx="228600" cy="228600"/>
          </a:xfrm>
          <a:prstGeom prst="rect">
            <a:avLst/>
          </a:prstGeom>
        </p:spPr>
      </p:pic>
      <p:sp>
        <p:nvSpPr>
          <p:cNvPr id="28" name="Text 22"/>
          <p:cNvSpPr txBox="1"/>
          <p:nvPr/>
        </p:nvSpPr>
        <p:spPr>
          <a:xfrm>
            <a:off x="5492496" y="1563624"/>
            <a:ext cx="274320" cy="274320"/>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4</a:t>
            </a:r>
            <a:endParaRPr lang="en-US" sz="1200" dirty="0"/>
          </a:p>
        </p:txBody>
      </p:sp>
      <p:sp>
        <p:nvSpPr>
          <p:cNvPr id="29" name="Text 23"/>
          <p:cNvSpPr txBox="1"/>
          <p:nvPr/>
        </p:nvSpPr>
        <p:spPr>
          <a:xfrm>
            <a:off x="4800600" y="2112264"/>
            <a:ext cx="1021080" cy="457200"/>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Prepare &amp; visit</a:t>
            </a:r>
            <a:endParaRPr lang="en-US" sz="1200" dirty="0"/>
          </a:p>
        </p:txBody>
      </p:sp>
      <p:sp>
        <p:nvSpPr>
          <p:cNvPr id="30" name="Text 24"/>
          <p:cNvSpPr txBox="1"/>
          <p:nvPr/>
        </p:nvSpPr>
        <p:spPr>
          <a:xfrm>
            <a:off x="4800600" y="2551176"/>
            <a:ext cx="984504" cy="1152144"/>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Checklist, check-in, hospital directions</a:t>
            </a:r>
            <a:endParaRPr lang="en-US" sz="1050" dirty="0"/>
          </a:p>
        </p:txBody>
      </p:sp>
      <p:sp>
        <p:nvSpPr>
          <p:cNvPr id="31" name="Shape 25"/>
          <p:cNvSpPr/>
          <p:nvPr/>
        </p:nvSpPr>
        <p:spPr>
          <a:xfrm>
            <a:off x="5894832" y="2487168"/>
            <a:ext cx="164592" cy="237744"/>
          </a:xfrm>
          <a:prstGeom prst="rightArrow">
            <a:avLst/>
          </a:prstGeom>
          <a:solidFill>
            <a:srgbClr val="2A9D8F"/>
          </a:solidFill>
          <a:ln w="12700">
            <a:solidFill>
              <a:srgbClr val="2A9D8F"/>
            </a:solidFill>
            <a:prstDash val="solid"/>
          </a:ln>
        </p:spPr>
      </p:sp>
      <p:sp>
        <p:nvSpPr>
          <p:cNvPr id="32" name="Shape 26"/>
          <p:cNvSpPr/>
          <p:nvPr/>
        </p:nvSpPr>
        <p:spPr>
          <a:xfrm>
            <a:off x="6077712" y="1417320"/>
            <a:ext cx="1203960" cy="2377440"/>
          </a:xfrm>
          <a:prstGeom prst="roundRect">
            <a:avLst>
              <a:gd name="adj" fmla="val 9114"/>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33" name="Shape 27"/>
          <p:cNvSpPr/>
          <p:nvPr/>
        </p:nvSpPr>
        <p:spPr>
          <a:xfrm>
            <a:off x="6205728" y="1563624"/>
            <a:ext cx="457200" cy="457200"/>
          </a:xfrm>
          <a:prstGeom prst="ellipse">
            <a:avLst/>
          </a:prstGeom>
          <a:solidFill>
            <a:srgbClr val="1B6B63"/>
          </a:solidFill>
          <a:ln w="12700">
            <a:solidFill>
              <a:srgbClr val="1B6B63"/>
            </a:solidFill>
            <a:prstDash val="solid"/>
          </a:ln>
        </p:spPr>
      </p:sp>
      <p:pic>
        <p:nvPicPr>
          <p:cNvPr id="34" name="Image 4" descr="preencoded.png">    </p:cNvPr>
          <p:cNvPicPr>
            <a:picLocks noChangeAspect="1"/>
          </p:cNvPicPr>
          <p:nvPr/>
        </p:nvPicPr>
        <p:blipFill>
          <a:blip r:embed="rId5"/>
          <a:stretch>
            <a:fillRect/>
          </a:stretch>
        </p:blipFill>
        <p:spPr>
          <a:xfrm>
            <a:off x="6320028" y="1677924"/>
            <a:ext cx="228600" cy="228600"/>
          </a:xfrm>
          <a:prstGeom prst="rect">
            <a:avLst/>
          </a:prstGeom>
        </p:spPr>
      </p:pic>
      <p:sp>
        <p:nvSpPr>
          <p:cNvPr id="35" name="Text 28"/>
          <p:cNvSpPr txBox="1"/>
          <p:nvPr/>
        </p:nvSpPr>
        <p:spPr>
          <a:xfrm>
            <a:off x="6897624" y="1563624"/>
            <a:ext cx="274320" cy="274320"/>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5</a:t>
            </a:r>
            <a:endParaRPr lang="en-US" sz="1200" dirty="0"/>
          </a:p>
        </p:txBody>
      </p:sp>
      <p:sp>
        <p:nvSpPr>
          <p:cNvPr id="36" name="Text 29"/>
          <p:cNvSpPr txBox="1"/>
          <p:nvPr/>
        </p:nvSpPr>
        <p:spPr>
          <a:xfrm>
            <a:off x="6205728" y="2112264"/>
            <a:ext cx="1021080" cy="457200"/>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Results</a:t>
            </a:r>
            <a:endParaRPr lang="en-US" sz="1200" dirty="0"/>
          </a:p>
        </p:txBody>
      </p:sp>
      <p:sp>
        <p:nvSpPr>
          <p:cNvPr id="37" name="Text 30"/>
          <p:cNvSpPr txBox="1"/>
          <p:nvPr/>
        </p:nvSpPr>
        <p:spPr>
          <a:xfrm>
            <a:off x="6205728" y="2551176"/>
            <a:ext cx="984504" cy="1152144"/>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Explained only after a clinician approves</a:t>
            </a:r>
            <a:endParaRPr lang="en-US" sz="1050" dirty="0"/>
          </a:p>
        </p:txBody>
      </p:sp>
      <p:sp>
        <p:nvSpPr>
          <p:cNvPr id="38" name="Shape 31"/>
          <p:cNvSpPr/>
          <p:nvPr/>
        </p:nvSpPr>
        <p:spPr>
          <a:xfrm>
            <a:off x="7299960" y="2487168"/>
            <a:ext cx="164592" cy="237744"/>
          </a:xfrm>
          <a:prstGeom prst="rightArrow">
            <a:avLst/>
          </a:prstGeom>
          <a:solidFill>
            <a:srgbClr val="2A9D8F"/>
          </a:solidFill>
          <a:ln w="12700">
            <a:solidFill>
              <a:srgbClr val="2A9D8F"/>
            </a:solidFill>
            <a:prstDash val="solid"/>
          </a:ln>
        </p:spPr>
      </p:sp>
      <p:sp>
        <p:nvSpPr>
          <p:cNvPr id="39" name="Shape 32"/>
          <p:cNvSpPr/>
          <p:nvPr/>
        </p:nvSpPr>
        <p:spPr>
          <a:xfrm>
            <a:off x="7482840" y="1417320"/>
            <a:ext cx="1203960" cy="2377440"/>
          </a:xfrm>
          <a:prstGeom prst="roundRect">
            <a:avLst>
              <a:gd name="adj" fmla="val 9114"/>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40" name="Shape 33"/>
          <p:cNvSpPr/>
          <p:nvPr/>
        </p:nvSpPr>
        <p:spPr>
          <a:xfrm>
            <a:off x="7610856" y="1563624"/>
            <a:ext cx="457200" cy="457200"/>
          </a:xfrm>
          <a:prstGeom prst="ellipse">
            <a:avLst/>
          </a:prstGeom>
          <a:solidFill>
            <a:srgbClr val="1B6B63"/>
          </a:solidFill>
          <a:ln w="12700">
            <a:solidFill>
              <a:srgbClr val="1B6B63"/>
            </a:solidFill>
            <a:prstDash val="solid"/>
          </a:ln>
        </p:spPr>
      </p:sp>
      <p:pic>
        <p:nvPicPr>
          <p:cNvPr id="41" name="Image 5" descr="preencoded.png">    </p:cNvPr>
          <p:cNvPicPr>
            <a:picLocks noChangeAspect="1"/>
          </p:cNvPicPr>
          <p:nvPr/>
        </p:nvPicPr>
        <p:blipFill>
          <a:blip r:embed="rId6"/>
          <a:stretch>
            <a:fillRect/>
          </a:stretch>
        </p:blipFill>
        <p:spPr>
          <a:xfrm>
            <a:off x="7725156" y="1677924"/>
            <a:ext cx="228600" cy="228600"/>
          </a:xfrm>
          <a:prstGeom prst="rect">
            <a:avLst/>
          </a:prstGeom>
        </p:spPr>
      </p:pic>
      <p:sp>
        <p:nvSpPr>
          <p:cNvPr id="42" name="Text 34"/>
          <p:cNvSpPr txBox="1"/>
          <p:nvPr/>
        </p:nvSpPr>
        <p:spPr>
          <a:xfrm>
            <a:off x="8302752" y="1563624"/>
            <a:ext cx="274320" cy="274320"/>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6</a:t>
            </a:r>
            <a:endParaRPr lang="en-US" sz="1200" dirty="0"/>
          </a:p>
        </p:txBody>
      </p:sp>
      <p:sp>
        <p:nvSpPr>
          <p:cNvPr id="43" name="Text 35"/>
          <p:cNvSpPr txBox="1"/>
          <p:nvPr/>
        </p:nvSpPr>
        <p:spPr>
          <a:xfrm>
            <a:off x="7610856" y="2112264"/>
            <a:ext cx="1021080" cy="457200"/>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Follow-up</a:t>
            </a:r>
            <a:endParaRPr lang="en-US" sz="1200" dirty="0"/>
          </a:p>
        </p:txBody>
      </p:sp>
      <p:sp>
        <p:nvSpPr>
          <p:cNvPr id="44" name="Text 36"/>
          <p:cNvSpPr txBox="1"/>
          <p:nvPr/>
        </p:nvSpPr>
        <p:spPr>
          <a:xfrm>
            <a:off x="7610856" y="2551176"/>
            <a:ext cx="984504" cy="1152144"/>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Care plan, medicines, reminders, check-ins</a:t>
            </a:r>
            <a:endParaRPr lang="en-US" sz="1050" dirty="0"/>
          </a:p>
        </p:txBody>
      </p:sp>
      <p:sp>
        <p:nvSpPr>
          <p:cNvPr id="45" name="Text 37"/>
          <p:cNvSpPr txBox="1"/>
          <p:nvPr/>
        </p:nvSpPr>
        <p:spPr>
          <a:xfrm>
            <a:off x="457200" y="4069080"/>
            <a:ext cx="8229600" cy="365760"/>
          </a:xfrm>
          <a:prstGeom prst="rect">
            <a:avLst/>
          </a:prstGeom>
          <a:noFill/>
          <a:ln/>
        </p:spPr>
        <p:txBody>
          <a:bodyPr wrap="square" lIns="0" tIns="0" rIns="0" bIns="0" rtlCol="0" anchor="t"/>
          <a:lstStyle/>
          <a:p>
            <a:pPr indent="0" marL="0">
              <a:buNone/>
            </a:pPr>
            <a:r>
              <a:rPr lang="en-US" sz="1300" i="1" dirty="0">
                <a:solidFill>
                  <a:srgbClr val="1B6B63"/>
                </a:solidFill>
                <a:latin typeface="Calibri" pitchFamily="34" charset="0"/>
                <a:ea typeface="Calibri" pitchFamily="34" charset="-122"/>
                <a:cs typeface="Calibri" pitchFamily="34" charset="-120"/>
              </a:rPr>
              <a:t>Every step lands in My Health Story and in the clinician's timeline.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34E4A"/>
                </a:solidFill>
                <a:latin typeface="Calibri" pitchFamily="34" charset="0"/>
                <a:ea typeface="Calibri" pitchFamily="34" charset="-122"/>
                <a:cs typeface="Calibri" pitchFamily="34" charset="-120"/>
              </a:rPr>
              <a:t>Inside the front door</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How one message is handled</a:t>
            </a:r>
            <a:endParaRPr lang="en-US" sz="1300" dirty="0"/>
          </a:p>
        </p:txBody>
      </p:sp>
      <p:sp>
        <p:nvSpPr>
          <p:cNvPr id="4" name="Shape 2"/>
          <p:cNvSpPr/>
          <p:nvPr/>
        </p:nvSpPr>
        <p:spPr>
          <a:xfrm>
            <a:off x="457200" y="1371600"/>
            <a:ext cx="2560320" cy="3246120"/>
          </a:xfrm>
          <a:prstGeom prst="roundRect">
            <a:avLst>
              <a:gd name="adj" fmla="val 4286"/>
            </a:avLst>
          </a:prstGeom>
          <a:solidFill>
            <a:srgbClr val="E6F4F1"/>
          </a:solidFill>
          <a:ln w="9525">
            <a:solidFill>
              <a:srgbClr val="E6F4F1"/>
            </a:solidFill>
            <a:prstDash val="solid"/>
          </a:ln>
          <a:effectLst>
            <a:outerShdw sx="100000" sy="100000" kx="0" ky="0" algn="bl" rotWithShape="0" blurRad="76200" dist="19050" dir="5400000">
              <a:srgbClr val="000000">
                <a:alpha val="8000"/>
              </a:srgbClr>
            </a:outerShdw>
          </a:effectLst>
        </p:spPr>
      </p:sp>
      <p:sp>
        <p:nvSpPr>
          <p:cNvPr id="5" name="Shape 3"/>
          <p:cNvSpPr/>
          <p:nvPr/>
        </p:nvSpPr>
        <p:spPr>
          <a:xfrm>
            <a:off x="640080" y="1536192"/>
            <a:ext cx="548640" cy="548640"/>
          </a:xfrm>
          <a:prstGeom prst="ellipse">
            <a:avLst/>
          </a:prstGeom>
          <a:solidFill>
            <a:srgbClr val="1B6B63"/>
          </a:solidFill>
          <a:ln w="12700">
            <a:solidFill>
              <a:srgbClr val="1B6B63"/>
            </a:solidFill>
            <a:prstDash val="solid"/>
          </a:ln>
        </p:spPr>
      </p:sp>
      <p:pic>
        <p:nvPicPr>
          <p:cNvPr id="6" name="Image 0" descr="preencoded.png">    </p:cNvPr>
          <p:cNvPicPr>
            <a:picLocks noChangeAspect="1"/>
          </p:cNvPicPr>
          <p:nvPr/>
        </p:nvPicPr>
        <p:blipFill>
          <a:blip r:embed="rId1"/>
          <a:stretch>
            <a:fillRect/>
          </a:stretch>
        </p:blipFill>
        <p:spPr>
          <a:xfrm>
            <a:off x="777240" y="1673352"/>
            <a:ext cx="274320" cy="274320"/>
          </a:xfrm>
          <a:prstGeom prst="rect">
            <a:avLst/>
          </a:prstGeom>
        </p:spPr>
      </p:pic>
      <p:sp>
        <p:nvSpPr>
          <p:cNvPr id="7" name="Text 4"/>
          <p:cNvSpPr txBox="1"/>
          <p:nvPr/>
        </p:nvSpPr>
        <p:spPr>
          <a:xfrm>
            <a:off x="1325880" y="1572768"/>
            <a:ext cx="1600200" cy="502920"/>
          </a:xfrm>
          <a:prstGeom prst="rect">
            <a:avLst/>
          </a:prstGeom>
          <a:noFill/>
          <a:ln/>
        </p:spPr>
        <p:txBody>
          <a:bodyPr wrap="square" lIns="0" tIns="0" rIns="0" bIns="0" rtlCol="0" anchor="ctr"/>
          <a:lstStyle/>
          <a:p>
            <a:pPr indent="0" marL="0">
              <a:buNone/>
            </a:pPr>
            <a:r>
              <a:rPr lang="en-US" sz="1500" b="1" dirty="0">
                <a:solidFill>
                  <a:srgbClr val="134E4A"/>
                </a:solidFill>
                <a:latin typeface="Calibri" pitchFamily="34" charset="0"/>
                <a:ea typeface="Calibri" pitchFamily="34" charset="-122"/>
                <a:cs typeface="Calibri" pitchFamily="34" charset="-120"/>
              </a:rPr>
              <a:t>1. Input</a:t>
            </a:r>
            <a:endParaRPr lang="en-US" sz="1500" dirty="0"/>
          </a:p>
        </p:txBody>
      </p:sp>
      <p:sp>
        <p:nvSpPr>
          <p:cNvPr id="8" name="Text 5"/>
          <p:cNvSpPr txBox="1"/>
          <p:nvPr/>
        </p:nvSpPr>
        <p:spPr>
          <a:xfrm>
            <a:off x="640080" y="2286000"/>
            <a:ext cx="2240280" cy="224028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11827"/>
                </a:solidFill>
                <a:latin typeface="Calibri" pitchFamily="34" charset="0"/>
                <a:ea typeface="Calibri" pitchFamily="34" charset="-122"/>
                <a:cs typeface="Calibri" pitchFamily="34" charset="-120"/>
              </a:rPr>
              <a:t>Typed question</a:t>
            </a:r>
            <a:endParaRPr lang="en-US" sz="1150" dirty="0"/>
          </a:p>
          <a:p>
            <a:pPr marL="342900" indent="-342900">
              <a:spcAft>
                <a:spcPts val="600"/>
              </a:spcAft>
              <a:buSzPct val="100000"/>
              <a:buChar char="•"/>
            </a:pPr>
            <a:r>
              <a:rPr lang="en-US" sz="1150" dirty="0">
                <a:solidFill>
                  <a:srgbClr val="111827"/>
                </a:solidFill>
                <a:latin typeface="Calibri" pitchFamily="34" charset="0"/>
                <a:ea typeface="Calibri" pitchFamily="34" charset="-122"/>
                <a:cs typeface="Calibri" pitchFamily="34" charset="-120"/>
              </a:rPr>
              <a:t>Voice, reviewed before sending</a:t>
            </a:r>
            <a:endParaRPr lang="en-US" sz="1150" dirty="0"/>
          </a:p>
          <a:p>
            <a:pPr marL="342900" indent="-342900">
              <a:spcAft>
                <a:spcPts val="600"/>
              </a:spcAft>
              <a:buSzPct val="100000"/>
              <a:buChar char="•"/>
            </a:pPr>
            <a:r>
              <a:rPr lang="en-US" sz="1150" dirty="0">
                <a:solidFill>
                  <a:srgbClr val="111827"/>
                </a:solidFill>
                <a:latin typeface="Calibri" pitchFamily="34" charset="0"/>
                <a:ea typeface="Calibri" pitchFamily="34" charset="-122"/>
                <a:cs typeface="Calibri" pitchFamily="34" charset="-120"/>
              </a:rPr>
              <a:t>Photo: medicine box, skin, paper report</a:t>
            </a:r>
            <a:endParaRPr lang="en-US" sz="1150" dirty="0"/>
          </a:p>
          <a:p>
            <a:pPr marL="342900" indent="-342900">
              <a:spcAft>
                <a:spcPts val="600"/>
              </a:spcAft>
              <a:buSzPct val="100000"/>
              <a:buChar char="•"/>
            </a:pPr>
            <a:r>
              <a:rPr lang="en-US" sz="1150" dirty="0">
                <a:solidFill>
                  <a:srgbClr val="111827"/>
                </a:solidFill>
                <a:latin typeface="Calibri" pitchFamily="34" charset="0"/>
                <a:ea typeface="Calibri" pitchFamily="34" charset="-122"/>
                <a:cs typeface="Calibri" pitchFamily="34" charset="-120"/>
              </a:rPr>
              <a:t>Senior mode: big buttons, read-aloud</a:t>
            </a:r>
            <a:endParaRPr lang="en-US" sz="1150" dirty="0"/>
          </a:p>
        </p:txBody>
      </p:sp>
      <p:sp>
        <p:nvSpPr>
          <p:cNvPr id="9" name="Shape 6"/>
          <p:cNvSpPr/>
          <p:nvPr/>
        </p:nvSpPr>
        <p:spPr>
          <a:xfrm>
            <a:off x="3063240" y="2880360"/>
            <a:ext cx="256032" cy="237744"/>
          </a:xfrm>
          <a:prstGeom prst="rightArrow">
            <a:avLst/>
          </a:prstGeom>
          <a:solidFill>
            <a:srgbClr val="2A9D8F"/>
          </a:solidFill>
          <a:ln w="12700">
            <a:solidFill>
              <a:srgbClr val="2A9D8F"/>
            </a:solidFill>
            <a:prstDash val="solid"/>
          </a:ln>
        </p:spPr>
      </p:sp>
      <p:sp>
        <p:nvSpPr>
          <p:cNvPr id="10" name="Shape 7"/>
          <p:cNvSpPr/>
          <p:nvPr/>
        </p:nvSpPr>
        <p:spPr>
          <a:xfrm>
            <a:off x="3291840" y="1371600"/>
            <a:ext cx="2560320" cy="3246120"/>
          </a:xfrm>
          <a:prstGeom prst="roundRect">
            <a:avLst>
              <a:gd name="adj" fmla="val 4286"/>
            </a:avLst>
          </a:prstGeom>
          <a:solidFill>
            <a:srgbClr val="FEF2F2"/>
          </a:solidFill>
          <a:ln w="9525">
            <a:solidFill>
              <a:srgbClr val="FEF2F2"/>
            </a:solidFill>
            <a:prstDash val="solid"/>
          </a:ln>
          <a:effectLst>
            <a:outerShdw sx="100000" sy="100000" kx="0" ky="0" algn="bl" rotWithShape="0" blurRad="76200" dist="19050" dir="5400000">
              <a:srgbClr val="000000">
                <a:alpha val="8000"/>
              </a:srgbClr>
            </a:outerShdw>
          </a:effectLst>
        </p:spPr>
      </p:sp>
      <p:sp>
        <p:nvSpPr>
          <p:cNvPr id="11" name="Shape 8"/>
          <p:cNvSpPr/>
          <p:nvPr/>
        </p:nvSpPr>
        <p:spPr>
          <a:xfrm>
            <a:off x="3474720" y="1536192"/>
            <a:ext cx="548640" cy="548640"/>
          </a:xfrm>
          <a:prstGeom prst="ellipse">
            <a:avLst/>
          </a:prstGeom>
          <a:solidFill>
            <a:srgbClr val="DC2626"/>
          </a:solidFill>
          <a:ln w="12700">
            <a:solidFill>
              <a:srgbClr val="DC2626"/>
            </a:solidFill>
            <a:prstDash val="solid"/>
          </a:ln>
        </p:spPr>
      </p:sp>
      <p:pic>
        <p:nvPicPr>
          <p:cNvPr id="12" name="Image 1" descr="preencoded.png">    </p:cNvPr>
          <p:cNvPicPr>
            <a:picLocks noChangeAspect="1"/>
          </p:cNvPicPr>
          <p:nvPr/>
        </p:nvPicPr>
        <p:blipFill>
          <a:blip r:embed="rId2"/>
          <a:stretch>
            <a:fillRect/>
          </a:stretch>
        </p:blipFill>
        <p:spPr>
          <a:xfrm>
            <a:off x="3611880" y="1673352"/>
            <a:ext cx="274320" cy="274320"/>
          </a:xfrm>
          <a:prstGeom prst="rect">
            <a:avLst/>
          </a:prstGeom>
        </p:spPr>
      </p:pic>
      <p:sp>
        <p:nvSpPr>
          <p:cNvPr id="13" name="Text 9"/>
          <p:cNvSpPr txBox="1"/>
          <p:nvPr/>
        </p:nvSpPr>
        <p:spPr>
          <a:xfrm>
            <a:off x="4160520" y="1572768"/>
            <a:ext cx="1600200" cy="502920"/>
          </a:xfrm>
          <a:prstGeom prst="rect">
            <a:avLst/>
          </a:prstGeom>
          <a:noFill/>
          <a:ln/>
        </p:spPr>
        <p:txBody>
          <a:bodyPr wrap="square" lIns="0" tIns="0" rIns="0" bIns="0" rtlCol="0" anchor="ctr"/>
          <a:lstStyle/>
          <a:p>
            <a:pPr indent="0" marL="0">
              <a:buNone/>
            </a:pPr>
            <a:r>
              <a:rPr lang="en-US" sz="1500" b="1" dirty="0">
                <a:solidFill>
                  <a:srgbClr val="DC2626"/>
                </a:solidFill>
                <a:latin typeface="Calibri" pitchFamily="34" charset="0"/>
                <a:ea typeface="Calibri" pitchFamily="34" charset="-122"/>
                <a:cs typeface="Calibri" pitchFamily="34" charset="-120"/>
              </a:rPr>
              <a:t>2. Safety screen</a:t>
            </a:r>
            <a:endParaRPr lang="en-US" sz="1500" dirty="0"/>
          </a:p>
        </p:txBody>
      </p:sp>
      <p:sp>
        <p:nvSpPr>
          <p:cNvPr id="14" name="Text 10"/>
          <p:cNvSpPr txBox="1"/>
          <p:nvPr/>
        </p:nvSpPr>
        <p:spPr>
          <a:xfrm>
            <a:off x="3474720" y="2286000"/>
            <a:ext cx="2240280" cy="224028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11827"/>
                </a:solidFill>
                <a:latin typeface="Calibri" pitchFamily="34" charset="0"/>
                <a:ea typeface="Calibri" pitchFamily="34" charset="-122"/>
                <a:cs typeface="Calibri" pitchFamily="34" charset="-120"/>
              </a:rPr>
              <a:t>Rules run before any AI, every time</a:t>
            </a:r>
            <a:endParaRPr lang="en-US" sz="1150" dirty="0"/>
          </a:p>
          <a:p>
            <a:pPr marL="342900" indent="-342900">
              <a:spcAft>
                <a:spcPts val="600"/>
              </a:spcAft>
              <a:buSzPct val="100000"/>
              <a:buChar char="•"/>
            </a:pPr>
            <a:r>
              <a:rPr lang="en-US" sz="1150" dirty="0">
                <a:solidFill>
                  <a:srgbClr val="111827"/>
                </a:solidFill>
                <a:latin typeface="Calibri" pitchFamily="34" charset="0"/>
                <a:ea typeface="Calibri" pitchFamily="34" charset="-122"/>
                <a:cs typeface="Calibri" pitchFamily="34" charset="-120"/>
              </a:rPr>
              <a:t>Emergency: call 911 guidance</a:t>
            </a:r>
            <a:endParaRPr lang="en-US" sz="1150" dirty="0"/>
          </a:p>
          <a:p>
            <a:pPr marL="342900" indent="-342900">
              <a:spcAft>
                <a:spcPts val="600"/>
              </a:spcAft>
              <a:buSzPct val="100000"/>
              <a:buChar char="•"/>
            </a:pPr>
            <a:r>
              <a:rPr lang="en-US" sz="1150" dirty="0">
                <a:solidFill>
                  <a:srgbClr val="111827"/>
                </a:solidFill>
                <a:latin typeface="Calibri" pitchFamily="34" charset="0"/>
                <a:ea typeface="Calibri" pitchFamily="34" charset="-122"/>
                <a:cs typeface="Calibri" pitchFamily="34" charset="-120"/>
              </a:rPr>
              <a:t>Crisis: 988 support</a:t>
            </a:r>
            <a:endParaRPr lang="en-US" sz="1150" dirty="0"/>
          </a:p>
          <a:p>
            <a:pPr marL="342900" indent="-342900">
              <a:spcAft>
                <a:spcPts val="600"/>
              </a:spcAft>
              <a:buSzPct val="100000"/>
              <a:buChar char="•"/>
            </a:pPr>
            <a:r>
              <a:rPr lang="en-US" sz="1150" dirty="0">
                <a:solidFill>
                  <a:srgbClr val="111827"/>
                </a:solidFill>
                <a:latin typeface="Calibri" pitchFamily="34" charset="0"/>
                <a:ea typeface="Calibri" pitchFamily="34" charset="-122"/>
                <a:cs typeface="Calibri" pitchFamily="34" charset="-120"/>
              </a:rPr>
              <a:t>Care team alerted at once</a:t>
            </a:r>
            <a:endParaRPr lang="en-US" sz="1150" dirty="0"/>
          </a:p>
        </p:txBody>
      </p:sp>
      <p:sp>
        <p:nvSpPr>
          <p:cNvPr id="15" name="Shape 11"/>
          <p:cNvSpPr/>
          <p:nvPr/>
        </p:nvSpPr>
        <p:spPr>
          <a:xfrm>
            <a:off x="5897880" y="2880360"/>
            <a:ext cx="256032" cy="237744"/>
          </a:xfrm>
          <a:prstGeom prst="rightArrow">
            <a:avLst/>
          </a:prstGeom>
          <a:solidFill>
            <a:srgbClr val="2A9D8F"/>
          </a:solidFill>
          <a:ln w="12700">
            <a:solidFill>
              <a:srgbClr val="2A9D8F"/>
            </a:solidFill>
            <a:prstDash val="solid"/>
          </a:ln>
        </p:spPr>
      </p:sp>
      <p:sp>
        <p:nvSpPr>
          <p:cNvPr id="16" name="Shape 12"/>
          <p:cNvSpPr/>
          <p:nvPr/>
        </p:nvSpPr>
        <p:spPr>
          <a:xfrm>
            <a:off x="6126480" y="1371600"/>
            <a:ext cx="2560320" cy="3246120"/>
          </a:xfrm>
          <a:prstGeom prst="roundRect">
            <a:avLst>
              <a:gd name="adj" fmla="val 4286"/>
            </a:avLst>
          </a:prstGeom>
          <a:solidFill>
            <a:srgbClr val="E6F4F1"/>
          </a:solidFill>
          <a:ln w="9525">
            <a:solidFill>
              <a:srgbClr val="E6F4F1"/>
            </a:solidFill>
            <a:prstDash val="solid"/>
          </a:ln>
          <a:effectLst>
            <a:outerShdw sx="100000" sy="100000" kx="0" ky="0" algn="bl" rotWithShape="0" blurRad="76200" dist="19050" dir="5400000">
              <a:srgbClr val="000000">
                <a:alpha val="8000"/>
              </a:srgbClr>
            </a:outerShdw>
          </a:effectLst>
        </p:spPr>
      </p:sp>
      <p:sp>
        <p:nvSpPr>
          <p:cNvPr id="17" name="Shape 13"/>
          <p:cNvSpPr/>
          <p:nvPr/>
        </p:nvSpPr>
        <p:spPr>
          <a:xfrm>
            <a:off x="6309360" y="1536192"/>
            <a:ext cx="548640" cy="548640"/>
          </a:xfrm>
          <a:prstGeom prst="ellipse">
            <a:avLst/>
          </a:prstGeom>
          <a:solidFill>
            <a:srgbClr val="1B6B63"/>
          </a:solidFill>
          <a:ln w="12700">
            <a:solidFill>
              <a:srgbClr val="1B6B63"/>
            </a:solidFill>
            <a:prstDash val="solid"/>
          </a:ln>
        </p:spPr>
      </p:sp>
      <p:pic>
        <p:nvPicPr>
          <p:cNvPr id="18" name="Image 2" descr="preencoded.png">    </p:cNvPr>
          <p:cNvPicPr>
            <a:picLocks noChangeAspect="1"/>
          </p:cNvPicPr>
          <p:nvPr/>
        </p:nvPicPr>
        <p:blipFill>
          <a:blip r:embed="rId3"/>
          <a:stretch>
            <a:fillRect/>
          </a:stretch>
        </p:blipFill>
        <p:spPr>
          <a:xfrm>
            <a:off x="6446520" y="1673352"/>
            <a:ext cx="274320" cy="274320"/>
          </a:xfrm>
          <a:prstGeom prst="rect">
            <a:avLst/>
          </a:prstGeom>
        </p:spPr>
      </p:pic>
      <p:sp>
        <p:nvSpPr>
          <p:cNvPr id="19" name="Text 14"/>
          <p:cNvSpPr txBox="1"/>
          <p:nvPr/>
        </p:nvSpPr>
        <p:spPr>
          <a:xfrm>
            <a:off x="6995160" y="1572768"/>
            <a:ext cx="1600200" cy="502920"/>
          </a:xfrm>
          <a:prstGeom prst="rect">
            <a:avLst/>
          </a:prstGeom>
          <a:noFill/>
          <a:ln/>
        </p:spPr>
        <p:txBody>
          <a:bodyPr wrap="square" lIns="0" tIns="0" rIns="0" bIns="0" rtlCol="0" anchor="ctr"/>
          <a:lstStyle/>
          <a:p>
            <a:pPr indent="0" marL="0">
              <a:buNone/>
            </a:pPr>
            <a:r>
              <a:rPr lang="en-US" sz="1500" b="1" dirty="0">
                <a:solidFill>
                  <a:srgbClr val="134E4A"/>
                </a:solidFill>
                <a:latin typeface="Calibri" pitchFamily="34" charset="0"/>
                <a:ea typeface="Calibri" pitchFamily="34" charset="-122"/>
                <a:cs typeface="Calibri" pitchFamily="34" charset="-120"/>
              </a:rPr>
              <a:t>3. Understand &amp; route</a:t>
            </a:r>
            <a:endParaRPr lang="en-US" sz="1500" dirty="0"/>
          </a:p>
        </p:txBody>
      </p:sp>
      <p:sp>
        <p:nvSpPr>
          <p:cNvPr id="20" name="Text 15"/>
          <p:cNvSpPr txBox="1"/>
          <p:nvPr/>
        </p:nvSpPr>
        <p:spPr>
          <a:xfrm>
            <a:off x="6309360" y="2286000"/>
            <a:ext cx="2240280" cy="224028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11827"/>
                </a:solidFill>
                <a:latin typeface="Calibri" pitchFamily="34" charset="0"/>
                <a:ea typeface="Calibri" pitchFamily="34" charset="-122"/>
                <a:cs typeface="Calibri" pitchFamily="34" charset="-120"/>
              </a:rPr>
              <a:t>AI triage: MedGemma, Claude, or rules</a:t>
            </a:r>
            <a:endParaRPr lang="en-US" sz="1150" dirty="0"/>
          </a:p>
          <a:p>
            <a:pPr marL="342900" indent="-342900">
              <a:spcAft>
                <a:spcPts val="600"/>
              </a:spcAft>
              <a:buSzPct val="100000"/>
              <a:buChar char="•"/>
            </a:pPr>
            <a:r>
              <a:rPr lang="en-US" sz="1150" dirty="0">
                <a:solidFill>
                  <a:srgbClr val="111827"/>
                </a:solidFill>
                <a:latin typeface="Calibri" pitchFamily="34" charset="0"/>
                <a:ea typeface="Calibri" pitchFamily="34" charset="-122"/>
                <a:cs typeface="Calibri" pitchFamily="34" charset="-120"/>
              </a:rPr>
              <a:t>Specialty and urgency</a:t>
            </a:r>
            <a:endParaRPr lang="en-US" sz="1150" dirty="0"/>
          </a:p>
          <a:p>
            <a:pPr marL="342900" indent="-342900">
              <a:spcAft>
                <a:spcPts val="600"/>
              </a:spcAft>
              <a:buSzPct val="100000"/>
              <a:buChar char="•"/>
            </a:pPr>
            <a:r>
              <a:rPr lang="en-US" sz="1150" dirty="0">
                <a:solidFill>
                  <a:srgbClr val="111827"/>
                </a:solidFill>
                <a:latin typeface="Calibri" pitchFamily="34" charset="0"/>
                <a:ea typeface="Calibri" pitchFamily="34" charset="-122"/>
                <a:cs typeface="Calibri" pitchFamily="34" charset="-120"/>
              </a:rPr>
              <a:t>Sent to the right module</a:t>
            </a:r>
            <a:endParaRPr lang="en-US" sz="1150" dirty="0"/>
          </a:p>
          <a:p>
            <a:pPr marL="342900" indent="-342900">
              <a:spcAft>
                <a:spcPts val="600"/>
              </a:spcAft>
              <a:buSzPct val="100000"/>
              <a:buChar char="•"/>
            </a:pPr>
            <a:r>
              <a:rPr lang="en-US" sz="1150" dirty="0">
                <a:solidFill>
                  <a:srgbClr val="111827"/>
                </a:solidFill>
                <a:latin typeface="Calibri" pitchFamily="34" charset="0"/>
                <a:ea typeface="Calibri" pitchFamily="34" charset="-122"/>
                <a:cs typeface="Calibri" pitchFamily="34" charset="-120"/>
              </a:rPr>
              <a:t>Answers never add new dosing advice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8"/>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34E4A"/>
                </a:solidFill>
                <a:latin typeface="Calibri" pitchFamily="34" charset="0"/>
                <a:ea typeface="Calibri" pitchFamily="34" charset="-122"/>
                <a:cs typeface="Calibri" pitchFamily="34" charset="-120"/>
              </a:rPr>
              <a:t>The clinician's day</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Everything arrives in one workspace, ranked by urgency</a:t>
            </a:r>
            <a:endParaRPr lang="en-US" sz="1300" dirty="0"/>
          </a:p>
        </p:txBody>
      </p:sp>
      <p:sp>
        <p:nvSpPr>
          <p:cNvPr id="4" name="Shape 2"/>
          <p:cNvSpPr/>
          <p:nvPr/>
        </p:nvSpPr>
        <p:spPr>
          <a:xfrm>
            <a:off x="457200" y="1325880"/>
            <a:ext cx="8229600" cy="603504"/>
          </a:xfrm>
          <a:prstGeom prst="roundRect">
            <a:avLst>
              <a:gd name="adj" fmla="val 18182"/>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5" name="Shape 3"/>
          <p:cNvSpPr/>
          <p:nvPr/>
        </p:nvSpPr>
        <p:spPr>
          <a:xfrm>
            <a:off x="566928" y="1399032"/>
            <a:ext cx="457200" cy="457200"/>
          </a:xfrm>
          <a:prstGeom prst="ellipse">
            <a:avLst/>
          </a:prstGeom>
          <a:solidFill>
            <a:srgbClr val="1B6B63"/>
          </a:solidFill>
          <a:ln w="12700">
            <a:solidFill>
              <a:srgbClr val="1B6B63"/>
            </a:solidFill>
            <a:prstDash val="solid"/>
          </a:ln>
        </p:spPr>
      </p:sp>
      <p:pic>
        <p:nvPicPr>
          <p:cNvPr id="6" name="Image 0" descr="preencoded.png">    </p:cNvPr>
          <p:cNvPicPr>
            <a:picLocks noChangeAspect="1"/>
          </p:cNvPicPr>
          <p:nvPr/>
        </p:nvPicPr>
        <p:blipFill>
          <a:blip r:embed="rId1"/>
          <a:stretch>
            <a:fillRect/>
          </a:stretch>
        </p:blipFill>
        <p:spPr>
          <a:xfrm>
            <a:off x="681228" y="1513332"/>
            <a:ext cx="228600" cy="228600"/>
          </a:xfrm>
          <a:prstGeom prst="rect">
            <a:avLst/>
          </a:prstGeom>
        </p:spPr>
      </p:pic>
      <p:sp>
        <p:nvSpPr>
          <p:cNvPr id="7" name="Text 4"/>
          <p:cNvSpPr txBox="1"/>
          <p:nvPr/>
        </p:nvSpPr>
        <p:spPr>
          <a:xfrm>
            <a:off x="1170432" y="1371600"/>
            <a:ext cx="2194560" cy="512064"/>
          </a:xfrm>
          <a:prstGeom prst="rect">
            <a:avLst/>
          </a:prstGeom>
          <a:noFill/>
          <a:ln/>
        </p:spPr>
        <p:txBody>
          <a:bodyPr wrap="square" lIns="0" tIns="0" rIns="0" bIns="0" rtlCol="0" anchor="ctr"/>
          <a:lstStyle/>
          <a:p>
            <a:pPr indent="0" marL="0">
              <a:buNone/>
            </a:pPr>
            <a:r>
              <a:rPr lang="en-US" sz="1350" b="1" dirty="0">
                <a:solidFill>
                  <a:srgbClr val="111827"/>
                </a:solidFill>
                <a:latin typeface="Calibri" pitchFamily="34" charset="0"/>
                <a:ea typeface="Calibri" pitchFamily="34" charset="-122"/>
                <a:cs typeface="Calibri" pitchFamily="34" charset="-120"/>
              </a:rPr>
              <a:t>Pre-visit brief</a:t>
            </a:r>
            <a:endParaRPr lang="en-US" sz="1350" dirty="0"/>
          </a:p>
        </p:txBody>
      </p:sp>
      <p:sp>
        <p:nvSpPr>
          <p:cNvPr id="8" name="Text 5"/>
          <p:cNvSpPr txBox="1"/>
          <p:nvPr/>
        </p:nvSpPr>
        <p:spPr>
          <a:xfrm>
            <a:off x="3383280" y="1371600"/>
            <a:ext cx="5166360" cy="512064"/>
          </a:xfrm>
          <a:prstGeom prst="rect">
            <a:avLst/>
          </a:prstGeom>
          <a:noFill/>
          <a:ln/>
        </p:spPr>
        <p:txBody>
          <a:bodyPr wrap="square" lIns="0" tIns="0" rIns="0" bIns="0" rtlCol="0" anchor="ctr"/>
          <a:lstStyle/>
          <a:p>
            <a:pPr indent="0" marL="0">
              <a:buNone/>
            </a:pPr>
            <a:r>
              <a:rPr lang="en-US" sz="1150" dirty="0">
                <a:solidFill>
                  <a:srgbClr val="4B5563"/>
                </a:solidFill>
                <a:latin typeface="Calibri" pitchFamily="34" charset="0"/>
                <a:ea typeface="Calibri" pitchFamily="34" charset="-122"/>
                <a:cs typeface="Calibri" pitchFamily="34" charset="-120"/>
              </a:rPr>
              <a:t>Summary with sources: home blood pressure, adherence, mood scores, consult history</a:t>
            </a:r>
            <a:endParaRPr lang="en-US" sz="1150" dirty="0"/>
          </a:p>
        </p:txBody>
      </p:sp>
      <p:sp>
        <p:nvSpPr>
          <p:cNvPr id="9" name="Shape 6"/>
          <p:cNvSpPr/>
          <p:nvPr/>
        </p:nvSpPr>
        <p:spPr>
          <a:xfrm>
            <a:off x="457200" y="2039112"/>
            <a:ext cx="8229600" cy="603504"/>
          </a:xfrm>
          <a:prstGeom prst="roundRect">
            <a:avLst>
              <a:gd name="adj" fmla="val 18182"/>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0" name="Shape 7"/>
          <p:cNvSpPr/>
          <p:nvPr/>
        </p:nvSpPr>
        <p:spPr>
          <a:xfrm>
            <a:off x="566928" y="2112264"/>
            <a:ext cx="457200" cy="457200"/>
          </a:xfrm>
          <a:prstGeom prst="ellipse">
            <a:avLst/>
          </a:prstGeom>
          <a:solidFill>
            <a:srgbClr val="1B6B63"/>
          </a:solidFill>
          <a:ln w="12700">
            <a:solidFill>
              <a:srgbClr val="1B6B63"/>
            </a:solidFill>
            <a:prstDash val="solid"/>
          </a:ln>
        </p:spPr>
      </p:sp>
      <p:pic>
        <p:nvPicPr>
          <p:cNvPr id="11" name="Image 1" descr="preencoded.png">    </p:cNvPr>
          <p:cNvPicPr>
            <a:picLocks noChangeAspect="1"/>
          </p:cNvPicPr>
          <p:nvPr/>
        </p:nvPicPr>
        <p:blipFill>
          <a:blip r:embed="rId2"/>
          <a:stretch>
            <a:fillRect/>
          </a:stretch>
        </p:blipFill>
        <p:spPr>
          <a:xfrm>
            <a:off x="681228" y="2226564"/>
            <a:ext cx="228600" cy="228600"/>
          </a:xfrm>
          <a:prstGeom prst="rect">
            <a:avLst/>
          </a:prstGeom>
        </p:spPr>
      </p:pic>
      <p:sp>
        <p:nvSpPr>
          <p:cNvPr id="12" name="Text 8"/>
          <p:cNvSpPr txBox="1"/>
          <p:nvPr/>
        </p:nvSpPr>
        <p:spPr>
          <a:xfrm>
            <a:off x="1170432" y="2084832"/>
            <a:ext cx="2194560" cy="512064"/>
          </a:xfrm>
          <a:prstGeom prst="rect">
            <a:avLst/>
          </a:prstGeom>
          <a:noFill/>
          <a:ln/>
        </p:spPr>
        <p:txBody>
          <a:bodyPr wrap="square" lIns="0" tIns="0" rIns="0" bIns="0" rtlCol="0" anchor="ctr"/>
          <a:lstStyle/>
          <a:p>
            <a:pPr indent="0" marL="0">
              <a:buNone/>
            </a:pPr>
            <a:r>
              <a:rPr lang="en-US" sz="1350" b="1" dirty="0">
                <a:solidFill>
                  <a:srgbClr val="111827"/>
                </a:solidFill>
                <a:latin typeface="Calibri" pitchFamily="34" charset="0"/>
                <a:ea typeface="Calibri" pitchFamily="34" charset="-122"/>
                <a:cs typeface="Calibri" pitchFamily="34" charset="-120"/>
              </a:rPr>
              <a:t>Review queue</a:t>
            </a:r>
            <a:endParaRPr lang="en-US" sz="1350" dirty="0"/>
          </a:p>
        </p:txBody>
      </p:sp>
      <p:sp>
        <p:nvSpPr>
          <p:cNvPr id="13" name="Text 9"/>
          <p:cNvSpPr txBox="1"/>
          <p:nvPr/>
        </p:nvSpPr>
        <p:spPr>
          <a:xfrm>
            <a:off x="3383280" y="2084832"/>
            <a:ext cx="5166360" cy="512064"/>
          </a:xfrm>
          <a:prstGeom prst="rect">
            <a:avLst/>
          </a:prstGeom>
          <a:noFill/>
          <a:ln/>
        </p:spPr>
        <p:txBody>
          <a:bodyPr wrap="square" lIns="0" tIns="0" rIns="0" bIns="0" rtlCol="0" anchor="ctr"/>
          <a:lstStyle/>
          <a:p>
            <a:pPr indent="0" marL="0">
              <a:buNone/>
            </a:pPr>
            <a:r>
              <a:rPr lang="en-US" sz="1150" dirty="0">
                <a:solidFill>
                  <a:srgbClr val="4B5563"/>
                </a:solidFill>
                <a:latin typeface="Calibri" pitchFamily="34" charset="0"/>
                <a:ea typeface="Calibri" pitchFamily="34" charset="-122"/>
                <a:cs typeface="Calibri" pitchFamily="34" charset="-120"/>
              </a:rPr>
              <a:t>Red flags, critical readings, crisis answers, check-ins, skin photos, flagged orders</a:t>
            </a:r>
            <a:endParaRPr lang="en-US" sz="1150" dirty="0"/>
          </a:p>
        </p:txBody>
      </p:sp>
      <p:sp>
        <p:nvSpPr>
          <p:cNvPr id="14" name="Shape 10"/>
          <p:cNvSpPr/>
          <p:nvPr/>
        </p:nvSpPr>
        <p:spPr>
          <a:xfrm>
            <a:off x="457200" y="2752344"/>
            <a:ext cx="8229600" cy="603504"/>
          </a:xfrm>
          <a:prstGeom prst="roundRect">
            <a:avLst>
              <a:gd name="adj" fmla="val 18182"/>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5" name="Shape 11"/>
          <p:cNvSpPr/>
          <p:nvPr/>
        </p:nvSpPr>
        <p:spPr>
          <a:xfrm>
            <a:off x="566928" y="2825496"/>
            <a:ext cx="457200" cy="457200"/>
          </a:xfrm>
          <a:prstGeom prst="ellipse">
            <a:avLst/>
          </a:prstGeom>
          <a:solidFill>
            <a:srgbClr val="1B6B63"/>
          </a:solidFill>
          <a:ln w="12700">
            <a:solidFill>
              <a:srgbClr val="1B6B63"/>
            </a:solidFill>
            <a:prstDash val="solid"/>
          </a:ln>
        </p:spPr>
      </p:sp>
      <p:pic>
        <p:nvPicPr>
          <p:cNvPr id="16" name="Image 2" descr="preencoded.png">    </p:cNvPr>
          <p:cNvPicPr>
            <a:picLocks noChangeAspect="1"/>
          </p:cNvPicPr>
          <p:nvPr/>
        </p:nvPicPr>
        <p:blipFill>
          <a:blip r:embed="rId3"/>
          <a:stretch>
            <a:fillRect/>
          </a:stretch>
        </p:blipFill>
        <p:spPr>
          <a:xfrm>
            <a:off x="681228" y="2939796"/>
            <a:ext cx="228600" cy="228600"/>
          </a:xfrm>
          <a:prstGeom prst="rect">
            <a:avLst/>
          </a:prstGeom>
        </p:spPr>
      </p:pic>
      <p:sp>
        <p:nvSpPr>
          <p:cNvPr id="17" name="Text 12"/>
          <p:cNvSpPr txBox="1"/>
          <p:nvPr/>
        </p:nvSpPr>
        <p:spPr>
          <a:xfrm>
            <a:off x="1170432" y="2798064"/>
            <a:ext cx="2194560" cy="512064"/>
          </a:xfrm>
          <a:prstGeom prst="rect">
            <a:avLst/>
          </a:prstGeom>
          <a:noFill/>
          <a:ln/>
        </p:spPr>
        <p:txBody>
          <a:bodyPr wrap="square" lIns="0" tIns="0" rIns="0" bIns="0" rtlCol="0" anchor="ctr"/>
          <a:lstStyle/>
          <a:p>
            <a:pPr indent="0" marL="0">
              <a:buNone/>
            </a:pPr>
            <a:r>
              <a:rPr lang="en-US" sz="1350" b="1" dirty="0">
                <a:solidFill>
                  <a:srgbClr val="111827"/>
                </a:solidFill>
                <a:latin typeface="Calibri" pitchFamily="34" charset="0"/>
                <a:ea typeface="Calibri" pitchFamily="34" charset="-122"/>
                <a:cs typeface="Calibri" pitchFamily="34" charset="-120"/>
              </a:rPr>
              <a:t>Online consults</a:t>
            </a:r>
            <a:endParaRPr lang="en-US" sz="1350" dirty="0"/>
          </a:p>
        </p:txBody>
      </p:sp>
      <p:sp>
        <p:nvSpPr>
          <p:cNvPr id="18" name="Text 13"/>
          <p:cNvSpPr txBox="1"/>
          <p:nvPr/>
        </p:nvSpPr>
        <p:spPr>
          <a:xfrm>
            <a:off x="3383280" y="2798064"/>
            <a:ext cx="5166360" cy="512064"/>
          </a:xfrm>
          <a:prstGeom prst="rect">
            <a:avLst/>
          </a:prstGeom>
          <a:noFill/>
          <a:ln/>
        </p:spPr>
        <p:txBody>
          <a:bodyPr wrap="square" lIns="0" tIns="0" rIns="0" bIns="0" rtlCol="0" anchor="ctr"/>
          <a:lstStyle/>
          <a:p>
            <a:pPr indent="0" marL="0">
              <a:buNone/>
            </a:pPr>
            <a:r>
              <a:rPr lang="en-US" sz="1150" dirty="0">
                <a:solidFill>
                  <a:srgbClr val="4B5563"/>
                </a:solidFill>
                <a:latin typeface="Calibri" pitchFamily="34" charset="0"/>
                <a:ea typeface="Calibri" pitchFamily="34" charset="-122"/>
                <a:cs typeface="Calibri" pitchFamily="34" charset="-120"/>
              </a:rPr>
              <a:t>Claim from the specialty queue, message or video, complete with summary and prescription</a:t>
            </a:r>
            <a:endParaRPr lang="en-US" sz="1150" dirty="0"/>
          </a:p>
        </p:txBody>
      </p:sp>
      <p:sp>
        <p:nvSpPr>
          <p:cNvPr id="19" name="Shape 14"/>
          <p:cNvSpPr/>
          <p:nvPr/>
        </p:nvSpPr>
        <p:spPr>
          <a:xfrm>
            <a:off x="457200" y="3465576"/>
            <a:ext cx="8229600" cy="603504"/>
          </a:xfrm>
          <a:prstGeom prst="roundRect">
            <a:avLst>
              <a:gd name="adj" fmla="val 18182"/>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20" name="Shape 15"/>
          <p:cNvSpPr/>
          <p:nvPr/>
        </p:nvSpPr>
        <p:spPr>
          <a:xfrm>
            <a:off x="566928" y="3538728"/>
            <a:ext cx="457200" cy="457200"/>
          </a:xfrm>
          <a:prstGeom prst="ellipse">
            <a:avLst/>
          </a:prstGeom>
          <a:solidFill>
            <a:srgbClr val="1B6B63"/>
          </a:solidFill>
          <a:ln w="12700">
            <a:solidFill>
              <a:srgbClr val="1B6B63"/>
            </a:solidFill>
            <a:prstDash val="solid"/>
          </a:ln>
        </p:spPr>
      </p:sp>
      <p:pic>
        <p:nvPicPr>
          <p:cNvPr id="21" name="Image 3" descr="preencoded.png">    </p:cNvPr>
          <p:cNvPicPr>
            <a:picLocks noChangeAspect="1"/>
          </p:cNvPicPr>
          <p:nvPr/>
        </p:nvPicPr>
        <p:blipFill>
          <a:blip r:embed="rId4"/>
          <a:stretch>
            <a:fillRect/>
          </a:stretch>
        </p:blipFill>
        <p:spPr>
          <a:xfrm>
            <a:off x="681228" y="3653028"/>
            <a:ext cx="228600" cy="228600"/>
          </a:xfrm>
          <a:prstGeom prst="rect">
            <a:avLst/>
          </a:prstGeom>
        </p:spPr>
      </p:pic>
      <p:sp>
        <p:nvSpPr>
          <p:cNvPr id="22" name="Text 16"/>
          <p:cNvSpPr txBox="1"/>
          <p:nvPr/>
        </p:nvSpPr>
        <p:spPr>
          <a:xfrm>
            <a:off x="1170432" y="3511296"/>
            <a:ext cx="2194560" cy="512064"/>
          </a:xfrm>
          <a:prstGeom prst="rect">
            <a:avLst/>
          </a:prstGeom>
          <a:noFill/>
          <a:ln/>
        </p:spPr>
        <p:txBody>
          <a:bodyPr wrap="square" lIns="0" tIns="0" rIns="0" bIns="0" rtlCol="0" anchor="ctr"/>
          <a:lstStyle/>
          <a:p>
            <a:pPr indent="0" marL="0">
              <a:buNone/>
            </a:pPr>
            <a:r>
              <a:rPr lang="en-US" sz="1350" b="1" dirty="0">
                <a:solidFill>
                  <a:srgbClr val="111827"/>
                </a:solidFill>
                <a:latin typeface="Calibri" pitchFamily="34" charset="0"/>
                <a:ea typeface="Calibri" pitchFamily="34" charset="-122"/>
                <a:cs typeface="Calibri" pitchFamily="34" charset="-120"/>
              </a:rPr>
              <a:t>Approve before patients see</a:t>
            </a:r>
            <a:endParaRPr lang="en-US" sz="1350" dirty="0"/>
          </a:p>
        </p:txBody>
      </p:sp>
      <p:sp>
        <p:nvSpPr>
          <p:cNvPr id="23" name="Text 17"/>
          <p:cNvSpPr txBox="1"/>
          <p:nvPr/>
        </p:nvSpPr>
        <p:spPr>
          <a:xfrm>
            <a:off x="3383280" y="3511296"/>
            <a:ext cx="5166360" cy="512064"/>
          </a:xfrm>
          <a:prstGeom prst="rect">
            <a:avLst/>
          </a:prstGeom>
          <a:noFill/>
          <a:ln/>
        </p:spPr>
        <p:txBody>
          <a:bodyPr wrap="square" lIns="0" tIns="0" rIns="0" bIns="0" rtlCol="0" anchor="ctr"/>
          <a:lstStyle/>
          <a:p>
            <a:pPr indent="0" marL="0">
              <a:buNone/>
            </a:pPr>
            <a:r>
              <a:rPr lang="en-US" sz="1150" dirty="0">
                <a:solidFill>
                  <a:srgbClr val="4B5563"/>
                </a:solidFill>
                <a:latin typeface="Calibri" pitchFamily="34" charset="0"/>
                <a:ea typeface="Calibri" pitchFamily="34" charset="-122"/>
                <a:cs typeface="Calibri" pitchFamily="34" charset="-120"/>
              </a:rPr>
              <a:t>Result explanations and medication instructions are released by a clinician</a:t>
            </a:r>
            <a:endParaRPr lang="en-US" sz="1150" dirty="0"/>
          </a:p>
        </p:txBody>
      </p:sp>
      <p:sp>
        <p:nvSpPr>
          <p:cNvPr id="24" name="Shape 18"/>
          <p:cNvSpPr/>
          <p:nvPr/>
        </p:nvSpPr>
        <p:spPr>
          <a:xfrm>
            <a:off x="457200" y="4178808"/>
            <a:ext cx="8229600" cy="603504"/>
          </a:xfrm>
          <a:prstGeom prst="roundRect">
            <a:avLst>
              <a:gd name="adj" fmla="val 18182"/>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25" name="Shape 19"/>
          <p:cNvSpPr/>
          <p:nvPr/>
        </p:nvSpPr>
        <p:spPr>
          <a:xfrm>
            <a:off x="566928" y="4251960"/>
            <a:ext cx="457200" cy="457200"/>
          </a:xfrm>
          <a:prstGeom prst="ellipse">
            <a:avLst/>
          </a:prstGeom>
          <a:solidFill>
            <a:srgbClr val="1B6B63"/>
          </a:solidFill>
          <a:ln w="12700">
            <a:solidFill>
              <a:srgbClr val="1B6B63"/>
            </a:solidFill>
            <a:prstDash val="solid"/>
          </a:ln>
        </p:spPr>
      </p:sp>
      <p:pic>
        <p:nvPicPr>
          <p:cNvPr id="26" name="Image 4" descr="preencoded.png">    </p:cNvPr>
          <p:cNvPicPr>
            <a:picLocks noChangeAspect="1"/>
          </p:cNvPicPr>
          <p:nvPr/>
        </p:nvPicPr>
        <p:blipFill>
          <a:blip r:embed="rId5"/>
          <a:stretch>
            <a:fillRect/>
          </a:stretch>
        </p:blipFill>
        <p:spPr>
          <a:xfrm>
            <a:off x="681228" y="4366260"/>
            <a:ext cx="228600" cy="228600"/>
          </a:xfrm>
          <a:prstGeom prst="rect">
            <a:avLst/>
          </a:prstGeom>
        </p:spPr>
      </p:pic>
      <p:sp>
        <p:nvSpPr>
          <p:cNvPr id="27" name="Text 20"/>
          <p:cNvSpPr txBox="1"/>
          <p:nvPr/>
        </p:nvSpPr>
        <p:spPr>
          <a:xfrm>
            <a:off x="1170432" y="4224528"/>
            <a:ext cx="2194560" cy="512064"/>
          </a:xfrm>
          <a:prstGeom prst="rect">
            <a:avLst/>
          </a:prstGeom>
          <a:noFill/>
          <a:ln/>
        </p:spPr>
        <p:txBody>
          <a:bodyPr wrap="square" lIns="0" tIns="0" rIns="0" bIns="0" rtlCol="0" anchor="ctr"/>
          <a:lstStyle/>
          <a:p>
            <a:pPr indent="0" marL="0">
              <a:buNone/>
            </a:pPr>
            <a:r>
              <a:rPr lang="en-US" sz="1350" b="1" dirty="0">
                <a:solidFill>
                  <a:srgbClr val="111827"/>
                </a:solidFill>
                <a:latin typeface="Calibri" pitchFamily="34" charset="0"/>
                <a:ea typeface="Calibri" pitchFamily="34" charset="-122"/>
                <a:cs typeface="Calibri" pitchFamily="34" charset="-120"/>
              </a:rPr>
              <a:t>Between visits</a:t>
            </a:r>
            <a:endParaRPr lang="en-US" sz="1350" dirty="0"/>
          </a:p>
        </p:txBody>
      </p:sp>
      <p:sp>
        <p:nvSpPr>
          <p:cNvPr id="28" name="Text 21"/>
          <p:cNvSpPr txBox="1"/>
          <p:nvPr/>
        </p:nvSpPr>
        <p:spPr>
          <a:xfrm>
            <a:off x="3383280" y="4224528"/>
            <a:ext cx="5166360" cy="512064"/>
          </a:xfrm>
          <a:prstGeom prst="rect">
            <a:avLst/>
          </a:prstGeom>
          <a:noFill/>
          <a:ln/>
        </p:spPr>
        <p:txBody>
          <a:bodyPr wrap="square" lIns="0" tIns="0" rIns="0" bIns="0" rtlCol="0" anchor="ctr"/>
          <a:lstStyle/>
          <a:p>
            <a:pPr indent="0" marL="0">
              <a:buNone/>
            </a:pPr>
            <a:r>
              <a:rPr lang="en-US" sz="1150" dirty="0">
                <a:solidFill>
                  <a:srgbClr val="4B5563"/>
                </a:solidFill>
                <a:latin typeface="Calibri" pitchFamily="34" charset="0"/>
                <a:ea typeface="Calibri" pitchFamily="34" charset="-122"/>
                <a:cs typeface="Calibri" pitchFamily="34" charset="-120"/>
              </a:rPr>
              <a:t>Monitoring plans, thresholds, adherence and escalations in patient panels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34E4A"/>
                </a:solidFill>
                <a:latin typeface="Calibri" pitchFamily="34" charset="0"/>
                <a:ea typeface="Calibri" pitchFamily="34" charset="-122"/>
                <a:cs typeface="Calibri" pitchFamily="34" charset="-120"/>
              </a:rPr>
              <a:t>Home monitoring: a closed loop</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Readings become action within minutes</a:t>
            </a:r>
            <a:endParaRPr lang="en-US" sz="1300" dirty="0"/>
          </a:p>
        </p:txBody>
      </p:sp>
      <p:sp>
        <p:nvSpPr>
          <p:cNvPr id="4" name="Shape 2"/>
          <p:cNvSpPr/>
          <p:nvPr/>
        </p:nvSpPr>
        <p:spPr>
          <a:xfrm>
            <a:off x="457200" y="1417320"/>
            <a:ext cx="1426464" cy="2331720"/>
          </a:xfrm>
          <a:prstGeom prst="roundRect">
            <a:avLst>
              <a:gd name="adj" fmla="val 7692"/>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5" name="Shape 3"/>
          <p:cNvSpPr/>
          <p:nvPr/>
        </p:nvSpPr>
        <p:spPr>
          <a:xfrm>
            <a:off x="585216" y="1563624"/>
            <a:ext cx="457200" cy="457200"/>
          </a:xfrm>
          <a:prstGeom prst="ellipse">
            <a:avLst/>
          </a:prstGeom>
          <a:solidFill>
            <a:srgbClr val="1B6B63"/>
          </a:solidFill>
          <a:ln w="12700">
            <a:solidFill>
              <a:srgbClr val="1B6B63"/>
            </a:solidFill>
            <a:prstDash val="solid"/>
          </a:ln>
        </p:spPr>
      </p:sp>
      <p:pic>
        <p:nvPicPr>
          <p:cNvPr id="6" name="Image 0" descr="preencoded.png">    </p:cNvPr>
          <p:cNvPicPr>
            <a:picLocks noChangeAspect="1"/>
          </p:cNvPicPr>
          <p:nvPr/>
        </p:nvPicPr>
        <p:blipFill>
          <a:blip r:embed="rId1"/>
          <a:stretch>
            <a:fillRect/>
          </a:stretch>
        </p:blipFill>
        <p:spPr>
          <a:xfrm>
            <a:off x="699516" y="1677924"/>
            <a:ext cx="228600" cy="228600"/>
          </a:xfrm>
          <a:prstGeom prst="rect">
            <a:avLst/>
          </a:prstGeom>
        </p:spPr>
      </p:pic>
      <p:sp>
        <p:nvSpPr>
          <p:cNvPr id="7" name="Text 4"/>
          <p:cNvSpPr txBox="1"/>
          <p:nvPr/>
        </p:nvSpPr>
        <p:spPr>
          <a:xfrm>
            <a:off x="1499616" y="1563624"/>
            <a:ext cx="274320" cy="274320"/>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1</a:t>
            </a:r>
            <a:endParaRPr lang="en-US" sz="1200" dirty="0"/>
          </a:p>
        </p:txBody>
      </p:sp>
      <p:sp>
        <p:nvSpPr>
          <p:cNvPr id="8" name="Text 5"/>
          <p:cNvSpPr txBox="1"/>
          <p:nvPr/>
        </p:nvSpPr>
        <p:spPr>
          <a:xfrm>
            <a:off x="585216" y="2112264"/>
            <a:ext cx="1243584" cy="45720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Reading in</a:t>
            </a:r>
            <a:endParaRPr lang="en-US" sz="1300" dirty="0"/>
          </a:p>
        </p:txBody>
      </p:sp>
      <p:sp>
        <p:nvSpPr>
          <p:cNvPr id="9" name="Text 6"/>
          <p:cNvSpPr txBox="1"/>
          <p:nvPr/>
        </p:nvSpPr>
        <p:spPr>
          <a:xfrm>
            <a:off x="585216" y="2551176"/>
            <a:ext cx="1207008" cy="1106424"/>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Typed, meter photo, or device import (Apple Health, CSV)</a:t>
            </a:r>
            <a:endParaRPr lang="en-US" sz="1050" dirty="0"/>
          </a:p>
        </p:txBody>
      </p:sp>
      <p:sp>
        <p:nvSpPr>
          <p:cNvPr id="10" name="Shape 7"/>
          <p:cNvSpPr/>
          <p:nvPr/>
        </p:nvSpPr>
        <p:spPr>
          <a:xfrm>
            <a:off x="1901952" y="2464308"/>
            <a:ext cx="237744" cy="237744"/>
          </a:xfrm>
          <a:prstGeom prst="rightArrow">
            <a:avLst/>
          </a:prstGeom>
          <a:solidFill>
            <a:srgbClr val="2A9D8F"/>
          </a:solidFill>
          <a:ln w="12700">
            <a:solidFill>
              <a:srgbClr val="2A9D8F"/>
            </a:solidFill>
            <a:prstDash val="solid"/>
          </a:ln>
        </p:spPr>
      </p:sp>
      <p:sp>
        <p:nvSpPr>
          <p:cNvPr id="11" name="Shape 8"/>
          <p:cNvSpPr/>
          <p:nvPr/>
        </p:nvSpPr>
        <p:spPr>
          <a:xfrm>
            <a:off x="2157984" y="1417320"/>
            <a:ext cx="1426464" cy="2331720"/>
          </a:xfrm>
          <a:prstGeom prst="roundRect">
            <a:avLst>
              <a:gd name="adj" fmla="val 7692"/>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2" name="Shape 9"/>
          <p:cNvSpPr/>
          <p:nvPr/>
        </p:nvSpPr>
        <p:spPr>
          <a:xfrm>
            <a:off x="2286000" y="1563624"/>
            <a:ext cx="457200" cy="457200"/>
          </a:xfrm>
          <a:prstGeom prst="ellipse">
            <a:avLst/>
          </a:prstGeom>
          <a:solidFill>
            <a:srgbClr val="1B6B63"/>
          </a:solidFill>
          <a:ln w="12700">
            <a:solidFill>
              <a:srgbClr val="1B6B63"/>
            </a:solidFill>
            <a:prstDash val="solid"/>
          </a:ln>
        </p:spPr>
      </p:sp>
      <p:pic>
        <p:nvPicPr>
          <p:cNvPr id="13" name="Image 1" descr="preencoded.png">    </p:cNvPr>
          <p:cNvPicPr>
            <a:picLocks noChangeAspect="1"/>
          </p:cNvPicPr>
          <p:nvPr/>
        </p:nvPicPr>
        <p:blipFill>
          <a:blip r:embed="rId2"/>
          <a:stretch>
            <a:fillRect/>
          </a:stretch>
        </p:blipFill>
        <p:spPr>
          <a:xfrm>
            <a:off x="2400300" y="1677924"/>
            <a:ext cx="228600" cy="228600"/>
          </a:xfrm>
          <a:prstGeom prst="rect">
            <a:avLst/>
          </a:prstGeom>
        </p:spPr>
      </p:pic>
      <p:sp>
        <p:nvSpPr>
          <p:cNvPr id="14" name="Text 10"/>
          <p:cNvSpPr txBox="1"/>
          <p:nvPr/>
        </p:nvSpPr>
        <p:spPr>
          <a:xfrm>
            <a:off x="3200400" y="1563624"/>
            <a:ext cx="274320" cy="274320"/>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2</a:t>
            </a:r>
            <a:endParaRPr lang="en-US" sz="1200" dirty="0"/>
          </a:p>
        </p:txBody>
      </p:sp>
      <p:sp>
        <p:nvSpPr>
          <p:cNvPr id="15" name="Text 11"/>
          <p:cNvSpPr txBox="1"/>
          <p:nvPr/>
        </p:nvSpPr>
        <p:spPr>
          <a:xfrm>
            <a:off x="2286000" y="2112264"/>
            <a:ext cx="1243584" cy="45720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Rules evaluate</a:t>
            </a:r>
            <a:endParaRPr lang="en-US" sz="1300" dirty="0"/>
          </a:p>
        </p:txBody>
      </p:sp>
      <p:sp>
        <p:nvSpPr>
          <p:cNvPr id="16" name="Text 12"/>
          <p:cNvSpPr txBox="1"/>
          <p:nvPr/>
        </p:nvSpPr>
        <p:spPr>
          <a:xfrm>
            <a:off x="2286000" y="2551176"/>
            <a:ext cx="1207008" cy="1106424"/>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Critical values and patterns such as 3 of 5 readings high</a:t>
            </a:r>
            <a:endParaRPr lang="en-US" sz="1050" dirty="0"/>
          </a:p>
        </p:txBody>
      </p:sp>
      <p:sp>
        <p:nvSpPr>
          <p:cNvPr id="17" name="Shape 13"/>
          <p:cNvSpPr/>
          <p:nvPr/>
        </p:nvSpPr>
        <p:spPr>
          <a:xfrm>
            <a:off x="3602736" y="2464308"/>
            <a:ext cx="237744" cy="237744"/>
          </a:xfrm>
          <a:prstGeom prst="rightArrow">
            <a:avLst/>
          </a:prstGeom>
          <a:solidFill>
            <a:srgbClr val="2A9D8F"/>
          </a:solidFill>
          <a:ln w="12700">
            <a:solidFill>
              <a:srgbClr val="2A9D8F"/>
            </a:solidFill>
            <a:prstDash val="solid"/>
          </a:ln>
        </p:spPr>
      </p:sp>
      <p:sp>
        <p:nvSpPr>
          <p:cNvPr id="18" name="Shape 14"/>
          <p:cNvSpPr/>
          <p:nvPr/>
        </p:nvSpPr>
        <p:spPr>
          <a:xfrm>
            <a:off x="3858768" y="1417320"/>
            <a:ext cx="1426464" cy="2331720"/>
          </a:xfrm>
          <a:prstGeom prst="roundRect">
            <a:avLst>
              <a:gd name="adj" fmla="val 7692"/>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9" name="Shape 15"/>
          <p:cNvSpPr/>
          <p:nvPr/>
        </p:nvSpPr>
        <p:spPr>
          <a:xfrm>
            <a:off x="3986784" y="1563624"/>
            <a:ext cx="457200" cy="457200"/>
          </a:xfrm>
          <a:prstGeom prst="ellipse">
            <a:avLst/>
          </a:prstGeom>
          <a:solidFill>
            <a:srgbClr val="DC2626"/>
          </a:solidFill>
          <a:ln w="12700">
            <a:solidFill>
              <a:srgbClr val="DC2626"/>
            </a:solidFill>
            <a:prstDash val="solid"/>
          </a:ln>
        </p:spPr>
      </p:sp>
      <p:pic>
        <p:nvPicPr>
          <p:cNvPr id="20" name="Image 2" descr="preencoded.png">    </p:cNvPr>
          <p:cNvPicPr>
            <a:picLocks noChangeAspect="1"/>
          </p:cNvPicPr>
          <p:nvPr/>
        </p:nvPicPr>
        <p:blipFill>
          <a:blip r:embed="rId3"/>
          <a:stretch>
            <a:fillRect/>
          </a:stretch>
        </p:blipFill>
        <p:spPr>
          <a:xfrm>
            <a:off x="4101084" y="1677924"/>
            <a:ext cx="228600" cy="228600"/>
          </a:xfrm>
          <a:prstGeom prst="rect">
            <a:avLst/>
          </a:prstGeom>
        </p:spPr>
      </p:pic>
      <p:sp>
        <p:nvSpPr>
          <p:cNvPr id="21" name="Text 16"/>
          <p:cNvSpPr txBox="1"/>
          <p:nvPr/>
        </p:nvSpPr>
        <p:spPr>
          <a:xfrm>
            <a:off x="4901184" y="1563624"/>
            <a:ext cx="274320" cy="274320"/>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3</a:t>
            </a:r>
            <a:endParaRPr lang="en-US" sz="1200" dirty="0"/>
          </a:p>
        </p:txBody>
      </p:sp>
      <p:sp>
        <p:nvSpPr>
          <p:cNvPr id="22" name="Text 17"/>
          <p:cNvSpPr txBox="1"/>
          <p:nvPr/>
        </p:nvSpPr>
        <p:spPr>
          <a:xfrm>
            <a:off x="3986784" y="2112264"/>
            <a:ext cx="1243584" cy="45720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Critical?</a:t>
            </a:r>
            <a:endParaRPr lang="en-US" sz="1300" dirty="0"/>
          </a:p>
        </p:txBody>
      </p:sp>
      <p:sp>
        <p:nvSpPr>
          <p:cNvPr id="23" name="Text 18"/>
          <p:cNvSpPr txBox="1"/>
          <p:nvPr/>
        </p:nvSpPr>
        <p:spPr>
          <a:xfrm>
            <a:off x="3986784" y="2551176"/>
            <a:ext cx="1207008" cy="1106424"/>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Patient sees fixed safety guidance and 911 advice</a:t>
            </a:r>
            <a:endParaRPr lang="en-US" sz="1050" dirty="0"/>
          </a:p>
        </p:txBody>
      </p:sp>
      <p:sp>
        <p:nvSpPr>
          <p:cNvPr id="24" name="Shape 19"/>
          <p:cNvSpPr/>
          <p:nvPr/>
        </p:nvSpPr>
        <p:spPr>
          <a:xfrm>
            <a:off x="5303520" y="2464308"/>
            <a:ext cx="237744" cy="237744"/>
          </a:xfrm>
          <a:prstGeom prst="rightArrow">
            <a:avLst/>
          </a:prstGeom>
          <a:solidFill>
            <a:srgbClr val="2A9D8F"/>
          </a:solidFill>
          <a:ln w="12700">
            <a:solidFill>
              <a:srgbClr val="2A9D8F"/>
            </a:solidFill>
            <a:prstDash val="solid"/>
          </a:ln>
        </p:spPr>
      </p:sp>
      <p:sp>
        <p:nvSpPr>
          <p:cNvPr id="25" name="Shape 20"/>
          <p:cNvSpPr/>
          <p:nvPr/>
        </p:nvSpPr>
        <p:spPr>
          <a:xfrm>
            <a:off x="5559552" y="1417320"/>
            <a:ext cx="1426464" cy="2331720"/>
          </a:xfrm>
          <a:prstGeom prst="roundRect">
            <a:avLst>
              <a:gd name="adj" fmla="val 7692"/>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26" name="Shape 21"/>
          <p:cNvSpPr/>
          <p:nvPr/>
        </p:nvSpPr>
        <p:spPr>
          <a:xfrm>
            <a:off x="5687568" y="1563624"/>
            <a:ext cx="457200" cy="457200"/>
          </a:xfrm>
          <a:prstGeom prst="ellipse">
            <a:avLst/>
          </a:prstGeom>
          <a:solidFill>
            <a:srgbClr val="1B6B63"/>
          </a:solidFill>
          <a:ln w="12700">
            <a:solidFill>
              <a:srgbClr val="1B6B63"/>
            </a:solidFill>
            <a:prstDash val="solid"/>
          </a:ln>
        </p:spPr>
      </p:sp>
      <p:pic>
        <p:nvPicPr>
          <p:cNvPr id="27" name="Image 3" descr="preencoded.png">    </p:cNvPr>
          <p:cNvPicPr>
            <a:picLocks noChangeAspect="1"/>
          </p:cNvPicPr>
          <p:nvPr/>
        </p:nvPicPr>
        <p:blipFill>
          <a:blip r:embed="rId4"/>
          <a:stretch>
            <a:fillRect/>
          </a:stretch>
        </p:blipFill>
        <p:spPr>
          <a:xfrm>
            <a:off x="5801868" y="1677924"/>
            <a:ext cx="228600" cy="228600"/>
          </a:xfrm>
          <a:prstGeom prst="rect">
            <a:avLst/>
          </a:prstGeom>
        </p:spPr>
      </p:pic>
      <p:sp>
        <p:nvSpPr>
          <p:cNvPr id="28" name="Text 22"/>
          <p:cNvSpPr txBox="1"/>
          <p:nvPr/>
        </p:nvSpPr>
        <p:spPr>
          <a:xfrm>
            <a:off x="6601968" y="1563624"/>
            <a:ext cx="274320" cy="274320"/>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4</a:t>
            </a:r>
            <a:endParaRPr lang="en-US" sz="1200" dirty="0"/>
          </a:p>
        </p:txBody>
      </p:sp>
      <p:sp>
        <p:nvSpPr>
          <p:cNvPr id="29" name="Text 23"/>
          <p:cNvSpPr txBox="1"/>
          <p:nvPr/>
        </p:nvSpPr>
        <p:spPr>
          <a:xfrm>
            <a:off x="5687568" y="2112264"/>
            <a:ext cx="1243584" cy="45720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Care team</a:t>
            </a:r>
            <a:endParaRPr lang="en-US" sz="1300" dirty="0"/>
          </a:p>
        </p:txBody>
      </p:sp>
      <p:sp>
        <p:nvSpPr>
          <p:cNvPr id="30" name="Text 24"/>
          <p:cNvSpPr txBox="1"/>
          <p:nvPr/>
        </p:nvSpPr>
        <p:spPr>
          <a:xfrm>
            <a:off x="5687568" y="2551176"/>
            <a:ext cx="1207008" cy="1106424"/>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Urgent review item and notification; clinician acknowledges</a:t>
            </a:r>
            <a:endParaRPr lang="en-US" sz="1050" dirty="0"/>
          </a:p>
        </p:txBody>
      </p:sp>
      <p:sp>
        <p:nvSpPr>
          <p:cNvPr id="31" name="Shape 25"/>
          <p:cNvSpPr/>
          <p:nvPr/>
        </p:nvSpPr>
        <p:spPr>
          <a:xfrm>
            <a:off x="7004304" y="2464308"/>
            <a:ext cx="237744" cy="237744"/>
          </a:xfrm>
          <a:prstGeom prst="rightArrow">
            <a:avLst/>
          </a:prstGeom>
          <a:solidFill>
            <a:srgbClr val="2A9D8F"/>
          </a:solidFill>
          <a:ln w="12700">
            <a:solidFill>
              <a:srgbClr val="2A9D8F"/>
            </a:solidFill>
            <a:prstDash val="solid"/>
          </a:ln>
        </p:spPr>
      </p:sp>
      <p:sp>
        <p:nvSpPr>
          <p:cNvPr id="32" name="Shape 26"/>
          <p:cNvSpPr/>
          <p:nvPr/>
        </p:nvSpPr>
        <p:spPr>
          <a:xfrm>
            <a:off x="7260336" y="1417320"/>
            <a:ext cx="1426464" cy="2331720"/>
          </a:xfrm>
          <a:prstGeom prst="roundRect">
            <a:avLst>
              <a:gd name="adj" fmla="val 7692"/>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33" name="Shape 27"/>
          <p:cNvSpPr/>
          <p:nvPr/>
        </p:nvSpPr>
        <p:spPr>
          <a:xfrm>
            <a:off x="7388352" y="1563624"/>
            <a:ext cx="457200" cy="457200"/>
          </a:xfrm>
          <a:prstGeom prst="ellipse">
            <a:avLst/>
          </a:prstGeom>
          <a:solidFill>
            <a:srgbClr val="1B6B63"/>
          </a:solidFill>
          <a:ln w="12700">
            <a:solidFill>
              <a:srgbClr val="1B6B63"/>
            </a:solidFill>
            <a:prstDash val="solid"/>
          </a:ln>
        </p:spPr>
      </p:sp>
      <p:pic>
        <p:nvPicPr>
          <p:cNvPr id="34" name="Image 4" descr="preencoded.png">    </p:cNvPr>
          <p:cNvPicPr>
            <a:picLocks noChangeAspect="1"/>
          </p:cNvPicPr>
          <p:nvPr/>
        </p:nvPicPr>
        <p:blipFill>
          <a:blip r:embed="rId5"/>
          <a:stretch>
            <a:fillRect/>
          </a:stretch>
        </p:blipFill>
        <p:spPr>
          <a:xfrm>
            <a:off x="7502652" y="1677924"/>
            <a:ext cx="228600" cy="228600"/>
          </a:xfrm>
          <a:prstGeom prst="rect">
            <a:avLst/>
          </a:prstGeom>
        </p:spPr>
      </p:pic>
      <p:sp>
        <p:nvSpPr>
          <p:cNvPr id="35" name="Text 28"/>
          <p:cNvSpPr txBox="1"/>
          <p:nvPr/>
        </p:nvSpPr>
        <p:spPr>
          <a:xfrm>
            <a:off x="8302752" y="1563624"/>
            <a:ext cx="274320" cy="274320"/>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5</a:t>
            </a:r>
            <a:endParaRPr lang="en-US" sz="1200" dirty="0"/>
          </a:p>
        </p:txBody>
      </p:sp>
      <p:sp>
        <p:nvSpPr>
          <p:cNvPr id="36" name="Text 29"/>
          <p:cNvSpPr txBox="1"/>
          <p:nvPr/>
        </p:nvSpPr>
        <p:spPr>
          <a:xfrm>
            <a:off x="7388352" y="2112264"/>
            <a:ext cx="1243584" cy="45720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Plan reminders</a:t>
            </a:r>
            <a:endParaRPr lang="en-US" sz="1300" dirty="0"/>
          </a:p>
        </p:txBody>
      </p:sp>
      <p:sp>
        <p:nvSpPr>
          <p:cNvPr id="37" name="Text 30"/>
          <p:cNvSpPr txBox="1"/>
          <p:nvPr/>
        </p:nvSpPr>
        <p:spPr>
          <a:xfrm>
            <a:off x="7388352" y="2551176"/>
            <a:ext cx="1207008" cy="1106424"/>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Twice-daily reminders until the monitoring plan ends</a:t>
            </a:r>
            <a:endParaRPr lang="en-US" sz="1050" dirty="0"/>
          </a:p>
        </p:txBody>
      </p:sp>
      <p:sp>
        <p:nvSpPr>
          <p:cNvPr id="38" name="Text 31"/>
          <p:cNvSpPr txBox="1"/>
          <p:nvPr/>
        </p:nvSpPr>
        <p:spPr>
          <a:xfrm>
            <a:off x="457200" y="4069080"/>
            <a:ext cx="8229600" cy="365760"/>
          </a:xfrm>
          <a:prstGeom prst="rect">
            <a:avLst/>
          </a:prstGeom>
          <a:noFill/>
          <a:ln/>
        </p:spPr>
        <p:txBody>
          <a:bodyPr wrap="square" lIns="0" tIns="0" rIns="0" bIns="0" rtlCol="0" anchor="t"/>
          <a:lstStyle/>
          <a:p>
            <a:pPr indent="0" marL="0">
              <a:buNone/>
            </a:pPr>
            <a:r>
              <a:rPr lang="en-US" sz="1300" i="1" dirty="0">
                <a:solidFill>
                  <a:srgbClr val="1B6B63"/>
                </a:solidFill>
                <a:latin typeface="Calibri" pitchFamily="34" charset="0"/>
                <a:ea typeface="Calibri" pitchFamily="34" charset="-122"/>
                <a:cs typeface="Calibri" pitchFamily="34" charset="-120"/>
              </a:rPr>
              <a:t>The same alert path handles blood pressure logged from a challenge, so nothing is missed.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8"/>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34E4A"/>
                </a:solidFill>
                <a:latin typeface="Calibri" pitchFamily="34" charset="0"/>
                <a:ea typeface="Calibri" pitchFamily="34" charset="-122"/>
                <a:cs typeface="Calibri" pitchFamily="34" charset="-120"/>
              </a:rPr>
              <a:t>Medicines: prescription to doorstep</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Pharmacist verification and safety checks on every order</a:t>
            </a:r>
            <a:endParaRPr lang="en-US" sz="1300" dirty="0"/>
          </a:p>
        </p:txBody>
      </p:sp>
      <p:sp>
        <p:nvSpPr>
          <p:cNvPr id="4" name="Shape 2"/>
          <p:cNvSpPr/>
          <p:nvPr/>
        </p:nvSpPr>
        <p:spPr>
          <a:xfrm>
            <a:off x="457200" y="1417320"/>
            <a:ext cx="1203960" cy="2377440"/>
          </a:xfrm>
          <a:prstGeom prst="roundRect">
            <a:avLst>
              <a:gd name="adj" fmla="val 9114"/>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5" name="Shape 3"/>
          <p:cNvSpPr/>
          <p:nvPr/>
        </p:nvSpPr>
        <p:spPr>
          <a:xfrm>
            <a:off x="585216" y="1563624"/>
            <a:ext cx="457200" cy="457200"/>
          </a:xfrm>
          <a:prstGeom prst="ellipse">
            <a:avLst/>
          </a:prstGeom>
          <a:solidFill>
            <a:srgbClr val="1B6B63"/>
          </a:solidFill>
          <a:ln w="12700">
            <a:solidFill>
              <a:srgbClr val="1B6B63"/>
            </a:solidFill>
            <a:prstDash val="solid"/>
          </a:ln>
        </p:spPr>
      </p:sp>
      <p:pic>
        <p:nvPicPr>
          <p:cNvPr id="6" name="Image 0" descr="preencoded.png">    </p:cNvPr>
          <p:cNvPicPr>
            <a:picLocks noChangeAspect="1"/>
          </p:cNvPicPr>
          <p:nvPr/>
        </p:nvPicPr>
        <p:blipFill>
          <a:blip r:embed="rId1"/>
          <a:stretch>
            <a:fillRect/>
          </a:stretch>
        </p:blipFill>
        <p:spPr>
          <a:xfrm>
            <a:off x="699516" y="1677924"/>
            <a:ext cx="228600" cy="228600"/>
          </a:xfrm>
          <a:prstGeom prst="rect">
            <a:avLst/>
          </a:prstGeom>
        </p:spPr>
      </p:pic>
      <p:sp>
        <p:nvSpPr>
          <p:cNvPr id="7" name="Text 4"/>
          <p:cNvSpPr txBox="1"/>
          <p:nvPr/>
        </p:nvSpPr>
        <p:spPr>
          <a:xfrm>
            <a:off x="1277112" y="1563624"/>
            <a:ext cx="274320" cy="274320"/>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1</a:t>
            </a:r>
            <a:endParaRPr lang="en-US" sz="1200" dirty="0"/>
          </a:p>
        </p:txBody>
      </p:sp>
      <p:sp>
        <p:nvSpPr>
          <p:cNvPr id="8" name="Text 5"/>
          <p:cNvSpPr txBox="1"/>
          <p:nvPr/>
        </p:nvSpPr>
        <p:spPr>
          <a:xfrm>
            <a:off x="585216" y="2112264"/>
            <a:ext cx="1021080" cy="457200"/>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Prescribed</a:t>
            </a:r>
            <a:endParaRPr lang="en-US" sz="1200" dirty="0"/>
          </a:p>
        </p:txBody>
      </p:sp>
      <p:sp>
        <p:nvSpPr>
          <p:cNvPr id="9" name="Text 6"/>
          <p:cNvSpPr txBox="1"/>
          <p:nvPr/>
        </p:nvSpPr>
        <p:spPr>
          <a:xfrm>
            <a:off x="585216" y="2551176"/>
            <a:ext cx="984504" cy="1152144"/>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In clinic or at the end of an online consult</a:t>
            </a:r>
            <a:endParaRPr lang="en-US" sz="1050" dirty="0"/>
          </a:p>
        </p:txBody>
      </p:sp>
      <p:sp>
        <p:nvSpPr>
          <p:cNvPr id="10" name="Shape 7"/>
          <p:cNvSpPr/>
          <p:nvPr/>
        </p:nvSpPr>
        <p:spPr>
          <a:xfrm>
            <a:off x="1679448" y="2487168"/>
            <a:ext cx="164592" cy="237744"/>
          </a:xfrm>
          <a:prstGeom prst="rightArrow">
            <a:avLst/>
          </a:prstGeom>
          <a:solidFill>
            <a:srgbClr val="2A9D8F"/>
          </a:solidFill>
          <a:ln w="12700">
            <a:solidFill>
              <a:srgbClr val="2A9D8F"/>
            </a:solidFill>
            <a:prstDash val="solid"/>
          </a:ln>
        </p:spPr>
      </p:sp>
      <p:sp>
        <p:nvSpPr>
          <p:cNvPr id="11" name="Shape 8"/>
          <p:cNvSpPr/>
          <p:nvPr/>
        </p:nvSpPr>
        <p:spPr>
          <a:xfrm>
            <a:off x="1862328" y="1417320"/>
            <a:ext cx="1203960" cy="2377440"/>
          </a:xfrm>
          <a:prstGeom prst="roundRect">
            <a:avLst>
              <a:gd name="adj" fmla="val 9114"/>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2" name="Shape 9"/>
          <p:cNvSpPr/>
          <p:nvPr/>
        </p:nvSpPr>
        <p:spPr>
          <a:xfrm>
            <a:off x="1990344" y="1563624"/>
            <a:ext cx="457200" cy="457200"/>
          </a:xfrm>
          <a:prstGeom prst="ellipse">
            <a:avLst/>
          </a:prstGeom>
          <a:solidFill>
            <a:srgbClr val="1B6B63"/>
          </a:solidFill>
          <a:ln w="12700">
            <a:solidFill>
              <a:srgbClr val="1B6B63"/>
            </a:solidFill>
            <a:prstDash val="solid"/>
          </a:ln>
        </p:spPr>
      </p:sp>
      <p:pic>
        <p:nvPicPr>
          <p:cNvPr id="13" name="Image 1" descr="preencoded.png">    </p:cNvPr>
          <p:cNvPicPr>
            <a:picLocks noChangeAspect="1"/>
          </p:cNvPicPr>
          <p:nvPr/>
        </p:nvPicPr>
        <p:blipFill>
          <a:blip r:embed="rId2"/>
          <a:stretch>
            <a:fillRect/>
          </a:stretch>
        </p:blipFill>
        <p:spPr>
          <a:xfrm>
            <a:off x="2104644" y="1677924"/>
            <a:ext cx="228600" cy="228600"/>
          </a:xfrm>
          <a:prstGeom prst="rect">
            <a:avLst/>
          </a:prstGeom>
        </p:spPr>
      </p:pic>
      <p:sp>
        <p:nvSpPr>
          <p:cNvPr id="14" name="Text 10"/>
          <p:cNvSpPr txBox="1"/>
          <p:nvPr/>
        </p:nvSpPr>
        <p:spPr>
          <a:xfrm>
            <a:off x="2682240" y="1563624"/>
            <a:ext cx="274320" cy="274320"/>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2</a:t>
            </a:r>
            <a:endParaRPr lang="en-US" sz="1200" dirty="0"/>
          </a:p>
        </p:txBody>
      </p:sp>
      <p:sp>
        <p:nvSpPr>
          <p:cNvPr id="15" name="Text 11"/>
          <p:cNvSpPr txBox="1"/>
          <p:nvPr/>
        </p:nvSpPr>
        <p:spPr>
          <a:xfrm>
            <a:off x="1990344" y="2112264"/>
            <a:ext cx="1021080" cy="457200"/>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Ordered</a:t>
            </a:r>
            <a:endParaRPr lang="en-US" sz="1200" dirty="0"/>
          </a:p>
        </p:txBody>
      </p:sp>
      <p:sp>
        <p:nvSpPr>
          <p:cNvPr id="16" name="Text 12"/>
          <p:cNvSpPr txBox="1"/>
          <p:nvPr/>
        </p:nvSpPr>
        <p:spPr>
          <a:xfrm>
            <a:off x="1990344" y="2551176"/>
            <a:ext cx="984504" cy="1152144"/>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Refills and store items; delivery or pickup</a:t>
            </a:r>
            <a:endParaRPr lang="en-US" sz="1050" dirty="0"/>
          </a:p>
        </p:txBody>
      </p:sp>
      <p:sp>
        <p:nvSpPr>
          <p:cNvPr id="17" name="Shape 13"/>
          <p:cNvSpPr/>
          <p:nvPr/>
        </p:nvSpPr>
        <p:spPr>
          <a:xfrm>
            <a:off x="3084576" y="2487168"/>
            <a:ext cx="164592" cy="237744"/>
          </a:xfrm>
          <a:prstGeom prst="rightArrow">
            <a:avLst/>
          </a:prstGeom>
          <a:solidFill>
            <a:srgbClr val="2A9D8F"/>
          </a:solidFill>
          <a:ln w="12700">
            <a:solidFill>
              <a:srgbClr val="2A9D8F"/>
            </a:solidFill>
            <a:prstDash val="solid"/>
          </a:ln>
        </p:spPr>
      </p:sp>
      <p:sp>
        <p:nvSpPr>
          <p:cNvPr id="18" name="Shape 14"/>
          <p:cNvSpPr/>
          <p:nvPr/>
        </p:nvSpPr>
        <p:spPr>
          <a:xfrm>
            <a:off x="3267456" y="1417320"/>
            <a:ext cx="1203960" cy="2377440"/>
          </a:xfrm>
          <a:prstGeom prst="roundRect">
            <a:avLst>
              <a:gd name="adj" fmla="val 9114"/>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9" name="Shape 15"/>
          <p:cNvSpPr/>
          <p:nvPr/>
        </p:nvSpPr>
        <p:spPr>
          <a:xfrm>
            <a:off x="3395472" y="1563624"/>
            <a:ext cx="457200" cy="457200"/>
          </a:xfrm>
          <a:prstGeom prst="ellipse">
            <a:avLst/>
          </a:prstGeom>
          <a:solidFill>
            <a:srgbClr val="1B6B63"/>
          </a:solidFill>
          <a:ln w="12700">
            <a:solidFill>
              <a:srgbClr val="1B6B63"/>
            </a:solidFill>
            <a:prstDash val="solid"/>
          </a:ln>
        </p:spPr>
      </p:sp>
      <p:pic>
        <p:nvPicPr>
          <p:cNvPr id="20" name="Image 2" descr="preencoded.png">    </p:cNvPr>
          <p:cNvPicPr>
            <a:picLocks noChangeAspect="1"/>
          </p:cNvPicPr>
          <p:nvPr/>
        </p:nvPicPr>
        <p:blipFill>
          <a:blip r:embed="rId3"/>
          <a:stretch>
            <a:fillRect/>
          </a:stretch>
        </p:blipFill>
        <p:spPr>
          <a:xfrm>
            <a:off x="3509772" y="1677924"/>
            <a:ext cx="228600" cy="228600"/>
          </a:xfrm>
          <a:prstGeom prst="rect">
            <a:avLst/>
          </a:prstGeom>
        </p:spPr>
      </p:pic>
      <p:sp>
        <p:nvSpPr>
          <p:cNvPr id="21" name="Text 16"/>
          <p:cNvSpPr txBox="1"/>
          <p:nvPr/>
        </p:nvSpPr>
        <p:spPr>
          <a:xfrm>
            <a:off x="4087368" y="1563624"/>
            <a:ext cx="274320" cy="274320"/>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3</a:t>
            </a:r>
            <a:endParaRPr lang="en-US" sz="1200" dirty="0"/>
          </a:p>
        </p:txBody>
      </p:sp>
      <p:sp>
        <p:nvSpPr>
          <p:cNvPr id="22" name="Text 17"/>
          <p:cNvSpPr txBox="1"/>
          <p:nvPr/>
        </p:nvSpPr>
        <p:spPr>
          <a:xfrm>
            <a:off x="3395472" y="2112264"/>
            <a:ext cx="1021080" cy="457200"/>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Checked</a:t>
            </a:r>
            <a:endParaRPr lang="en-US" sz="1200" dirty="0"/>
          </a:p>
        </p:txBody>
      </p:sp>
      <p:sp>
        <p:nvSpPr>
          <p:cNvPr id="23" name="Text 18"/>
          <p:cNvSpPr txBox="1"/>
          <p:nvPr/>
        </p:nvSpPr>
        <p:spPr>
          <a:xfrm>
            <a:off x="3395472" y="2551176"/>
            <a:ext cx="984504" cy="1152144"/>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Interactions, allergies, duplicates, age limits; no controlled delivery</a:t>
            </a:r>
            <a:endParaRPr lang="en-US" sz="1050" dirty="0"/>
          </a:p>
        </p:txBody>
      </p:sp>
      <p:sp>
        <p:nvSpPr>
          <p:cNvPr id="24" name="Shape 19"/>
          <p:cNvSpPr/>
          <p:nvPr/>
        </p:nvSpPr>
        <p:spPr>
          <a:xfrm>
            <a:off x="4489704" y="2487168"/>
            <a:ext cx="164592" cy="237744"/>
          </a:xfrm>
          <a:prstGeom prst="rightArrow">
            <a:avLst/>
          </a:prstGeom>
          <a:solidFill>
            <a:srgbClr val="2A9D8F"/>
          </a:solidFill>
          <a:ln w="12700">
            <a:solidFill>
              <a:srgbClr val="2A9D8F"/>
            </a:solidFill>
            <a:prstDash val="solid"/>
          </a:ln>
        </p:spPr>
      </p:sp>
      <p:sp>
        <p:nvSpPr>
          <p:cNvPr id="25" name="Shape 20"/>
          <p:cNvSpPr/>
          <p:nvPr/>
        </p:nvSpPr>
        <p:spPr>
          <a:xfrm>
            <a:off x="4672584" y="1417320"/>
            <a:ext cx="1203960" cy="2377440"/>
          </a:xfrm>
          <a:prstGeom prst="roundRect">
            <a:avLst>
              <a:gd name="adj" fmla="val 9114"/>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26" name="Shape 21"/>
          <p:cNvSpPr/>
          <p:nvPr/>
        </p:nvSpPr>
        <p:spPr>
          <a:xfrm>
            <a:off x="4800600" y="1563624"/>
            <a:ext cx="457200" cy="457200"/>
          </a:xfrm>
          <a:prstGeom prst="ellipse">
            <a:avLst/>
          </a:prstGeom>
          <a:solidFill>
            <a:srgbClr val="1B6B63"/>
          </a:solidFill>
          <a:ln w="12700">
            <a:solidFill>
              <a:srgbClr val="1B6B63"/>
            </a:solidFill>
            <a:prstDash val="solid"/>
          </a:ln>
        </p:spPr>
      </p:sp>
      <p:pic>
        <p:nvPicPr>
          <p:cNvPr id="27" name="Image 3" descr="preencoded.png">    </p:cNvPr>
          <p:cNvPicPr>
            <a:picLocks noChangeAspect="1"/>
          </p:cNvPicPr>
          <p:nvPr/>
        </p:nvPicPr>
        <p:blipFill>
          <a:blip r:embed="rId4"/>
          <a:stretch>
            <a:fillRect/>
          </a:stretch>
        </p:blipFill>
        <p:spPr>
          <a:xfrm>
            <a:off x="4914900" y="1677924"/>
            <a:ext cx="228600" cy="228600"/>
          </a:xfrm>
          <a:prstGeom prst="rect">
            <a:avLst/>
          </a:prstGeom>
        </p:spPr>
      </p:pic>
      <p:sp>
        <p:nvSpPr>
          <p:cNvPr id="28" name="Text 22"/>
          <p:cNvSpPr txBox="1"/>
          <p:nvPr/>
        </p:nvSpPr>
        <p:spPr>
          <a:xfrm>
            <a:off x="5492496" y="1563624"/>
            <a:ext cx="274320" cy="274320"/>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4</a:t>
            </a:r>
            <a:endParaRPr lang="en-US" sz="1200" dirty="0"/>
          </a:p>
        </p:txBody>
      </p:sp>
      <p:sp>
        <p:nvSpPr>
          <p:cNvPr id="29" name="Text 23"/>
          <p:cNvSpPr txBox="1"/>
          <p:nvPr/>
        </p:nvSpPr>
        <p:spPr>
          <a:xfrm>
            <a:off x="4800600" y="2112264"/>
            <a:ext cx="1021080" cy="457200"/>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Pharmacist</a:t>
            </a:r>
            <a:endParaRPr lang="en-US" sz="1200" dirty="0"/>
          </a:p>
        </p:txBody>
      </p:sp>
      <p:sp>
        <p:nvSpPr>
          <p:cNvPr id="30" name="Text 24"/>
          <p:cNvSpPr txBox="1"/>
          <p:nvPr/>
        </p:nvSpPr>
        <p:spPr>
          <a:xfrm>
            <a:off x="4800600" y="2551176"/>
            <a:ext cx="984504" cy="1152144"/>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Verifies, adds counseling notes, packs and dispatches</a:t>
            </a:r>
            <a:endParaRPr lang="en-US" sz="1050" dirty="0"/>
          </a:p>
        </p:txBody>
      </p:sp>
      <p:sp>
        <p:nvSpPr>
          <p:cNvPr id="31" name="Shape 25"/>
          <p:cNvSpPr/>
          <p:nvPr/>
        </p:nvSpPr>
        <p:spPr>
          <a:xfrm>
            <a:off x="5894832" y="2487168"/>
            <a:ext cx="164592" cy="237744"/>
          </a:xfrm>
          <a:prstGeom prst="rightArrow">
            <a:avLst/>
          </a:prstGeom>
          <a:solidFill>
            <a:srgbClr val="2A9D8F"/>
          </a:solidFill>
          <a:ln w="12700">
            <a:solidFill>
              <a:srgbClr val="2A9D8F"/>
            </a:solidFill>
            <a:prstDash val="solid"/>
          </a:ln>
        </p:spPr>
      </p:sp>
      <p:sp>
        <p:nvSpPr>
          <p:cNvPr id="32" name="Shape 26"/>
          <p:cNvSpPr/>
          <p:nvPr/>
        </p:nvSpPr>
        <p:spPr>
          <a:xfrm>
            <a:off x="6077712" y="1417320"/>
            <a:ext cx="1203960" cy="2377440"/>
          </a:xfrm>
          <a:prstGeom prst="roundRect">
            <a:avLst>
              <a:gd name="adj" fmla="val 9114"/>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33" name="Shape 27"/>
          <p:cNvSpPr/>
          <p:nvPr/>
        </p:nvSpPr>
        <p:spPr>
          <a:xfrm>
            <a:off x="6205728" y="1563624"/>
            <a:ext cx="457200" cy="457200"/>
          </a:xfrm>
          <a:prstGeom prst="ellipse">
            <a:avLst/>
          </a:prstGeom>
          <a:solidFill>
            <a:srgbClr val="1B6B63"/>
          </a:solidFill>
          <a:ln w="12700">
            <a:solidFill>
              <a:srgbClr val="1B6B63"/>
            </a:solidFill>
            <a:prstDash val="solid"/>
          </a:ln>
        </p:spPr>
      </p:sp>
      <p:pic>
        <p:nvPicPr>
          <p:cNvPr id="34" name="Image 4" descr="preencoded.png">    </p:cNvPr>
          <p:cNvPicPr>
            <a:picLocks noChangeAspect="1"/>
          </p:cNvPicPr>
          <p:nvPr/>
        </p:nvPicPr>
        <p:blipFill>
          <a:blip r:embed="rId5"/>
          <a:stretch>
            <a:fillRect/>
          </a:stretch>
        </p:blipFill>
        <p:spPr>
          <a:xfrm>
            <a:off x="6320028" y="1677924"/>
            <a:ext cx="228600" cy="228600"/>
          </a:xfrm>
          <a:prstGeom prst="rect">
            <a:avLst/>
          </a:prstGeom>
        </p:spPr>
      </p:pic>
      <p:sp>
        <p:nvSpPr>
          <p:cNvPr id="35" name="Text 28"/>
          <p:cNvSpPr txBox="1"/>
          <p:nvPr/>
        </p:nvSpPr>
        <p:spPr>
          <a:xfrm>
            <a:off x="6897624" y="1563624"/>
            <a:ext cx="274320" cy="274320"/>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5</a:t>
            </a:r>
            <a:endParaRPr lang="en-US" sz="1200" dirty="0"/>
          </a:p>
        </p:txBody>
      </p:sp>
      <p:sp>
        <p:nvSpPr>
          <p:cNvPr id="36" name="Text 29"/>
          <p:cNvSpPr txBox="1"/>
          <p:nvPr/>
        </p:nvSpPr>
        <p:spPr>
          <a:xfrm>
            <a:off x="6205728" y="2112264"/>
            <a:ext cx="1021080" cy="457200"/>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Delivered</a:t>
            </a:r>
            <a:endParaRPr lang="en-US" sz="1200" dirty="0"/>
          </a:p>
        </p:txBody>
      </p:sp>
      <p:sp>
        <p:nvSpPr>
          <p:cNvPr id="37" name="Text 30"/>
          <p:cNvSpPr txBox="1"/>
          <p:nvPr/>
        </p:nvSpPr>
        <p:spPr>
          <a:xfrm>
            <a:off x="6205728" y="2551176"/>
            <a:ext cx="984504" cy="1152144"/>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Tracking and proof of delivery</a:t>
            </a:r>
            <a:endParaRPr lang="en-US" sz="1050" dirty="0"/>
          </a:p>
        </p:txBody>
      </p:sp>
      <p:sp>
        <p:nvSpPr>
          <p:cNvPr id="38" name="Shape 31"/>
          <p:cNvSpPr/>
          <p:nvPr/>
        </p:nvSpPr>
        <p:spPr>
          <a:xfrm>
            <a:off x="7299960" y="2487168"/>
            <a:ext cx="164592" cy="237744"/>
          </a:xfrm>
          <a:prstGeom prst="rightArrow">
            <a:avLst/>
          </a:prstGeom>
          <a:solidFill>
            <a:srgbClr val="2A9D8F"/>
          </a:solidFill>
          <a:ln w="12700">
            <a:solidFill>
              <a:srgbClr val="2A9D8F"/>
            </a:solidFill>
            <a:prstDash val="solid"/>
          </a:ln>
        </p:spPr>
      </p:sp>
      <p:sp>
        <p:nvSpPr>
          <p:cNvPr id="39" name="Shape 32"/>
          <p:cNvSpPr/>
          <p:nvPr/>
        </p:nvSpPr>
        <p:spPr>
          <a:xfrm>
            <a:off x="7482840" y="1417320"/>
            <a:ext cx="1203960" cy="2377440"/>
          </a:xfrm>
          <a:prstGeom prst="roundRect">
            <a:avLst>
              <a:gd name="adj" fmla="val 9114"/>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40" name="Shape 33"/>
          <p:cNvSpPr/>
          <p:nvPr/>
        </p:nvSpPr>
        <p:spPr>
          <a:xfrm>
            <a:off x="7610856" y="1563624"/>
            <a:ext cx="457200" cy="457200"/>
          </a:xfrm>
          <a:prstGeom prst="ellipse">
            <a:avLst/>
          </a:prstGeom>
          <a:solidFill>
            <a:srgbClr val="1B6B63"/>
          </a:solidFill>
          <a:ln w="12700">
            <a:solidFill>
              <a:srgbClr val="1B6B63"/>
            </a:solidFill>
            <a:prstDash val="solid"/>
          </a:ln>
        </p:spPr>
      </p:sp>
      <p:pic>
        <p:nvPicPr>
          <p:cNvPr id="41" name="Image 5" descr="preencoded.png">    </p:cNvPr>
          <p:cNvPicPr>
            <a:picLocks noChangeAspect="1"/>
          </p:cNvPicPr>
          <p:nvPr/>
        </p:nvPicPr>
        <p:blipFill>
          <a:blip r:embed="rId6"/>
          <a:stretch>
            <a:fillRect/>
          </a:stretch>
        </p:blipFill>
        <p:spPr>
          <a:xfrm>
            <a:off x="7725156" y="1677924"/>
            <a:ext cx="228600" cy="228600"/>
          </a:xfrm>
          <a:prstGeom prst="rect">
            <a:avLst/>
          </a:prstGeom>
        </p:spPr>
      </p:pic>
      <p:sp>
        <p:nvSpPr>
          <p:cNvPr id="42" name="Text 34"/>
          <p:cNvSpPr txBox="1"/>
          <p:nvPr/>
        </p:nvSpPr>
        <p:spPr>
          <a:xfrm>
            <a:off x="8302752" y="1563624"/>
            <a:ext cx="274320" cy="274320"/>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6</a:t>
            </a:r>
            <a:endParaRPr lang="en-US" sz="1200" dirty="0"/>
          </a:p>
        </p:txBody>
      </p:sp>
      <p:sp>
        <p:nvSpPr>
          <p:cNvPr id="43" name="Text 35"/>
          <p:cNvSpPr txBox="1"/>
          <p:nvPr/>
        </p:nvSpPr>
        <p:spPr>
          <a:xfrm>
            <a:off x="7610856" y="2112264"/>
            <a:ext cx="1021080" cy="457200"/>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Dose reminders</a:t>
            </a:r>
            <a:endParaRPr lang="en-US" sz="1200" dirty="0"/>
          </a:p>
        </p:txBody>
      </p:sp>
      <p:sp>
        <p:nvSpPr>
          <p:cNvPr id="44" name="Text 36"/>
          <p:cNvSpPr txBox="1"/>
          <p:nvPr/>
        </p:nvSpPr>
        <p:spPr>
          <a:xfrm>
            <a:off x="7610856" y="2551176"/>
            <a:ext cx="984504" cy="1152144"/>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Companion reminders and adherence for both sides</a:t>
            </a:r>
            <a:endParaRPr lang="en-US" sz="1050" dirty="0"/>
          </a:p>
        </p:txBody>
      </p:sp>
      <p:sp>
        <p:nvSpPr>
          <p:cNvPr id="45" name="Text 37"/>
          <p:cNvSpPr txBox="1"/>
          <p:nvPr/>
        </p:nvSpPr>
        <p:spPr>
          <a:xfrm>
            <a:off x="457200" y="4069080"/>
            <a:ext cx="8229600" cy="365760"/>
          </a:xfrm>
          <a:prstGeom prst="rect">
            <a:avLst/>
          </a:prstGeom>
          <a:noFill/>
          <a:ln/>
        </p:spPr>
        <p:txBody>
          <a:bodyPr wrap="square" lIns="0" tIns="0" rIns="0" bIns="0" rtlCol="0" anchor="t"/>
          <a:lstStyle/>
          <a:p>
            <a:pPr indent="0" marL="0">
              <a:buNone/>
            </a:pPr>
            <a:r>
              <a:rPr lang="en-US" sz="1200" dirty="0">
                <a:solidFill>
                  <a:srgbClr val="4B5563"/>
                </a:solidFill>
                <a:latin typeface="Calibri" pitchFamily="34" charset="0"/>
                <a:ea typeface="Calibri" pitchFamily="34" charset="-122"/>
                <a:cs typeface="Calibri" pitchFamily="34" charset="-120"/>
              </a:rPr>
              <a:t>Payment is a labelled demo; real card numbers are refused and never stored.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34E4A"/>
                </a:solidFill>
                <a:latin typeface="Calibri" pitchFamily="34" charset="0"/>
                <a:ea typeface="Calibri" pitchFamily="34" charset="-122"/>
                <a:cs typeface="Calibri" pitchFamily="34" charset="-120"/>
              </a:rPr>
              <a:t>Insurance and billing</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Standard US insurance transactions (X12), with a digital card</a:t>
            </a:r>
            <a:endParaRPr lang="en-US" sz="1300" dirty="0"/>
          </a:p>
        </p:txBody>
      </p:sp>
      <p:sp>
        <p:nvSpPr>
          <p:cNvPr id="4" name="Shape 2"/>
          <p:cNvSpPr/>
          <p:nvPr/>
        </p:nvSpPr>
        <p:spPr>
          <a:xfrm>
            <a:off x="457200" y="1417320"/>
            <a:ext cx="1426464" cy="2331720"/>
          </a:xfrm>
          <a:prstGeom prst="roundRect">
            <a:avLst>
              <a:gd name="adj" fmla="val 7692"/>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5" name="Shape 3"/>
          <p:cNvSpPr/>
          <p:nvPr/>
        </p:nvSpPr>
        <p:spPr>
          <a:xfrm>
            <a:off x="585216" y="1563624"/>
            <a:ext cx="457200" cy="457200"/>
          </a:xfrm>
          <a:prstGeom prst="ellipse">
            <a:avLst/>
          </a:prstGeom>
          <a:solidFill>
            <a:srgbClr val="1B6B63"/>
          </a:solidFill>
          <a:ln w="12700">
            <a:solidFill>
              <a:srgbClr val="1B6B63"/>
            </a:solidFill>
            <a:prstDash val="solid"/>
          </a:ln>
        </p:spPr>
      </p:sp>
      <p:pic>
        <p:nvPicPr>
          <p:cNvPr id="6" name="Image 0" descr="preencoded.png">    </p:cNvPr>
          <p:cNvPicPr>
            <a:picLocks noChangeAspect="1"/>
          </p:cNvPicPr>
          <p:nvPr/>
        </p:nvPicPr>
        <p:blipFill>
          <a:blip r:embed="rId1"/>
          <a:stretch>
            <a:fillRect/>
          </a:stretch>
        </p:blipFill>
        <p:spPr>
          <a:xfrm>
            <a:off x="699516" y="1677924"/>
            <a:ext cx="228600" cy="228600"/>
          </a:xfrm>
          <a:prstGeom prst="rect">
            <a:avLst/>
          </a:prstGeom>
        </p:spPr>
      </p:pic>
      <p:sp>
        <p:nvSpPr>
          <p:cNvPr id="7" name="Text 4"/>
          <p:cNvSpPr txBox="1"/>
          <p:nvPr/>
        </p:nvSpPr>
        <p:spPr>
          <a:xfrm>
            <a:off x="1499616" y="1563624"/>
            <a:ext cx="274320" cy="274320"/>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1</a:t>
            </a:r>
            <a:endParaRPr lang="en-US" sz="1200" dirty="0"/>
          </a:p>
        </p:txBody>
      </p:sp>
      <p:sp>
        <p:nvSpPr>
          <p:cNvPr id="8" name="Text 5"/>
          <p:cNvSpPr txBox="1"/>
          <p:nvPr/>
        </p:nvSpPr>
        <p:spPr>
          <a:xfrm>
            <a:off x="585216" y="2112264"/>
            <a:ext cx="1243584" cy="45720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Card</a:t>
            </a:r>
            <a:endParaRPr lang="en-US" sz="1300" dirty="0"/>
          </a:p>
        </p:txBody>
      </p:sp>
      <p:sp>
        <p:nvSpPr>
          <p:cNvPr id="9" name="Text 6"/>
          <p:cNvSpPr txBox="1"/>
          <p:nvPr/>
        </p:nvSpPr>
        <p:spPr>
          <a:xfrm>
            <a:off x="585216" y="2551176"/>
            <a:ext cx="1207008" cy="1106424"/>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Photo scan or digital card with a signed QR code</a:t>
            </a:r>
            <a:endParaRPr lang="en-US" sz="1050" dirty="0"/>
          </a:p>
        </p:txBody>
      </p:sp>
      <p:sp>
        <p:nvSpPr>
          <p:cNvPr id="10" name="Shape 7"/>
          <p:cNvSpPr/>
          <p:nvPr/>
        </p:nvSpPr>
        <p:spPr>
          <a:xfrm>
            <a:off x="1901952" y="2464308"/>
            <a:ext cx="237744" cy="237744"/>
          </a:xfrm>
          <a:prstGeom prst="rightArrow">
            <a:avLst/>
          </a:prstGeom>
          <a:solidFill>
            <a:srgbClr val="2A9D8F"/>
          </a:solidFill>
          <a:ln w="12700">
            <a:solidFill>
              <a:srgbClr val="2A9D8F"/>
            </a:solidFill>
            <a:prstDash val="solid"/>
          </a:ln>
        </p:spPr>
      </p:sp>
      <p:sp>
        <p:nvSpPr>
          <p:cNvPr id="11" name="Shape 8"/>
          <p:cNvSpPr/>
          <p:nvPr/>
        </p:nvSpPr>
        <p:spPr>
          <a:xfrm>
            <a:off x="2157984" y="1417320"/>
            <a:ext cx="1426464" cy="2331720"/>
          </a:xfrm>
          <a:prstGeom prst="roundRect">
            <a:avLst>
              <a:gd name="adj" fmla="val 7692"/>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2" name="Shape 9"/>
          <p:cNvSpPr/>
          <p:nvPr/>
        </p:nvSpPr>
        <p:spPr>
          <a:xfrm>
            <a:off x="2286000" y="1563624"/>
            <a:ext cx="457200" cy="457200"/>
          </a:xfrm>
          <a:prstGeom prst="ellipse">
            <a:avLst/>
          </a:prstGeom>
          <a:solidFill>
            <a:srgbClr val="1B6B63"/>
          </a:solidFill>
          <a:ln w="12700">
            <a:solidFill>
              <a:srgbClr val="1B6B63"/>
            </a:solidFill>
            <a:prstDash val="solid"/>
          </a:ln>
        </p:spPr>
      </p:sp>
      <p:pic>
        <p:nvPicPr>
          <p:cNvPr id="13" name="Image 1" descr="preencoded.png">    </p:cNvPr>
          <p:cNvPicPr>
            <a:picLocks noChangeAspect="1"/>
          </p:cNvPicPr>
          <p:nvPr/>
        </p:nvPicPr>
        <p:blipFill>
          <a:blip r:embed="rId2"/>
          <a:stretch>
            <a:fillRect/>
          </a:stretch>
        </p:blipFill>
        <p:spPr>
          <a:xfrm>
            <a:off x="2400300" y="1677924"/>
            <a:ext cx="228600" cy="228600"/>
          </a:xfrm>
          <a:prstGeom prst="rect">
            <a:avLst/>
          </a:prstGeom>
        </p:spPr>
      </p:pic>
      <p:sp>
        <p:nvSpPr>
          <p:cNvPr id="14" name="Text 10"/>
          <p:cNvSpPr txBox="1"/>
          <p:nvPr/>
        </p:nvSpPr>
        <p:spPr>
          <a:xfrm>
            <a:off x="3200400" y="1563624"/>
            <a:ext cx="274320" cy="274320"/>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2</a:t>
            </a:r>
            <a:endParaRPr lang="en-US" sz="1200" dirty="0"/>
          </a:p>
        </p:txBody>
      </p:sp>
      <p:sp>
        <p:nvSpPr>
          <p:cNvPr id="15" name="Text 11"/>
          <p:cNvSpPr txBox="1"/>
          <p:nvPr/>
        </p:nvSpPr>
        <p:spPr>
          <a:xfrm>
            <a:off x="2286000" y="2112264"/>
            <a:ext cx="1243584" cy="45720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Eligibility</a:t>
            </a:r>
            <a:endParaRPr lang="en-US" sz="1300" dirty="0"/>
          </a:p>
        </p:txBody>
      </p:sp>
      <p:sp>
        <p:nvSpPr>
          <p:cNvPr id="16" name="Text 12"/>
          <p:cNvSpPr txBox="1"/>
          <p:nvPr/>
        </p:nvSpPr>
        <p:spPr>
          <a:xfrm>
            <a:off x="2286000" y="2551176"/>
            <a:ext cx="1207008" cy="1106424"/>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270/271 check: deductible, copays, active coverage</a:t>
            </a:r>
            <a:endParaRPr lang="en-US" sz="1050" dirty="0"/>
          </a:p>
        </p:txBody>
      </p:sp>
      <p:sp>
        <p:nvSpPr>
          <p:cNvPr id="17" name="Shape 13"/>
          <p:cNvSpPr/>
          <p:nvPr/>
        </p:nvSpPr>
        <p:spPr>
          <a:xfrm>
            <a:off x="3602736" y="2464308"/>
            <a:ext cx="237744" cy="237744"/>
          </a:xfrm>
          <a:prstGeom prst="rightArrow">
            <a:avLst/>
          </a:prstGeom>
          <a:solidFill>
            <a:srgbClr val="2A9D8F"/>
          </a:solidFill>
          <a:ln w="12700">
            <a:solidFill>
              <a:srgbClr val="2A9D8F"/>
            </a:solidFill>
            <a:prstDash val="solid"/>
          </a:ln>
        </p:spPr>
      </p:sp>
      <p:sp>
        <p:nvSpPr>
          <p:cNvPr id="18" name="Shape 14"/>
          <p:cNvSpPr/>
          <p:nvPr/>
        </p:nvSpPr>
        <p:spPr>
          <a:xfrm>
            <a:off x="3858768" y="1417320"/>
            <a:ext cx="1426464" cy="2331720"/>
          </a:xfrm>
          <a:prstGeom prst="roundRect">
            <a:avLst>
              <a:gd name="adj" fmla="val 7692"/>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9" name="Shape 15"/>
          <p:cNvSpPr/>
          <p:nvPr/>
        </p:nvSpPr>
        <p:spPr>
          <a:xfrm>
            <a:off x="3986784" y="1563624"/>
            <a:ext cx="457200" cy="457200"/>
          </a:xfrm>
          <a:prstGeom prst="ellipse">
            <a:avLst/>
          </a:prstGeom>
          <a:solidFill>
            <a:srgbClr val="1B6B63"/>
          </a:solidFill>
          <a:ln w="12700">
            <a:solidFill>
              <a:srgbClr val="1B6B63"/>
            </a:solidFill>
            <a:prstDash val="solid"/>
          </a:ln>
        </p:spPr>
      </p:sp>
      <p:pic>
        <p:nvPicPr>
          <p:cNvPr id="20" name="Image 2" descr="preencoded.png">    </p:cNvPr>
          <p:cNvPicPr>
            <a:picLocks noChangeAspect="1"/>
          </p:cNvPicPr>
          <p:nvPr/>
        </p:nvPicPr>
        <p:blipFill>
          <a:blip r:embed="rId3"/>
          <a:stretch>
            <a:fillRect/>
          </a:stretch>
        </p:blipFill>
        <p:spPr>
          <a:xfrm>
            <a:off x="4101084" y="1677924"/>
            <a:ext cx="228600" cy="228600"/>
          </a:xfrm>
          <a:prstGeom prst="rect">
            <a:avLst/>
          </a:prstGeom>
        </p:spPr>
      </p:pic>
      <p:sp>
        <p:nvSpPr>
          <p:cNvPr id="21" name="Text 16"/>
          <p:cNvSpPr txBox="1"/>
          <p:nvPr/>
        </p:nvSpPr>
        <p:spPr>
          <a:xfrm>
            <a:off x="4901184" y="1563624"/>
            <a:ext cx="274320" cy="274320"/>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3</a:t>
            </a:r>
            <a:endParaRPr lang="en-US" sz="1200" dirty="0"/>
          </a:p>
        </p:txBody>
      </p:sp>
      <p:sp>
        <p:nvSpPr>
          <p:cNvPr id="22" name="Text 17"/>
          <p:cNvSpPr txBox="1"/>
          <p:nvPr/>
        </p:nvSpPr>
        <p:spPr>
          <a:xfrm>
            <a:off x="3986784" y="2112264"/>
            <a:ext cx="1243584" cy="45720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Estimate</a:t>
            </a:r>
            <a:endParaRPr lang="en-US" sz="1300" dirty="0"/>
          </a:p>
        </p:txBody>
      </p:sp>
      <p:sp>
        <p:nvSpPr>
          <p:cNvPr id="23" name="Text 18"/>
          <p:cNvSpPr txBox="1"/>
          <p:nvPr/>
        </p:nvSpPr>
        <p:spPr>
          <a:xfrm>
            <a:off x="3986784" y="2551176"/>
            <a:ext cx="1207008" cy="1106424"/>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What the visit will cost, in plain language</a:t>
            </a:r>
            <a:endParaRPr lang="en-US" sz="1050" dirty="0"/>
          </a:p>
        </p:txBody>
      </p:sp>
      <p:sp>
        <p:nvSpPr>
          <p:cNvPr id="24" name="Shape 19"/>
          <p:cNvSpPr/>
          <p:nvPr/>
        </p:nvSpPr>
        <p:spPr>
          <a:xfrm>
            <a:off x="5303520" y="2464308"/>
            <a:ext cx="237744" cy="237744"/>
          </a:xfrm>
          <a:prstGeom prst="rightArrow">
            <a:avLst/>
          </a:prstGeom>
          <a:solidFill>
            <a:srgbClr val="2A9D8F"/>
          </a:solidFill>
          <a:ln w="12700">
            <a:solidFill>
              <a:srgbClr val="2A9D8F"/>
            </a:solidFill>
            <a:prstDash val="solid"/>
          </a:ln>
        </p:spPr>
      </p:sp>
      <p:sp>
        <p:nvSpPr>
          <p:cNvPr id="25" name="Shape 20"/>
          <p:cNvSpPr/>
          <p:nvPr/>
        </p:nvSpPr>
        <p:spPr>
          <a:xfrm>
            <a:off x="5559552" y="1417320"/>
            <a:ext cx="1426464" cy="2331720"/>
          </a:xfrm>
          <a:prstGeom prst="roundRect">
            <a:avLst>
              <a:gd name="adj" fmla="val 7692"/>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26" name="Shape 21"/>
          <p:cNvSpPr/>
          <p:nvPr/>
        </p:nvSpPr>
        <p:spPr>
          <a:xfrm>
            <a:off x="5687568" y="1563624"/>
            <a:ext cx="457200" cy="457200"/>
          </a:xfrm>
          <a:prstGeom prst="ellipse">
            <a:avLst/>
          </a:prstGeom>
          <a:solidFill>
            <a:srgbClr val="1B6B63"/>
          </a:solidFill>
          <a:ln w="12700">
            <a:solidFill>
              <a:srgbClr val="1B6B63"/>
            </a:solidFill>
            <a:prstDash val="solid"/>
          </a:ln>
        </p:spPr>
      </p:sp>
      <p:pic>
        <p:nvPicPr>
          <p:cNvPr id="27" name="Image 3" descr="preencoded.png">    </p:cNvPr>
          <p:cNvPicPr>
            <a:picLocks noChangeAspect="1"/>
          </p:cNvPicPr>
          <p:nvPr/>
        </p:nvPicPr>
        <p:blipFill>
          <a:blip r:embed="rId4"/>
          <a:stretch>
            <a:fillRect/>
          </a:stretch>
        </p:blipFill>
        <p:spPr>
          <a:xfrm>
            <a:off x="5801868" y="1677924"/>
            <a:ext cx="228600" cy="228600"/>
          </a:xfrm>
          <a:prstGeom prst="rect">
            <a:avLst/>
          </a:prstGeom>
        </p:spPr>
      </p:pic>
      <p:sp>
        <p:nvSpPr>
          <p:cNvPr id="28" name="Text 22"/>
          <p:cNvSpPr txBox="1"/>
          <p:nvPr/>
        </p:nvSpPr>
        <p:spPr>
          <a:xfrm>
            <a:off x="6601968" y="1563624"/>
            <a:ext cx="274320" cy="274320"/>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4</a:t>
            </a:r>
            <a:endParaRPr lang="en-US" sz="1200" dirty="0"/>
          </a:p>
        </p:txBody>
      </p:sp>
      <p:sp>
        <p:nvSpPr>
          <p:cNvPr id="29" name="Text 23"/>
          <p:cNvSpPr txBox="1"/>
          <p:nvPr/>
        </p:nvSpPr>
        <p:spPr>
          <a:xfrm>
            <a:off x="5687568" y="2112264"/>
            <a:ext cx="1243584" cy="45720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Claim</a:t>
            </a:r>
            <a:endParaRPr lang="en-US" sz="1300" dirty="0"/>
          </a:p>
        </p:txBody>
      </p:sp>
      <p:sp>
        <p:nvSpPr>
          <p:cNvPr id="30" name="Text 24"/>
          <p:cNvSpPr txBox="1"/>
          <p:nvPr/>
        </p:nvSpPr>
        <p:spPr>
          <a:xfrm>
            <a:off x="5687568" y="2551176"/>
            <a:ext cx="1207008" cy="1106424"/>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837P sent; 277CA acknowledgment tracked</a:t>
            </a:r>
            <a:endParaRPr lang="en-US" sz="1050" dirty="0"/>
          </a:p>
        </p:txBody>
      </p:sp>
      <p:sp>
        <p:nvSpPr>
          <p:cNvPr id="31" name="Shape 25"/>
          <p:cNvSpPr/>
          <p:nvPr/>
        </p:nvSpPr>
        <p:spPr>
          <a:xfrm>
            <a:off x="7004304" y="2464308"/>
            <a:ext cx="237744" cy="237744"/>
          </a:xfrm>
          <a:prstGeom prst="rightArrow">
            <a:avLst/>
          </a:prstGeom>
          <a:solidFill>
            <a:srgbClr val="2A9D8F"/>
          </a:solidFill>
          <a:ln w="12700">
            <a:solidFill>
              <a:srgbClr val="2A9D8F"/>
            </a:solidFill>
            <a:prstDash val="solid"/>
          </a:ln>
        </p:spPr>
      </p:sp>
      <p:sp>
        <p:nvSpPr>
          <p:cNvPr id="32" name="Shape 26"/>
          <p:cNvSpPr/>
          <p:nvPr/>
        </p:nvSpPr>
        <p:spPr>
          <a:xfrm>
            <a:off x="7260336" y="1417320"/>
            <a:ext cx="1426464" cy="2331720"/>
          </a:xfrm>
          <a:prstGeom prst="roundRect">
            <a:avLst>
              <a:gd name="adj" fmla="val 7692"/>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33" name="Shape 27"/>
          <p:cNvSpPr/>
          <p:nvPr/>
        </p:nvSpPr>
        <p:spPr>
          <a:xfrm>
            <a:off x="7388352" y="1563624"/>
            <a:ext cx="457200" cy="457200"/>
          </a:xfrm>
          <a:prstGeom prst="ellipse">
            <a:avLst/>
          </a:prstGeom>
          <a:solidFill>
            <a:srgbClr val="1B6B63"/>
          </a:solidFill>
          <a:ln w="12700">
            <a:solidFill>
              <a:srgbClr val="1B6B63"/>
            </a:solidFill>
            <a:prstDash val="solid"/>
          </a:ln>
        </p:spPr>
      </p:sp>
      <p:pic>
        <p:nvPicPr>
          <p:cNvPr id="34" name="Image 4" descr="preencoded.png">    </p:cNvPr>
          <p:cNvPicPr>
            <a:picLocks noChangeAspect="1"/>
          </p:cNvPicPr>
          <p:nvPr/>
        </p:nvPicPr>
        <p:blipFill>
          <a:blip r:embed="rId5"/>
          <a:stretch>
            <a:fillRect/>
          </a:stretch>
        </p:blipFill>
        <p:spPr>
          <a:xfrm>
            <a:off x="7502652" y="1677924"/>
            <a:ext cx="228600" cy="228600"/>
          </a:xfrm>
          <a:prstGeom prst="rect">
            <a:avLst/>
          </a:prstGeom>
        </p:spPr>
      </p:pic>
      <p:sp>
        <p:nvSpPr>
          <p:cNvPr id="35" name="Text 28"/>
          <p:cNvSpPr txBox="1"/>
          <p:nvPr/>
        </p:nvSpPr>
        <p:spPr>
          <a:xfrm>
            <a:off x="8302752" y="1563624"/>
            <a:ext cx="274320" cy="274320"/>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5</a:t>
            </a:r>
            <a:endParaRPr lang="en-US" sz="1200" dirty="0"/>
          </a:p>
        </p:txBody>
      </p:sp>
      <p:sp>
        <p:nvSpPr>
          <p:cNvPr id="36" name="Text 29"/>
          <p:cNvSpPr txBox="1"/>
          <p:nvPr/>
        </p:nvSpPr>
        <p:spPr>
          <a:xfrm>
            <a:off x="7388352" y="2112264"/>
            <a:ext cx="1243584" cy="45720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Paid</a:t>
            </a:r>
            <a:endParaRPr lang="en-US" sz="1300" dirty="0"/>
          </a:p>
        </p:txBody>
      </p:sp>
      <p:sp>
        <p:nvSpPr>
          <p:cNvPr id="37" name="Text 30"/>
          <p:cNvSpPr txBox="1"/>
          <p:nvPr/>
        </p:nvSpPr>
        <p:spPr>
          <a:xfrm>
            <a:off x="7388352" y="2551176"/>
            <a:ext cx="1207008" cy="1106424"/>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835 remittance posted; patient bill and payment</a:t>
            </a:r>
            <a:endParaRPr lang="en-US" sz="1050" dirty="0"/>
          </a:p>
        </p:txBody>
      </p:sp>
      <p:sp>
        <p:nvSpPr>
          <p:cNvPr id="38" name="Text 31"/>
          <p:cNvSpPr txBox="1"/>
          <p:nvPr/>
        </p:nvSpPr>
        <p:spPr>
          <a:xfrm>
            <a:off x="457200" y="4069080"/>
            <a:ext cx="8229600" cy="365760"/>
          </a:xfrm>
          <a:prstGeom prst="rect">
            <a:avLst/>
          </a:prstGeom>
          <a:noFill/>
          <a:ln/>
        </p:spPr>
        <p:txBody>
          <a:bodyPr wrap="square" lIns="0" tIns="0" rIns="0" bIns="0" rtlCol="0" anchor="t"/>
          <a:lstStyle/>
          <a:p>
            <a:pPr indent="0" marL="0">
              <a:buNone/>
            </a:pPr>
            <a:r>
              <a:rPr lang="en-US" sz="1300" i="1" dirty="0">
                <a:solidFill>
                  <a:srgbClr val="1B6B63"/>
                </a:solidFill>
                <a:latin typeface="Calibri" pitchFamily="34" charset="0"/>
                <a:ea typeface="Calibri" pitchFamily="34" charset="-122"/>
                <a:cs typeface="Calibri" pitchFamily="34" charset="-120"/>
              </a:rPr>
              <a:t>The front desk scans the QR code to verify coverage; eligibility is rechecked automatically before visits.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8"/>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34E4A"/>
                </a:solidFill>
                <a:latin typeface="Calibri" pitchFamily="34" charset="0"/>
                <a:ea typeface="Calibri" pitchFamily="34" charset="-122"/>
                <a:cs typeface="Calibri" pitchFamily="34" charset="-120"/>
              </a:rPr>
              <a:t>Between visits: wellbeing</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Proactive support and engagement, with safety built in</a:t>
            </a:r>
            <a:endParaRPr lang="en-US" sz="1300" dirty="0"/>
          </a:p>
        </p:txBody>
      </p:sp>
      <p:sp>
        <p:nvSpPr>
          <p:cNvPr id="4" name="Shape 2"/>
          <p:cNvSpPr/>
          <p:nvPr/>
        </p:nvSpPr>
        <p:spPr>
          <a:xfrm>
            <a:off x="457200" y="1325880"/>
            <a:ext cx="2606040" cy="1508760"/>
          </a:xfrm>
          <a:prstGeom prst="roundRect">
            <a:avLst>
              <a:gd name="adj" fmla="val 7273"/>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5" name="Shape 3"/>
          <p:cNvSpPr/>
          <p:nvPr/>
        </p:nvSpPr>
        <p:spPr>
          <a:xfrm>
            <a:off x="621792" y="1490472"/>
            <a:ext cx="502920" cy="502920"/>
          </a:xfrm>
          <a:prstGeom prst="ellipse">
            <a:avLst/>
          </a:prstGeom>
          <a:solidFill>
            <a:srgbClr val="1B6B63"/>
          </a:solidFill>
          <a:ln w="12700">
            <a:solidFill>
              <a:srgbClr val="1B6B63"/>
            </a:solidFill>
            <a:prstDash val="solid"/>
          </a:ln>
        </p:spPr>
      </p:sp>
      <p:pic>
        <p:nvPicPr>
          <p:cNvPr id="6" name="Image 0" descr="preencoded.png">    </p:cNvPr>
          <p:cNvPicPr>
            <a:picLocks noChangeAspect="1"/>
          </p:cNvPicPr>
          <p:nvPr/>
        </p:nvPicPr>
        <p:blipFill>
          <a:blip r:embed="rId1"/>
          <a:stretch>
            <a:fillRect/>
          </a:stretch>
        </p:blipFill>
        <p:spPr>
          <a:xfrm>
            <a:off x="747522" y="1616202"/>
            <a:ext cx="251460" cy="251460"/>
          </a:xfrm>
          <a:prstGeom prst="rect">
            <a:avLst/>
          </a:prstGeom>
        </p:spPr>
      </p:pic>
      <p:sp>
        <p:nvSpPr>
          <p:cNvPr id="7" name="Text 4"/>
          <p:cNvSpPr txBox="1"/>
          <p:nvPr/>
        </p:nvSpPr>
        <p:spPr>
          <a:xfrm>
            <a:off x="1261872" y="1508760"/>
            <a:ext cx="1691640" cy="457200"/>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Today companion</a:t>
            </a:r>
            <a:endParaRPr lang="en-US" sz="1400" dirty="0"/>
          </a:p>
        </p:txBody>
      </p:sp>
      <p:sp>
        <p:nvSpPr>
          <p:cNvPr id="8" name="Text 5"/>
          <p:cNvSpPr txBox="1"/>
          <p:nvPr/>
        </p:nvSpPr>
        <p:spPr>
          <a:xfrm>
            <a:off x="621792" y="2103120"/>
            <a:ext cx="2286000" cy="685800"/>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Dose and visit reminders, check-ins that escalate when someone feels worse</a:t>
            </a:r>
            <a:endParaRPr lang="en-US" sz="1100" dirty="0"/>
          </a:p>
        </p:txBody>
      </p:sp>
      <p:sp>
        <p:nvSpPr>
          <p:cNvPr id="9" name="Shape 6"/>
          <p:cNvSpPr/>
          <p:nvPr/>
        </p:nvSpPr>
        <p:spPr>
          <a:xfrm>
            <a:off x="3246120" y="1325880"/>
            <a:ext cx="2606040" cy="1508760"/>
          </a:xfrm>
          <a:prstGeom prst="roundRect">
            <a:avLst>
              <a:gd name="adj" fmla="val 7273"/>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0" name="Shape 7"/>
          <p:cNvSpPr/>
          <p:nvPr/>
        </p:nvSpPr>
        <p:spPr>
          <a:xfrm>
            <a:off x="3410712" y="1490472"/>
            <a:ext cx="502920" cy="502920"/>
          </a:xfrm>
          <a:prstGeom prst="ellipse">
            <a:avLst/>
          </a:prstGeom>
          <a:solidFill>
            <a:srgbClr val="1B6B63"/>
          </a:solidFill>
          <a:ln w="12700">
            <a:solidFill>
              <a:srgbClr val="1B6B63"/>
            </a:solidFill>
            <a:prstDash val="solid"/>
          </a:ln>
        </p:spPr>
      </p:sp>
      <p:pic>
        <p:nvPicPr>
          <p:cNvPr id="11" name="Image 1" descr="preencoded.png">    </p:cNvPr>
          <p:cNvPicPr>
            <a:picLocks noChangeAspect="1"/>
          </p:cNvPicPr>
          <p:nvPr/>
        </p:nvPicPr>
        <p:blipFill>
          <a:blip r:embed="rId2"/>
          <a:stretch>
            <a:fillRect/>
          </a:stretch>
        </p:blipFill>
        <p:spPr>
          <a:xfrm>
            <a:off x="3536442" y="1616202"/>
            <a:ext cx="251460" cy="251460"/>
          </a:xfrm>
          <a:prstGeom prst="rect">
            <a:avLst/>
          </a:prstGeom>
        </p:spPr>
      </p:pic>
      <p:sp>
        <p:nvSpPr>
          <p:cNvPr id="12" name="Text 8"/>
          <p:cNvSpPr txBox="1"/>
          <p:nvPr/>
        </p:nvSpPr>
        <p:spPr>
          <a:xfrm>
            <a:off x="4050792" y="1508760"/>
            <a:ext cx="1691640" cy="457200"/>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Food &amp; nutrition</a:t>
            </a:r>
            <a:endParaRPr lang="en-US" sz="1400" dirty="0"/>
          </a:p>
        </p:txBody>
      </p:sp>
      <p:sp>
        <p:nvSpPr>
          <p:cNvPr id="13" name="Text 9"/>
          <p:cNvSpPr txBox="1"/>
          <p:nvPr/>
        </p:nvSpPr>
        <p:spPr>
          <a:xfrm>
            <a:off x="3410712" y="2103120"/>
            <a:ext cx="2286000" cy="685800"/>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Meal log and food photo scan; sodium and calorie targets</a:t>
            </a:r>
            <a:endParaRPr lang="en-US" sz="1100" dirty="0"/>
          </a:p>
        </p:txBody>
      </p:sp>
      <p:sp>
        <p:nvSpPr>
          <p:cNvPr id="14" name="Shape 10"/>
          <p:cNvSpPr/>
          <p:nvPr/>
        </p:nvSpPr>
        <p:spPr>
          <a:xfrm>
            <a:off x="6035040" y="1325880"/>
            <a:ext cx="2606040" cy="1508760"/>
          </a:xfrm>
          <a:prstGeom prst="roundRect">
            <a:avLst>
              <a:gd name="adj" fmla="val 7273"/>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5" name="Shape 11"/>
          <p:cNvSpPr/>
          <p:nvPr/>
        </p:nvSpPr>
        <p:spPr>
          <a:xfrm>
            <a:off x="6199632" y="1490472"/>
            <a:ext cx="502920" cy="502920"/>
          </a:xfrm>
          <a:prstGeom prst="ellipse">
            <a:avLst/>
          </a:prstGeom>
          <a:solidFill>
            <a:srgbClr val="1B6B63"/>
          </a:solidFill>
          <a:ln w="12700">
            <a:solidFill>
              <a:srgbClr val="1B6B63"/>
            </a:solidFill>
            <a:prstDash val="solid"/>
          </a:ln>
        </p:spPr>
      </p:sp>
      <p:pic>
        <p:nvPicPr>
          <p:cNvPr id="16" name="Image 2" descr="preencoded.png">    </p:cNvPr>
          <p:cNvPicPr>
            <a:picLocks noChangeAspect="1"/>
          </p:cNvPicPr>
          <p:nvPr/>
        </p:nvPicPr>
        <p:blipFill>
          <a:blip r:embed="rId3"/>
          <a:stretch>
            <a:fillRect/>
          </a:stretch>
        </p:blipFill>
        <p:spPr>
          <a:xfrm>
            <a:off x="6325362" y="1616202"/>
            <a:ext cx="251460" cy="251460"/>
          </a:xfrm>
          <a:prstGeom prst="rect">
            <a:avLst/>
          </a:prstGeom>
        </p:spPr>
      </p:pic>
      <p:sp>
        <p:nvSpPr>
          <p:cNvPr id="17" name="Text 12"/>
          <p:cNvSpPr txBox="1"/>
          <p:nvPr/>
        </p:nvSpPr>
        <p:spPr>
          <a:xfrm>
            <a:off x="6839712" y="1508760"/>
            <a:ext cx="1691640" cy="457200"/>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Weight coach</a:t>
            </a:r>
            <a:endParaRPr lang="en-US" sz="1400" dirty="0"/>
          </a:p>
        </p:txBody>
      </p:sp>
      <p:sp>
        <p:nvSpPr>
          <p:cNvPr id="18" name="Text 13"/>
          <p:cNvSpPr txBox="1"/>
          <p:nvPr/>
        </p:nvSpPr>
        <p:spPr>
          <a:xfrm>
            <a:off x="6199632" y="2103120"/>
            <a:ext cx="2286000" cy="685800"/>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Safe goals only; eating-disorder screen routes to the care team</a:t>
            </a:r>
            <a:endParaRPr lang="en-US" sz="1100" dirty="0"/>
          </a:p>
        </p:txBody>
      </p:sp>
      <p:sp>
        <p:nvSpPr>
          <p:cNvPr id="19" name="Shape 14"/>
          <p:cNvSpPr/>
          <p:nvPr/>
        </p:nvSpPr>
        <p:spPr>
          <a:xfrm>
            <a:off x="457200" y="3017520"/>
            <a:ext cx="2606040" cy="1508760"/>
          </a:xfrm>
          <a:prstGeom prst="roundRect">
            <a:avLst>
              <a:gd name="adj" fmla="val 7273"/>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20" name="Shape 15"/>
          <p:cNvSpPr/>
          <p:nvPr/>
        </p:nvSpPr>
        <p:spPr>
          <a:xfrm>
            <a:off x="621792" y="3182112"/>
            <a:ext cx="502920" cy="502920"/>
          </a:xfrm>
          <a:prstGeom prst="ellipse">
            <a:avLst/>
          </a:prstGeom>
          <a:solidFill>
            <a:srgbClr val="2A9D8F"/>
          </a:solidFill>
          <a:ln w="12700">
            <a:solidFill>
              <a:srgbClr val="2A9D8F"/>
            </a:solidFill>
            <a:prstDash val="solid"/>
          </a:ln>
        </p:spPr>
      </p:sp>
      <p:pic>
        <p:nvPicPr>
          <p:cNvPr id="21" name="Image 3" descr="preencoded.png">    </p:cNvPr>
          <p:cNvPicPr>
            <a:picLocks noChangeAspect="1"/>
          </p:cNvPicPr>
          <p:nvPr/>
        </p:nvPicPr>
        <p:blipFill>
          <a:blip r:embed="rId4"/>
          <a:stretch>
            <a:fillRect/>
          </a:stretch>
        </p:blipFill>
        <p:spPr>
          <a:xfrm>
            <a:off x="747522" y="3307842"/>
            <a:ext cx="251460" cy="251460"/>
          </a:xfrm>
          <a:prstGeom prst="rect">
            <a:avLst/>
          </a:prstGeom>
        </p:spPr>
      </p:pic>
      <p:sp>
        <p:nvSpPr>
          <p:cNvPr id="22" name="Text 16"/>
          <p:cNvSpPr txBox="1"/>
          <p:nvPr/>
        </p:nvSpPr>
        <p:spPr>
          <a:xfrm>
            <a:off x="1261872" y="3200400"/>
            <a:ext cx="1691640" cy="457200"/>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Mood &amp; mind</a:t>
            </a:r>
            <a:endParaRPr lang="en-US" sz="1400" dirty="0"/>
          </a:p>
        </p:txBody>
      </p:sp>
      <p:sp>
        <p:nvSpPr>
          <p:cNvPr id="23" name="Text 17"/>
          <p:cNvSpPr txBox="1"/>
          <p:nvPr/>
        </p:nvSpPr>
        <p:spPr>
          <a:xfrm>
            <a:off x="621792" y="3794760"/>
            <a:ext cx="2286000" cy="685800"/>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PHQ-9 and GAD-7; any self-harm answer shows 988 support at once</a:t>
            </a:r>
            <a:endParaRPr lang="en-US" sz="1100" dirty="0"/>
          </a:p>
        </p:txBody>
      </p:sp>
      <p:sp>
        <p:nvSpPr>
          <p:cNvPr id="24" name="Shape 18"/>
          <p:cNvSpPr/>
          <p:nvPr/>
        </p:nvSpPr>
        <p:spPr>
          <a:xfrm>
            <a:off x="3246120" y="3017520"/>
            <a:ext cx="2606040" cy="1508760"/>
          </a:xfrm>
          <a:prstGeom prst="roundRect">
            <a:avLst>
              <a:gd name="adj" fmla="val 7273"/>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25" name="Shape 19"/>
          <p:cNvSpPr/>
          <p:nvPr/>
        </p:nvSpPr>
        <p:spPr>
          <a:xfrm>
            <a:off x="3410712" y="3182112"/>
            <a:ext cx="502920" cy="502920"/>
          </a:xfrm>
          <a:prstGeom prst="ellipse">
            <a:avLst/>
          </a:prstGeom>
          <a:solidFill>
            <a:srgbClr val="1B6B63"/>
          </a:solidFill>
          <a:ln w="12700">
            <a:solidFill>
              <a:srgbClr val="1B6B63"/>
            </a:solidFill>
            <a:prstDash val="solid"/>
          </a:ln>
        </p:spPr>
      </p:sp>
      <p:pic>
        <p:nvPicPr>
          <p:cNvPr id="26" name="Image 4" descr="preencoded.png">    </p:cNvPr>
          <p:cNvPicPr>
            <a:picLocks noChangeAspect="1"/>
          </p:cNvPicPr>
          <p:nvPr/>
        </p:nvPicPr>
        <p:blipFill>
          <a:blip r:embed="rId5"/>
          <a:stretch>
            <a:fillRect/>
          </a:stretch>
        </p:blipFill>
        <p:spPr>
          <a:xfrm>
            <a:off x="3536442" y="3307842"/>
            <a:ext cx="251460" cy="251460"/>
          </a:xfrm>
          <a:prstGeom prst="rect">
            <a:avLst/>
          </a:prstGeom>
        </p:spPr>
      </p:pic>
      <p:sp>
        <p:nvSpPr>
          <p:cNvPr id="27" name="Text 20"/>
          <p:cNvSpPr txBox="1"/>
          <p:nvPr/>
        </p:nvSpPr>
        <p:spPr>
          <a:xfrm>
            <a:off x="4050792" y="3200400"/>
            <a:ext cx="1691640" cy="457200"/>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Challenges</a:t>
            </a:r>
            <a:endParaRPr lang="en-US" sz="1400" dirty="0"/>
          </a:p>
        </p:txBody>
      </p:sp>
      <p:sp>
        <p:nvSpPr>
          <p:cNvPr id="28" name="Text 21"/>
          <p:cNvSpPr txBox="1"/>
          <p:nvPr/>
        </p:nvSpPr>
        <p:spPr>
          <a:xfrm>
            <a:off x="3410712" y="3794760"/>
            <a:ext cx="2286000" cy="685800"/>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Steps, activity, blood pressure; badges and family teams</a:t>
            </a:r>
            <a:endParaRPr lang="en-US" sz="1100" dirty="0"/>
          </a:p>
        </p:txBody>
      </p:sp>
      <p:sp>
        <p:nvSpPr>
          <p:cNvPr id="29" name="Shape 22"/>
          <p:cNvSpPr/>
          <p:nvPr/>
        </p:nvSpPr>
        <p:spPr>
          <a:xfrm>
            <a:off x="6035040" y="3017520"/>
            <a:ext cx="2606040" cy="1508760"/>
          </a:xfrm>
          <a:prstGeom prst="roundRect">
            <a:avLst>
              <a:gd name="adj" fmla="val 7273"/>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30" name="Shape 23"/>
          <p:cNvSpPr/>
          <p:nvPr/>
        </p:nvSpPr>
        <p:spPr>
          <a:xfrm>
            <a:off x="6199632" y="3182112"/>
            <a:ext cx="502920" cy="502920"/>
          </a:xfrm>
          <a:prstGeom prst="ellipse">
            <a:avLst/>
          </a:prstGeom>
          <a:solidFill>
            <a:srgbClr val="1B6B63"/>
          </a:solidFill>
          <a:ln w="12700">
            <a:solidFill>
              <a:srgbClr val="1B6B63"/>
            </a:solidFill>
            <a:prstDash val="solid"/>
          </a:ln>
        </p:spPr>
      </p:sp>
      <p:pic>
        <p:nvPicPr>
          <p:cNvPr id="31" name="Image 5" descr="preencoded.png">    </p:cNvPr>
          <p:cNvPicPr>
            <a:picLocks noChangeAspect="1"/>
          </p:cNvPicPr>
          <p:nvPr/>
        </p:nvPicPr>
        <p:blipFill>
          <a:blip r:embed="rId6"/>
          <a:stretch>
            <a:fillRect/>
          </a:stretch>
        </p:blipFill>
        <p:spPr>
          <a:xfrm>
            <a:off x="6325362" y="3307842"/>
            <a:ext cx="251460" cy="251460"/>
          </a:xfrm>
          <a:prstGeom prst="rect">
            <a:avLst/>
          </a:prstGeom>
        </p:spPr>
      </p:pic>
      <p:sp>
        <p:nvSpPr>
          <p:cNvPr id="32" name="Text 24"/>
          <p:cNvSpPr txBox="1"/>
          <p:nvPr/>
        </p:nvSpPr>
        <p:spPr>
          <a:xfrm>
            <a:off x="6839712" y="3200400"/>
            <a:ext cx="1691640" cy="457200"/>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Find your way</a:t>
            </a:r>
            <a:endParaRPr lang="en-US" sz="1400" dirty="0"/>
          </a:p>
        </p:txBody>
      </p:sp>
      <p:sp>
        <p:nvSpPr>
          <p:cNvPr id="33" name="Text 25"/>
          <p:cNvSpPr txBox="1"/>
          <p:nvPr/>
        </p:nvSpPr>
        <p:spPr>
          <a:xfrm>
            <a:off x="6199632" y="3794760"/>
            <a:ext cx="2286000" cy="685800"/>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Step-free routes and turn-by-turn directions in the hospital</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34E4A"/>
                </a:solidFill>
                <a:latin typeface="Calibri" pitchFamily="34" charset="0"/>
                <a:ea typeface="Calibri" pitchFamily="34" charset="-122"/>
                <a:cs typeface="Calibri" pitchFamily="34" charset="-120"/>
              </a:rPr>
              <a:t>The proactive engine</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Scheduled jobs create notifications; delivery respects each person's choices</a:t>
            </a:r>
            <a:endParaRPr lang="en-US" sz="1300" dirty="0"/>
          </a:p>
        </p:txBody>
      </p:sp>
      <p:sp>
        <p:nvSpPr>
          <p:cNvPr id="4" name="Shape 2"/>
          <p:cNvSpPr/>
          <p:nvPr/>
        </p:nvSpPr>
        <p:spPr>
          <a:xfrm>
            <a:off x="457200" y="1325880"/>
            <a:ext cx="3840480" cy="3337560"/>
          </a:xfrm>
          <a:prstGeom prst="roundRect">
            <a:avLst>
              <a:gd name="adj" fmla="val 3288"/>
            </a:avLst>
          </a:prstGeom>
          <a:solidFill>
            <a:srgbClr val="E6F4F1"/>
          </a:solidFill>
          <a:ln w="9525">
            <a:solidFill>
              <a:srgbClr val="E6F4F1"/>
            </a:solidFill>
            <a:prstDash val="solid"/>
          </a:ln>
          <a:effectLst>
            <a:outerShdw sx="100000" sy="100000" kx="0" ky="0" algn="bl" rotWithShape="0" blurRad="76200" dist="19050" dir="5400000">
              <a:srgbClr val="000000">
                <a:alpha val="8000"/>
              </a:srgbClr>
            </a:outerShdw>
          </a:effectLst>
        </p:spPr>
      </p:sp>
      <p:sp>
        <p:nvSpPr>
          <p:cNvPr id="5" name="Text 3"/>
          <p:cNvSpPr txBox="1"/>
          <p:nvPr/>
        </p:nvSpPr>
        <p:spPr>
          <a:xfrm>
            <a:off x="640080" y="1417320"/>
            <a:ext cx="3474720" cy="365760"/>
          </a:xfrm>
          <a:prstGeom prst="rect">
            <a:avLst/>
          </a:prstGeom>
          <a:noFill/>
          <a:ln/>
        </p:spPr>
        <p:txBody>
          <a:bodyPr wrap="square" lIns="0" tIns="0" rIns="0" bIns="0" rtlCol="0" anchor="t"/>
          <a:lstStyle/>
          <a:p>
            <a:pPr indent="0" marL="0">
              <a:buNone/>
            </a:pPr>
            <a:r>
              <a:rPr lang="en-US" sz="1500" b="1" dirty="0">
                <a:solidFill>
                  <a:srgbClr val="134E4A"/>
                </a:solidFill>
                <a:latin typeface="Calibri" pitchFamily="34" charset="0"/>
                <a:ea typeface="Calibri" pitchFamily="34" charset="-122"/>
                <a:cs typeface="Calibri" pitchFamily="34" charset="-120"/>
              </a:rPr>
              <a:t>16 jobs, every 5 minutes</a:t>
            </a:r>
            <a:endParaRPr lang="en-US" sz="1500" dirty="0"/>
          </a:p>
        </p:txBody>
      </p:sp>
      <p:sp>
        <p:nvSpPr>
          <p:cNvPr id="6" name="Text 4"/>
          <p:cNvSpPr txBox="1"/>
          <p:nvPr/>
        </p:nvSpPr>
        <p:spPr>
          <a:xfrm>
            <a:off x="640080" y="1874520"/>
            <a:ext cx="3520440" cy="26517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11827"/>
                </a:solidFill>
                <a:latin typeface="Calibri" pitchFamily="34" charset="0"/>
                <a:ea typeface="Calibri" pitchFamily="34" charset="-122"/>
                <a:cs typeface="Calibri" pitchFamily="34" charset="-120"/>
              </a:rPr>
              <a:t>Medication and appointment reminders</a:t>
            </a:r>
            <a:endParaRPr lang="en-US" sz="1200" dirty="0"/>
          </a:p>
          <a:p>
            <a:pPr marL="342900" indent="-342900">
              <a:spcAft>
                <a:spcPts val="600"/>
              </a:spcAft>
              <a:buSzPct val="100000"/>
              <a:buChar char="•"/>
            </a:pPr>
            <a:r>
              <a:rPr lang="en-US" sz="1200" dirty="0">
                <a:solidFill>
                  <a:srgbClr val="111827"/>
                </a:solidFill>
                <a:latin typeface="Calibri" pitchFamily="34" charset="0"/>
                <a:ea typeface="Calibri" pitchFamily="34" charset="-122"/>
                <a:cs typeface="Calibri" pitchFamily="34" charset="-120"/>
              </a:rPr>
              <a:t>Check-ins after visits and new medicines</a:t>
            </a:r>
            <a:endParaRPr lang="en-US" sz="1200" dirty="0"/>
          </a:p>
          <a:p>
            <a:pPr marL="342900" indent="-342900">
              <a:spcAft>
                <a:spcPts val="600"/>
              </a:spcAft>
              <a:buSzPct val="100000"/>
              <a:buChar char="•"/>
            </a:pPr>
            <a:r>
              <a:rPr lang="en-US" sz="1200" dirty="0">
                <a:solidFill>
                  <a:srgbClr val="111827"/>
                </a:solidFill>
                <a:latin typeface="Calibri" pitchFamily="34" charset="0"/>
                <a:ea typeface="Calibri" pitchFamily="34" charset="-122"/>
                <a:cs typeface="Calibri" pitchFamily="34" charset="-120"/>
              </a:rPr>
              <a:t>Results ready, care gaps, morning summary</a:t>
            </a:r>
            <a:endParaRPr lang="en-US" sz="1200" dirty="0"/>
          </a:p>
          <a:p>
            <a:pPr marL="342900" indent="-342900">
              <a:spcAft>
                <a:spcPts val="600"/>
              </a:spcAft>
              <a:buSzPct val="100000"/>
              <a:buChar char="•"/>
            </a:pPr>
            <a:r>
              <a:rPr lang="en-US" sz="1200" dirty="0">
                <a:solidFill>
                  <a:srgbClr val="111827"/>
                </a:solidFill>
                <a:latin typeface="Calibri" pitchFamily="34" charset="0"/>
                <a:ea typeface="Calibri" pitchFamily="34" charset="-122"/>
                <a:cs typeface="Calibri" pitchFamily="34" charset="-120"/>
              </a:rPr>
              <a:t>Vitals reminders, weight and mood follow-ups</a:t>
            </a:r>
            <a:endParaRPr lang="en-US" sz="1200" dirty="0"/>
          </a:p>
          <a:p>
            <a:pPr marL="342900" indent="-342900">
              <a:spcAft>
                <a:spcPts val="600"/>
              </a:spcAft>
              <a:buSzPct val="100000"/>
              <a:buChar char="•"/>
            </a:pPr>
            <a:r>
              <a:rPr lang="en-US" sz="1200" dirty="0">
                <a:solidFill>
                  <a:srgbClr val="111827"/>
                </a:solidFill>
                <a:latin typeface="Calibri" pitchFamily="34" charset="0"/>
                <a:ea typeface="Calibri" pitchFamily="34" charset="-122"/>
                <a:cs typeface="Calibri" pitchFamily="34" charset="-120"/>
              </a:rPr>
              <a:t>Insurance eligibility and remittances</a:t>
            </a:r>
            <a:endParaRPr lang="en-US" sz="1200" dirty="0"/>
          </a:p>
          <a:p>
            <a:pPr marL="342900" indent="-342900">
              <a:spcAft>
                <a:spcPts val="600"/>
              </a:spcAft>
              <a:buSzPct val="100000"/>
              <a:buChar char="•"/>
            </a:pPr>
            <a:r>
              <a:rPr lang="en-US" sz="1200" dirty="0">
                <a:solidFill>
                  <a:srgbClr val="111827"/>
                </a:solidFill>
                <a:latin typeface="Calibri" pitchFamily="34" charset="0"/>
                <a:ea typeface="Calibri" pitchFamily="34" charset="-122"/>
                <a:cs typeface="Calibri" pitchFamily="34" charset="-120"/>
              </a:rPr>
              <a:t>License expiry, consult housekeeping, courier</a:t>
            </a:r>
            <a:endParaRPr lang="en-US" sz="1200" dirty="0"/>
          </a:p>
        </p:txBody>
      </p:sp>
      <p:sp>
        <p:nvSpPr>
          <p:cNvPr id="7" name="Shape 5"/>
          <p:cNvSpPr/>
          <p:nvPr/>
        </p:nvSpPr>
        <p:spPr>
          <a:xfrm>
            <a:off x="4407408" y="2834640"/>
            <a:ext cx="256032" cy="237744"/>
          </a:xfrm>
          <a:prstGeom prst="rightArrow">
            <a:avLst/>
          </a:prstGeom>
          <a:solidFill>
            <a:srgbClr val="2A9D8F"/>
          </a:solidFill>
          <a:ln w="12700">
            <a:solidFill>
              <a:srgbClr val="2A9D8F"/>
            </a:solidFill>
            <a:prstDash val="solid"/>
          </a:ln>
        </p:spPr>
      </p:sp>
      <p:sp>
        <p:nvSpPr>
          <p:cNvPr id="8" name="Shape 6"/>
          <p:cNvSpPr/>
          <p:nvPr/>
        </p:nvSpPr>
        <p:spPr>
          <a:xfrm>
            <a:off x="4800600" y="1325880"/>
            <a:ext cx="3886200" cy="777240"/>
          </a:xfrm>
          <a:prstGeom prst="roundRect">
            <a:avLst>
              <a:gd name="adj" fmla="val 14118"/>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9" name="Shape 7"/>
          <p:cNvSpPr/>
          <p:nvPr/>
        </p:nvSpPr>
        <p:spPr>
          <a:xfrm>
            <a:off x="4937760" y="1463040"/>
            <a:ext cx="502920" cy="502920"/>
          </a:xfrm>
          <a:prstGeom prst="ellipse">
            <a:avLst/>
          </a:prstGeom>
          <a:solidFill>
            <a:srgbClr val="1B6B63"/>
          </a:solidFill>
          <a:ln w="12700">
            <a:solidFill>
              <a:srgbClr val="1B6B63"/>
            </a:solidFill>
            <a:prstDash val="solid"/>
          </a:ln>
        </p:spPr>
      </p:sp>
      <p:pic>
        <p:nvPicPr>
          <p:cNvPr id="10" name="Image 0" descr="preencoded.png">    </p:cNvPr>
          <p:cNvPicPr>
            <a:picLocks noChangeAspect="1"/>
          </p:cNvPicPr>
          <p:nvPr/>
        </p:nvPicPr>
        <p:blipFill>
          <a:blip r:embed="rId1"/>
          <a:stretch>
            <a:fillRect/>
          </a:stretch>
        </p:blipFill>
        <p:spPr>
          <a:xfrm>
            <a:off x="5063490" y="1588770"/>
            <a:ext cx="251460" cy="251460"/>
          </a:xfrm>
          <a:prstGeom prst="rect">
            <a:avLst/>
          </a:prstGeom>
        </p:spPr>
      </p:pic>
      <p:sp>
        <p:nvSpPr>
          <p:cNvPr id="11" name="Text 8"/>
          <p:cNvSpPr txBox="1"/>
          <p:nvPr/>
        </p:nvSpPr>
        <p:spPr>
          <a:xfrm>
            <a:off x="5577840" y="1435608"/>
            <a:ext cx="2926080" cy="292608"/>
          </a:xfrm>
          <a:prstGeom prst="rect">
            <a:avLst/>
          </a:prstGeom>
          <a:noFill/>
          <a:ln/>
        </p:spPr>
        <p:txBody>
          <a:bodyPr wrap="square" lIns="0" tIns="0" rIns="0" bIns="0" rtlCol="0" anchor="t"/>
          <a:lstStyle/>
          <a:p>
            <a:pPr indent="0" marL="0">
              <a:buNone/>
            </a:pPr>
            <a:r>
              <a:rPr lang="en-US" sz="1350" b="1" dirty="0">
                <a:solidFill>
                  <a:srgbClr val="111827"/>
                </a:solidFill>
                <a:latin typeface="Calibri" pitchFamily="34" charset="0"/>
                <a:ea typeface="Calibri" pitchFamily="34" charset="-122"/>
                <a:cs typeface="Calibri" pitchFamily="34" charset="-120"/>
              </a:rPr>
              <a:t>In the app</a:t>
            </a:r>
            <a:endParaRPr lang="en-US" sz="1350" dirty="0"/>
          </a:p>
        </p:txBody>
      </p:sp>
      <p:sp>
        <p:nvSpPr>
          <p:cNvPr id="12" name="Text 9"/>
          <p:cNvSpPr txBox="1"/>
          <p:nvPr/>
        </p:nvSpPr>
        <p:spPr>
          <a:xfrm>
            <a:off x="5577840" y="1728216"/>
            <a:ext cx="2926080" cy="292608"/>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Bell, inbox, browser pop-ups</a:t>
            </a:r>
            <a:endParaRPr lang="en-US" sz="1100" dirty="0"/>
          </a:p>
        </p:txBody>
      </p:sp>
      <p:sp>
        <p:nvSpPr>
          <p:cNvPr id="13" name="Shape 10"/>
          <p:cNvSpPr/>
          <p:nvPr/>
        </p:nvSpPr>
        <p:spPr>
          <a:xfrm>
            <a:off x="4800600" y="2240280"/>
            <a:ext cx="3886200" cy="777240"/>
          </a:xfrm>
          <a:prstGeom prst="roundRect">
            <a:avLst>
              <a:gd name="adj" fmla="val 14118"/>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4" name="Shape 11"/>
          <p:cNvSpPr/>
          <p:nvPr/>
        </p:nvSpPr>
        <p:spPr>
          <a:xfrm>
            <a:off x="4937760" y="2377440"/>
            <a:ext cx="502920" cy="502920"/>
          </a:xfrm>
          <a:prstGeom prst="ellipse">
            <a:avLst/>
          </a:prstGeom>
          <a:solidFill>
            <a:srgbClr val="1B6B63"/>
          </a:solidFill>
          <a:ln w="12700">
            <a:solidFill>
              <a:srgbClr val="1B6B63"/>
            </a:solidFill>
            <a:prstDash val="solid"/>
          </a:ln>
        </p:spPr>
      </p:sp>
      <p:pic>
        <p:nvPicPr>
          <p:cNvPr id="15" name="Image 1" descr="preencoded.png">    </p:cNvPr>
          <p:cNvPicPr>
            <a:picLocks noChangeAspect="1"/>
          </p:cNvPicPr>
          <p:nvPr/>
        </p:nvPicPr>
        <p:blipFill>
          <a:blip r:embed="rId2"/>
          <a:stretch>
            <a:fillRect/>
          </a:stretch>
        </p:blipFill>
        <p:spPr>
          <a:xfrm>
            <a:off x="5063490" y="2503170"/>
            <a:ext cx="251460" cy="251460"/>
          </a:xfrm>
          <a:prstGeom prst="rect">
            <a:avLst/>
          </a:prstGeom>
        </p:spPr>
      </p:pic>
      <p:sp>
        <p:nvSpPr>
          <p:cNvPr id="16" name="Text 12"/>
          <p:cNvSpPr txBox="1"/>
          <p:nvPr/>
        </p:nvSpPr>
        <p:spPr>
          <a:xfrm>
            <a:off x="5577840" y="2350008"/>
            <a:ext cx="2926080" cy="292608"/>
          </a:xfrm>
          <a:prstGeom prst="rect">
            <a:avLst/>
          </a:prstGeom>
          <a:noFill/>
          <a:ln/>
        </p:spPr>
        <p:txBody>
          <a:bodyPr wrap="square" lIns="0" tIns="0" rIns="0" bIns="0" rtlCol="0" anchor="t"/>
          <a:lstStyle/>
          <a:p>
            <a:pPr indent="0" marL="0">
              <a:buNone/>
            </a:pPr>
            <a:r>
              <a:rPr lang="en-US" sz="1350" b="1" dirty="0">
                <a:solidFill>
                  <a:srgbClr val="111827"/>
                </a:solidFill>
                <a:latin typeface="Calibri" pitchFamily="34" charset="0"/>
                <a:ea typeface="Calibri" pitchFamily="34" charset="-122"/>
                <a:cs typeface="Calibri" pitchFamily="34" charset="-120"/>
              </a:rPr>
              <a:t>Email</a:t>
            </a:r>
            <a:endParaRPr lang="en-US" sz="1350" dirty="0"/>
          </a:p>
        </p:txBody>
      </p:sp>
      <p:sp>
        <p:nvSpPr>
          <p:cNvPr id="17" name="Text 13"/>
          <p:cNvSpPr txBox="1"/>
          <p:nvPr/>
        </p:nvSpPr>
        <p:spPr>
          <a:xfrm>
            <a:off x="5577840" y="2642616"/>
            <a:ext cx="2926080" cy="292608"/>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Gmail SMTP</a:t>
            </a:r>
            <a:endParaRPr lang="en-US" sz="1100" dirty="0"/>
          </a:p>
        </p:txBody>
      </p:sp>
      <p:sp>
        <p:nvSpPr>
          <p:cNvPr id="18" name="Shape 14"/>
          <p:cNvSpPr/>
          <p:nvPr/>
        </p:nvSpPr>
        <p:spPr>
          <a:xfrm>
            <a:off x="4800600" y="3154680"/>
            <a:ext cx="3886200" cy="777240"/>
          </a:xfrm>
          <a:prstGeom prst="roundRect">
            <a:avLst>
              <a:gd name="adj" fmla="val 14118"/>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9" name="Shape 15"/>
          <p:cNvSpPr/>
          <p:nvPr/>
        </p:nvSpPr>
        <p:spPr>
          <a:xfrm>
            <a:off x="4937760" y="3291840"/>
            <a:ext cx="502920" cy="502920"/>
          </a:xfrm>
          <a:prstGeom prst="ellipse">
            <a:avLst/>
          </a:prstGeom>
          <a:solidFill>
            <a:srgbClr val="1B6B63"/>
          </a:solidFill>
          <a:ln w="12700">
            <a:solidFill>
              <a:srgbClr val="1B6B63"/>
            </a:solidFill>
            <a:prstDash val="solid"/>
          </a:ln>
        </p:spPr>
      </p:sp>
      <p:pic>
        <p:nvPicPr>
          <p:cNvPr id="20" name="Image 2" descr="preencoded.png">    </p:cNvPr>
          <p:cNvPicPr>
            <a:picLocks noChangeAspect="1"/>
          </p:cNvPicPr>
          <p:nvPr/>
        </p:nvPicPr>
        <p:blipFill>
          <a:blip r:embed="rId3"/>
          <a:stretch>
            <a:fillRect/>
          </a:stretch>
        </p:blipFill>
        <p:spPr>
          <a:xfrm>
            <a:off x="5063490" y="3417570"/>
            <a:ext cx="251460" cy="251460"/>
          </a:xfrm>
          <a:prstGeom prst="rect">
            <a:avLst/>
          </a:prstGeom>
        </p:spPr>
      </p:pic>
      <p:sp>
        <p:nvSpPr>
          <p:cNvPr id="21" name="Text 16"/>
          <p:cNvSpPr txBox="1"/>
          <p:nvPr/>
        </p:nvSpPr>
        <p:spPr>
          <a:xfrm>
            <a:off x="5577840" y="3264408"/>
            <a:ext cx="2926080" cy="292608"/>
          </a:xfrm>
          <a:prstGeom prst="rect">
            <a:avLst/>
          </a:prstGeom>
          <a:noFill/>
          <a:ln/>
        </p:spPr>
        <p:txBody>
          <a:bodyPr wrap="square" lIns="0" tIns="0" rIns="0" bIns="0" rtlCol="0" anchor="t"/>
          <a:lstStyle/>
          <a:p>
            <a:pPr indent="0" marL="0">
              <a:buNone/>
            </a:pPr>
            <a:r>
              <a:rPr lang="en-US" sz="1350" b="1" dirty="0">
                <a:solidFill>
                  <a:srgbClr val="111827"/>
                </a:solidFill>
                <a:latin typeface="Calibri" pitchFamily="34" charset="0"/>
                <a:ea typeface="Calibri" pitchFamily="34" charset="-122"/>
                <a:cs typeface="Calibri" pitchFamily="34" charset="-120"/>
              </a:rPr>
              <a:t>Text</a:t>
            </a:r>
            <a:endParaRPr lang="en-US" sz="1350" dirty="0"/>
          </a:p>
        </p:txBody>
      </p:sp>
      <p:sp>
        <p:nvSpPr>
          <p:cNvPr id="22" name="Text 17"/>
          <p:cNvSpPr txBox="1"/>
          <p:nvPr/>
        </p:nvSpPr>
        <p:spPr>
          <a:xfrm>
            <a:off x="5577840" y="3557016"/>
            <a:ext cx="2926080" cy="292608"/>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Twilio</a:t>
            </a:r>
            <a:endParaRPr lang="en-US" sz="1100" dirty="0"/>
          </a:p>
        </p:txBody>
      </p:sp>
      <p:sp>
        <p:nvSpPr>
          <p:cNvPr id="23" name="Text 18"/>
          <p:cNvSpPr txBox="1"/>
          <p:nvPr/>
        </p:nvSpPr>
        <p:spPr>
          <a:xfrm>
            <a:off x="4800600" y="4114800"/>
            <a:ext cx="3886200" cy="594360"/>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Quiet hours hold routine messages. Email and texts never carry health details. An allowlist keeps the public demo from messaging strangers.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8"/>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34E4A"/>
                </a:solidFill>
                <a:latin typeface="Calibri" pitchFamily="34" charset="0"/>
                <a:ea typeface="Calibri" pitchFamily="34" charset="-122"/>
                <a:cs typeface="Calibri" pitchFamily="34" charset="-120"/>
              </a:rPr>
              <a:t>Safety and governance, by design</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The same guardrails apply whichever AI model is running</a:t>
            </a:r>
            <a:endParaRPr lang="en-US" sz="1300" dirty="0"/>
          </a:p>
        </p:txBody>
      </p:sp>
      <p:sp>
        <p:nvSpPr>
          <p:cNvPr id="4" name="Shape 2"/>
          <p:cNvSpPr/>
          <p:nvPr/>
        </p:nvSpPr>
        <p:spPr>
          <a:xfrm>
            <a:off x="457200" y="1325880"/>
            <a:ext cx="4023360" cy="960120"/>
          </a:xfrm>
          <a:prstGeom prst="roundRect">
            <a:avLst>
              <a:gd name="adj" fmla="val 11429"/>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5" name="Shape 3"/>
          <p:cNvSpPr/>
          <p:nvPr/>
        </p:nvSpPr>
        <p:spPr>
          <a:xfrm>
            <a:off x="621792" y="1545336"/>
            <a:ext cx="530352" cy="530352"/>
          </a:xfrm>
          <a:prstGeom prst="ellipse">
            <a:avLst/>
          </a:prstGeom>
          <a:solidFill>
            <a:srgbClr val="DC2626"/>
          </a:solidFill>
          <a:ln w="12700">
            <a:solidFill>
              <a:srgbClr val="DC2626"/>
            </a:solidFill>
            <a:prstDash val="solid"/>
          </a:ln>
        </p:spPr>
      </p:sp>
      <p:pic>
        <p:nvPicPr>
          <p:cNvPr id="6" name="Image 0" descr="preencoded.png">    </p:cNvPr>
          <p:cNvPicPr>
            <a:picLocks noChangeAspect="1"/>
          </p:cNvPicPr>
          <p:nvPr/>
        </p:nvPicPr>
        <p:blipFill>
          <a:blip r:embed="rId1"/>
          <a:stretch>
            <a:fillRect/>
          </a:stretch>
        </p:blipFill>
        <p:spPr>
          <a:xfrm>
            <a:off x="754380" y="1677924"/>
            <a:ext cx="265176" cy="265176"/>
          </a:xfrm>
          <a:prstGeom prst="rect">
            <a:avLst/>
          </a:prstGeom>
        </p:spPr>
      </p:pic>
      <p:sp>
        <p:nvSpPr>
          <p:cNvPr id="7" name="Text 4"/>
          <p:cNvSpPr txBox="1"/>
          <p:nvPr/>
        </p:nvSpPr>
        <p:spPr>
          <a:xfrm>
            <a:off x="1325880" y="1453896"/>
            <a:ext cx="3017520" cy="320040"/>
          </a:xfrm>
          <a:prstGeom prst="rect">
            <a:avLst/>
          </a:prstGeom>
          <a:noFill/>
          <a:ln/>
        </p:spPr>
        <p:txBody>
          <a:bodyPr wrap="square" lIns="0" tIns="0" rIns="0" bIns="0" rtlCol="0" anchor="t"/>
          <a:lstStyle/>
          <a:p>
            <a:pPr indent="0" marL="0">
              <a:buNone/>
            </a:pPr>
            <a:r>
              <a:rPr lang="en-US" sz="1350" b="1" dirty="0">
                <a:solidFill>
                  <a:srgbClr val="111827"/>
                </a:solidFill>
                <a:latin typeface="Calibri" pitchFamily="34" charset="0"/>
                <a:ea typeface="Calibri" pitchFamily="34" charset="-122"/>
                <a:cs typeface="Calibri" pitchFamily="34" charset="-120"/>
              </a:rPr>
              <a:t>Rules before AI</a:t>
            </a:r>
            <a:endParaRPr lang="en-US" sz="1350" dirty="0"/>
          </a:p>
        </p:txBody>
      </p:sp>
      <p:sp>
        <p:nvSpPr>
          <p:cNvPr id="8" name="Text 5"/>
          <p:cNvSpPr txBox="1"/>
          <p:nvPr/>
        </p:nvSpPr>
        <p:spPr>
          <a:xfrm>
            <a:off x="1325880" y="1783080"/>
            <a:ext cx="3017520" cy="457200"/>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Emergency and crisis screening runs first and can only raise urgency</a:t>
            </a:r>
            <a:endParaRPr lang="en-US" sz="1100" dirty="0"/>
          </a:p>
        </p:txBody>
      </p:sp>
      <p:sp>
        <p:nvSpPr>
          <p:cNvPr id="9" name="Shape 6"/>
          <p:cNvSpPr/>
          <p:nvPr/>
        </p:nvSpPr>
        <p:spPr>
          <a:xfrm>
            <a:off x="4663440" y="1325880"/>
            <a:ext cx="4023360" cy="960120"/>
          </a:xfrm>
          <a:prstGeom prst="roundRect">
            <a:avLst>
              <a:gd name="adj" fmla="val 11429"/>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0" name="Shape 7"/>
          <p:cNvSpPr/>
          <p:nvPr/>
        </p:nvSpPr>
        <p:spPr>
          <a:xfrm>
            <a:off x="4828032" y="1545336"/>
            <a:ext cx="530352" cy="530352"/>
          </a:xfrm>
          <a:prstGeom prst="ellipse">
            <a:avLst/>
          </a:prstGeom>
          <a:solidFill>
            <a:srgbClr val="1B6B63"/>
          </a:solidFill>
          <a:ln w="12700">
            <a:solidFill>
              <a:srgbClr val="1B6B63"/>
            </a:solidFill>
            <a:prstDash val="solid"/>
          </a:ln>
        </p:spPr>
      </p:sp>
      <p:pic>
        <p:nvPicPr>
          <p:cNvPr id="11" name="Image 1" descr="preencoded.png">    </p:cNvPr>
          <p:cNvPicPr>
            <a:picLocks noChangeAspect="1"/>
          </p:cNvPicPr>
          <p:nvPr/>
        </p:nvPicPr>
        <p:blipFill>
          <a:blip r:embed="rId2"/>
          <a:stretch>
            <a:fillRect/>
          </a:stretch>
        </p:blipFill>
        <p:spPr>
          <a:xfrm>
            <a:off x="4960620" y="1677924"/>
            <a:ext cx="265176" cy="265176"/>
          </a:xfrm>
          <a:prstGeom prst="rect">
            <a:avLst/>
          </a:prstGeom>
        </p:spPr>
      </p:pic>
      <p:sp>
        <p:nvSpPr>
          <p:cNvPr id="12" name="Text 8"/>
          <p:cNvSpPr txBox="1"/>
          <p:nvPr/>
        </p:nvSpPr>
        <p:spPr>
          <a:xfrm>
            <a:off x="5532120" y="1453896"/>
            <a:ext cx="3017520" cy="320040"/>
          </a:xfrm>
          <a:prstGeom prst="rect">
            <a:avLst/>
          </a:prstGeom>
          <a:noFill/>
          <a:ln/>
        </p:spPr>
        <p:txBody>
          <a:bodyPr wrap="square" lIns="0" tIns="0" rIns="0" bIns="0" rtlCol="0" anchor="t"/>
          <a:lstStyle/>
          <a:p>
            <a:pPr indent="0" marL="0">
              <a:buNone/>
            </a:pPr>
            <a:r>
              <a:rPr lang="en-US" sz="1350" b="1" dirty="0">
                <a:solidFill>
                  <a:srgbClr val="111827"/>
                </a:solidFill>
                <a:latin typeface="Calibri" pitchFamily="34" charset="0"/>
                <a:ea typeface="Calibri" pitchFamily="34" charset="-122"/>
                <a:cs typeface="Calibri" pitchFamily="34" charset="-120"/>
              </a:rPr>
              <a:t>Clinician review</a:t>
            </a:r>
            <a:endParaRPr lang="en-US" sz="1350" dirty="0"/>
          </a:p>
        </p:txBody>
      </p:sp>
      <p:sp>
        <p:nvSpPr>
          <p:cNvPr id="13" name="Text 9"/>
          <p:cNvSpPr txBox="1"/>
          <p:nvPr/>
        </p:nvSpPr>
        <p:spPr>
          <a:xfrm>
            <a:off x="5532120" y="1783080"/>
            <a:ext cx="3017520" cy="457200"/>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Clinical content for patients is approved before release</a:t>
            </a:r>
            <a:endParaRPr lang="en-US" sz="1100" dirty="0"/>
          </a:p>
        </p:txBody>
      </p:sp>
      <p:sp>
        <p:nvSpPr>
          <p:cNvPr id="14" name="Shape 10"/>
          <p:cNvSpPr/>
          <p:nvPr/>
        </p:nvSpPr>
        <p:spPr>
          <a:xfrm>
            <a:off x="457200" y="2423160"/>
            <a:ext cx="4023360" cy="960120"/>
          </a:xfrm>
          <a:prstGeom prst="roundRect">
            <a:avLst>
              <a:gd name="adj" fmla="val 11429"/>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5" name="Shape 11"/>
          <p:cNvSpPr/>
          <p:nvPr/>
        </p:nvSpPr>
        <p:spPr>
          <a:xfrm>
            <a:off x="621792" y="2642616"/>
            <a:ext cx="530352" cy="530352"/>
          </a:xfrm>
          <a:prstGeom prst="ellipse">
            <a:avLst/>
          </a:prstGeom>
          <a:solidFill>
            <a:srgbClr val="1B6B63"/>
          </a:solidFill>
          <a:ln w="12700">
            <a:solidFill>
              <a:srgbClr val="1B6B63"/>
            </a:solidFill>
            <a:prstDash val="solid"/>
          </a:ln>
        </p:spPr>
      </p:sp>
      <p:pic>
        <p:nvPicPr>
          <p:cNvPr id="16" name="Image 2" descr="preencoded.png">    </p:cNvPr>
          <p:cNvPicPr>
            <a:picLocks noChangeAspect="1"/>
          </p:cNvPicPr>
          <p:nvPr/>
        </p:nvPicPr>
        <p:blipFill>
          <a:blip r:embed="rId3"/>
          <a:stretch>
            <a:fillRect/>
          </a:stretch>
        </p:blipFill>
        <p:spPr>
          <a:xfrm>
            <a:off x="754380" y="2775204"/>
            <a:ext cx="265176" cy="265176"/>
          </a:xfrm>
          <a:prstGeom prst="rect">
            <a:avLst/>
          </a:prstGeom>
        </p:spPr>
      </p:pic>
      <p:sp>
        <p:nvSpPr>
          <p:cNvPr id="17" name="Text 12"/>
          <p:cNvSpPr txBox="1"/>
          <p:nvPr/>
        </p:nvSpPr>
        <p:spPr>
          <a:xfrm>
            <a:off x="1325880" y="2551176"/>
            <a:ext cx="3017520" cy="320040"/>
          </a:xfrm>
          <a:prstGeom prst="rect">
            <a:avLst/>
          </a:prstGeom>
          <a:noFill/>
          <a:ln/>
        </p:spPr>
        <p:txBody>
          <a:bodyPr wrap="square" lIns="0" tIns="0" rIns="0" bIns="0" rtlCol="0" anchor="t"/>
          <a:lstStyle/>
          <a:p>
            <a:pPr indent="0" marL="0">
              <a:buNone/>
            </a:pPr>
            <a:r>
              <a:rPr lang="en-US" sz="1350" b="1" dirty="0">
                <a:solidFill>
                  <a:srgbClr val="111827"/>
                </a:solidFill>
                <a:latin typeface="Calibri" pitchFamily="34" charset="0"/>
                <a:ea typeface="Calibri" pitchFamily="34" charset="-122"/>
                <a:cs typeface="Calibri" pitchFamily="34" charset="-120"/>
              </a:rPr>
              <a:t>Consent</a:t>
            </a:r>
            <a:endParaRPr lang="en-US" sz="1350" dirty="0"/>
          </a:p>
        </p:txBody>
      </p:sp>
      <p:sp>
        <p:nvSpPr>
          <p:cNvPr id="18" name="Text 13"/>
          <p:cNvSpPr txBox="1"/>
          <p:nvPr/>
        </p:nvSpPr>
        <p:spPr>
          <a:xfrm>
            <a:off x="1325880" y="2880360"/>
            <a:ext cx="3017520" cy="457200"/>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AI use, research contact and caregiver access follow patient consent</a:t>
            </a:r>
            <a:endParaRPr lang="en-US" sz="1100" dirty="0"/>
          </a:p>
        </p:txBody>
      </p:sp>
      <p:sp>
        <p:nvSpPr>
          <p:cNvPr id="19" name="Shape 14"/>
          <p:cNvSpPr/>
          <p:nvPr/>
        </p:nvSpPr>
        <p:spPr>
          <a:xfrm>
            <a:off x="4663440" y="2423160"/>
            <a:ext cx="4023360" cy="960120"/>
          </a:xfrm>
          <a:prstGeom prst="roundRect">
            <a:avLst>
              <a:gd name="adj" fmla="val 11429"/>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20" name="Shape 15"/>
          <p:cNvSpPr/>
          <p:nvPr/>
        </p:nvSpPr>
        <p:spPr>
          <a:xfrm>
            <a:off x="4828032" y="2642616"/>
            <a:ext cx="530352" cy="530352"/>
          </a:xfrm>
          <a:prstGeom prst="ellipse">
            <a:avLst/>
          </a:prstGeom>
          <a:solidFill>
            <a:srgbClr val="1B6B63"/>
          </a:solidFill>
          <a:ln w="12700">
            <a:solidFill>
              <a:srgbClr val="1B6B63"/>
            </a:solidFill>
            <a:prstDash val="solid"/>
          </a:ln>
        </p:spPr>
      </p:sp>
      <p:pic>
        <p:nvPicPr>
          <p:cNvPr id="21" name="Image 3" descr="preencoded.png">    </p:cNvPr>
          <p:cNvPicPr>
            <a:picLocks noChangeAspect="1"/>
          </p:cNvPicPr>
          <p:nvPr/>
        </p:nvPicPr>
        <p:blipFill>
          <a:blip r:embed="rId4"/>
          <a:stretch>
            <a:fillRect/>
          </a:stretch>
        </p:blipFill>
        <p:spPr>
          <a:xfrm>
            <a:off x="4960620" y="2775204"/>
            <a:ext cx="265176" cy="265176"/>
          </a:xfrm>
          <a:prstGeom prst="rect">
            <a:avLst/>
          </a:prstGeom>
        </p:spPr>
      </p:pic>
      <p:sp>
        <p:nvSpPr>
          <p:cNvPr id="22" name="Text 16"/>
          <p:cNvSpPr txBox="1"/>
          <p:nvPr/>
        </p:nvSpPr>
        <p:spPr>
          <a:xfrm>
            <a:off x="5532120" y="2551176"/>
            <a:ext cx="3017520" cy="320040"/>
          </a:xfrm>
          <a:prstGeom prst="rect">
            <a:avLst/>
          </a:prstGeom>
          <a:noFill/>
          <a:ln/>
        </p:spPr>
        <p:txBody>
          <a:bodyPr wrap="square" lIns="0" tIns="0" rIns="0" bIns="0" rtlCol="0" anchor="t"/>
          <a:lstStyle/>
          <a:p>
            <a:pPr indent="0" marL="0">
              <a:buNone/>
            </a:pPr>
            <a:r>
              <a:rPr lang="en-US" sz="1350" b="1" dirty="0">
                <a:solidFill>
                  <a:srgbClr val="111827"/>
                </a:solidFill>
                <a:latin typeface="Calibri" pitchFamily="34" charset="0"/>
                <a:ea typeface="Calibri" pitchFamily="34" charset="-122"/>
                <a:cs typeface="Calibri" pitchFamily="34" charset="-120"/>
              </a:rPr>
              <a:t>Tamper-evident audit</a:t>
            </a:r>
            <a:endParaRPr lang="en-US" sz="1350" dirty="0"/>
          </a:p>
        </p:txBody>
      </p:sp>
      <p:sp>
        <p:nvSpPr>
          <p:cNvPr id="23" name="Text 17"/>
          <p:cNvSpPr txBox="1"/>
          <p:nvPr/>
        </p:nvSpPr>
        <p:spPr>
          <a:xfrm>
            <a:off x="5532120" y="2880360"/>
            <a:ext cx="3017520" cy="457200"/>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Every read and write recorded in a hash-chained log</a:t>
            </a:r>
            <a:endParaRPr lang="en-US" sz="1100" dirty="0"/>
          </a:p>
        </p:txBody>
      </p:sp>
      <p:sp>
        <p:nvSpPr>
          <p:cNvPr id="24" name="Shape 18"/>
          <p:cNvSpPr/>
          <p:nvPr/>
        </p:nvSpPr>
        <p:spPr>
          <a:xfrm>
            <a:off x="457200" y="3520440"/>
            <a:ext cx="4023360" cy="960120"/>
          </a:xfrm>
          <a:prstGeom prst="roundRect">
            <a:avLst>
              <a:gd name="adj" fmla="val 11429"/>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25" name="Shape 19"/>
          <p:cNvSpPr/>
          <p:nvPr/>
        </p:nvSpPr>
        <p:spPr>
          <a:xfrm>
            <a:off x="621792" y="3739896"/>
            <a:ext cx="530352" cy="530352"/>
          </a:xfrm>
          <a:prstGeom prst="ellipse">
            <a:avLst/>
          </a:prstGeom>
          <a:solidFill>
            <a:srgbClr val="1B6B63"/>
          </a:solidFill>
          <a:ln w="12700">
            <a:solidFill>
              <a:srgbClr val="1B6B63"/>
            </a:solidFill>
            <a:prstDash val="solid"/>
          </a:ln>
        </p:spPr>
      </p:sp>
      <p:pic>
        <p:nvPicPr>
          <p:cNvPr id="26" name="Image 4" descr="preencoded.png">    </p:cNvPr>
          <p:cNvPicPr>
            <a:picLocks noChangeAspect="1"/>
          </p:cNvPicPr>
          <p:nvPr/>
        </p:nvPicPr>
        <p:blipFill>
          <a:blip r:embed="rId5"/>
          <a:stretch>
            <a:fillRect/>
          </a:stretch>
        </p:blipFill>
        <p:spPr>
          <a:xfrm>
            <a:off x="754380" y="3872484"/>
            <a:ext cx="265176" cy="265176"/>
          </a:xfrm>
          <a:prstGeom prst="rect">
            <a:avLst/>
          </a:prstGeom>
        </p:spPr>
      </p:pic>
      <p:sp>
        <p:nvSpPr>
          <p:cNvPr id="27" name="Text 20"/>
          <p:cNvSpPr txBox="1"/>
          <p:nvPr/>
        </p:nvSpPr>
        <p:spPr>
          <a:xfrm>
            <a:off x="1325880" y="3648456"/>
            <a:ext cx="3017520" cy="320040"/>
          </a:xfrm>
          <a:prstGeom prst="rect">
            <a:avLst/>
          </a:prstGeom>
          <a:noFill/>
          <a:ln/>
        </p:spPr>
        <p:txBody>
          <a:bodyPr wrap="square" lIns="0" tIns="0" rIns="0" bIns="0" rtlCol="0" anchor="t"/>
          <a:lstStyle/>
          <a:p>
            <a:pPr indent="0" marL="0">
              <a:buNone/>
            </a:pPr>
            <a:r>
              <a:rPr lang="en-US" sz="1350" b="1" dirty="0">
                <a:solidFill>
                  <a:srgbClr val="111827"/>
                </a:solidFill>
                <a:latin typeface="Calibri" pitchFamily="34" charset="0"/>
                <a:ea typeface="Calibri" pitchFamily="34" charset="-122"/>
                <a:cs typeface="Calibri" pitchFamily="34" charset="-120"/>
              </a:rPr>
              <a:t>AI registry</a:t>
            </a:r>
            <a:endParaRPr lang="en-US" sz="1350" dirty="0"/>
          </a:p>
        </p:txBody>
      </p:sp>
      <p:sp>
        <p:nvSpPr>
          <p:cNvPr id="28" name="Text 21"/>
          <p:cNvSpPr txBox="1"/>
          <p:nvPr/>
        </p:nvSpPr>
        <p:spPr>
          <a:xfrm>
            <a:off x="1325880" y="3977640"/>
            <a:ext cx="3017520" cy="457200"/>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Every agent listed with its model, prompt version and evaluations</a:t>
            </a:r>
            <a:endParaRPr lang="en-US" sz="1100" dirty="0"/>
          </a:p>
        </p:txBody>
      </p:sp>
      <p:sp>
        <p:nvSpPr>
          <p:cNvPr id="29" name="Shape 22"/>
          <p:cNvSpPr/>
          <p:nvPr/>
        </p:nvSpPr>
        <p:spPr>
          <a:xfrm>
            <a:off x="4663440" y="3520440"/>
            <a:ext cx="4023360" cy="960120"/>
          </a:xfrm>
          <a:prstGeom prst="roundRect">
            <a:avLst>
              <a:gd name="adj" fmla="val 11429"/>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30" name="Shape 23"/>
          <p:cNvSpPr/>
          <p:nvPr/>
        </p:nvSpPr>
        <p:spPr>
          <a:xfrm>
            <a:off x="4828032" y="3739896"/>
            <a:ext cx="530352" cy="530352"/>
          </a:xfrm>
          <a:prstGeom prst="ellipse">
            <a:avLst/>
          </a:prstGeom>
          <a:solidFill>
            <a:srgbClr val="1B6B63"/>
          </a:solidFill>
          <a:ln w="12700">
            <a:solidFill>
              <a:srgbClr val="1B6B63"/>
            </a:solidFill>
            <a:prstDash val="solid"/>
          </a:ln>
        </p:spPr>
      </p:sp>
      <p:pic>
        <p:nvPicPr>
          <p:cNvPr id="31" name="Image 5" descr="preencoded.png">    </p:cNvPr>
          <p:cNvPicPr>
            <a:picLocks noChangeAspect="1"/>
          </p:cNvPicPr>
          <p:nvPr/>
        </p:nvPicPr>
        <p:blipFill>
          <a:blip r:embed="rId6"/>
          <a:stretch>
            <a:fillRect/>
          </a:stretch>
        </p:blipFill>
        <p:spPr>
          <a:xfrm>
            <a:off x="4960620" y="3872484"/>
            <a:ext cx="265176" cy="265176"/>
          </a:xfrm>
          <a:prstGeom prst="rect">
            <a:avLst/>
          </a:prstGeom>
        </p:spPr>
      </p:pic>
      <p:sp>
        <p:nvSpPr>
          <p:cNvPr id="32" name="Text 24"/>
          <p:cNvSpPr txBox="1"/>
          <p:nvPr/>
        </p:nvSpPr>
        <p:spPr>
          <a:xfrm>
            <a:off x="5532120" y="3648456"/>
            <a:ext cx="3017520" cy="320040"/>
          </a:xfrm>
          <a:prstGeom prst="rect">
            <a:avLst/>
          </a:prstGeom>
          <a:noFill/>
          <a:ln/>
        </p:spPr>
        <p:txBody>
          <a:bodyPr wrap="square" lIns="0" tIns="0" rIns="0" bIns="0" rtlCol="0" anchor="t"/>
          <a:lstStyle/>
          <a:p>
            <a:pPr indent="0" marL="0">
              <a:buNone/>
            </a:pPr>
            <a:r>
              <a:rPr lang="en-US" sz="1350" b="1" dirty="0">
                <a:solidFill>
                  <a:srgbClr val="111827"/>
                </a:solidFill>
                <a:latin typeface="Calibri" pitchFamily="34" charset="0"/>
                <a:ea typeface="Calibri" pitchFamily="34" charset="-122"/>
                <a:cs typeface="Calibri" pitchFamily="34" charset="-120"/>
              </a:rPr>
              <a:t>Least access</a:t>
            </a:r>
            <a:endParaRPr lang="en-US" sz="1350" dirty="0"/>
          </a:p>
        </p:txBody>
      </p:sp>
      <p:sp>
        <p:nvSpPr>
          <p:cNvPr id="33" name="Text 25"/>
          <p:cNvSpPr txBox="1"/>
          <p:nvPr/>
        </p:nvSpPr>
        <p:spPr>
          <a:xfrm>
            <a:off x="5532120" y="3977640"/>
            <a:ext cx="3017520" cy="457200"/>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Roles and teams; students never see identifiable records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34E4A"/>
                </a:solidFill>
                <a:latin typeface="Calibri" pitchFamily="34" charset="0"/>
                <a:ea typeface="Calibri" pitchFamily="34" charset="-122"/>
                <a:cs typeface="Calibri" pitchFamily="34" charset="-120"/>
              </a:rPr>
              <a:t>Who does what</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Each role lands on its own home screen</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645920"/>
                <a:gridCol w="1645920"/>
                <a:gridCol w="4937760"/>
              </a:tblGrid>
              <a:tr h="39319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Role</a:t>
                      </a:r>
                      <a:endParaRPr lang="en-US" sz="1200" dirty="0">
                        <a:latin typeface="Calibri" charset="0"/>
                        <a:ea typeface="Calibri" charset="0"/>
                        <a:cs typeface="Calibri" charset="0"/>
                      </a:endParaRPr>
                    </a:p>
                  </a:txBody>
                  <a:tcPr marL="101600" marR="1016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6B6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Home</a:t>
                      </a:r>
                      <a:endParaRPr lang="en-US" sz="1200" dirty="0">
                        <a:latin typeface="Calibri" charset="0"/>
                        <a:ea typeface="Calibri" charset="0"/>
                        <a:cs typeface="Calibri" charset="0"/>
                      </a:endParaRPr>
                    </a:p>
                  </a:txBody>
                  <a:tcPr marL="101600" marR="1016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6B6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Key flows</a:t>
                      </a:r>
                      <a:endParaRPr lang="en-US" sz="1200" dirty="0">
                        <a:latin typeface="Calibri" charset="0"/>
                        <a:ea typeface="Calibri" charset="0"/>
                        <a:cs typeface="Calibri" charset="0"/>
                      </a:endParaRPr>
                    </a:p>
                  </a:txBody>
                  <a:tcPr marL="101600" marR="1016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6B63"/>
                    </a:solidFill>
                  </a:tcPr>
                </a:tc>
              </a:tr>
              <a:tr h="393192">
                <a:tc>
                  <a:txBody>
                    <a:bodyPr/>
                    <a:lstStyle/>
                    <a:p>
                      <a:pPr indent="0" marL="0">
                        <a:buNone/>
                      </a:pPr>
                      <a:r>
                        <a:rPr lang="en-US" sz="1150" b="1" dirty="0">
                          <a:solidFill>
                            <a:srgbClr val="134E4A"/>
                          </a:solidFill>
                          <a:latin typeface="Calibri" pitchFamily="34" charset="0"/>
                          <a:ea typeface="Calibri" pitchFamily="34" charset="-122"/>
                          <a:cs typeface="Calibri" pitchFamily="34" charset="-120"/>
                        </a:rPr>
                        <a:t>Patient</a:t>
                      </a:r>
                      <a:endParaRPr lang="en-US" sz="1150" dirty="0">
                        <a:latin typeface="Calibri" charset="0"/>
                        <a:ea typeface="Calibri" charset="0"/>
                        <a:cs typeface="Calibri" charset="0"/>
                      </a:endParaRPr>
                    </a:p>
                  </a:txBody>
                  <a:tcPr marL="101600" marR="1016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111827"/>
                          </a:solidFill>
                          <a:latin typeface="Calibri" pitchFamily="34" charset="0"/>
                          <a:ea typeface="Calibri" pitchFamily="34" charset="-122"/>
                          <a:cs typeface="Calibri" pitchFamily="34" charset="-120"/>
                        </a:rPr>
                        <a:t>Ask Bioverse</a:t>
                      </a:r>
                      <a:endParaRPr lang="en-US" sz="1150" dirty="0">
                        <a:latin typeface="Calibri" charset="0"/>
                        <a:ea typeface="Calibri" charset="0"/>
                        <a:cs typeface="Calibri" charset="0"/>
                      </a:endParaRPr>
                    </a:p>
                  </a:txBody>
                  <a:tcPr marL="101600" marR="1016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111827"/>
                          </a:solidFill>
                          <a:latin typeface="Calibri" pitchFamily="34" charset="0"/>
                          <a:ea typeface="Calibri" pitchFamily="34" charset="-122"/>
                          <a:cs typeface="Calibri" pitchFamily="34" charset="-120"/>
                        </a:rPr>
                        <a:t>Ask, book, consults, vitals, medicines, insurance card, wellbeing</a:t>
                      </a:r>
                      <a:endParaRPr lang="en-US" sz="1150" dirty="0">
                        <a:latin typeface="Calibri" charset="0"/>
                        <a:ea typeface="Calibri" charset="0"/>
                        <a:cs typeface="Calibri" charset="0"/>
                      </a:endParaRPr>
                    </a:p>
                  </a:txBody>
                  <a:tcPr marL="101600" marR="1016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393192">
                <a:tc>
                  <a:txBody>
                    <a:bodyPr/>
                    <a:lstStyle/>
                    <a:p>
                      <a:pPr indent="0" marL="0">
                        <a:buNone/>
                      </a:pPr>
                      <a:r>
                        <a:rPr lang="en-US" sz="1150" b="1" dirty="0">
                          <a:solidFill>
                            <a:srgbClr val="134E4A"/>
                          </a:solidFill>
                          <a:latin typeface="Calibri" pitchFamily="34" charset="0"/>
                          <a:ea typeface="Calibri" pitchFamily="34" charset="-122"/>
                          <a:cs typeface="Calibri" pitchFamily="34" charset="-120"/>
                        </a:rPr>
                        <a:t>Caregiver</a:t>
                      </a:r>
                      <a:endParaRPr lang="en-US" sz="1150" dirty="0">
                        <a:latin typeface="Calibri" charset="0"/>
                        <a:ea typeface="Calibri" charset="0"/>
                        <a:cs typeface="Calibri" charset="0"/>
                      </a:endParaRPr>
                    </a:p>
                  </a:txBody>
                  <a:tcPr marL="101600" marR="1016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4F1"/>
                    </a:solidFill>
                  </a:tcPr>
                </a:tc>
                <a:tc>
                  <a:txBody>
                    <a:bodyPr/>
                    <a:lstStyle/>
                    <a:p>
                      <a:pPr indent="0" marL="0">
                        <a:buNone/>
                      </a:pPr>
                      <a:r>
                        <a:rPr lang="en-US" sz="1150" dirty="0">
                          <a:solidFill>
                            <a:srgbClr val="111827"/>
                          </a:solidFill>
                          <a:latin typeface="Calibri" pitchFamily="34" charset="0"/>
                          <a:ea typeface="Calibri" pitchFamily="34" charset="-122"/>
                          <a:cs typeface="Calibri" pitchFamily="34" charset="-120"/>
                        </a:rPr>
                        <a:t>Ask Bioverse</a:t>
                      </a:r>
                      <a:endParaRPr lang="en-US" sz="1150" dirty="0">
                        <a:latin typeface="Calibri" charset="0"/>
                        <a:ea typeface="Calibri" charset="0"/>
                        <a:cs typeface="Calibri" charset="0"/>
                      </a:endParaRPr>
                    </a:p>
                  </a:txBody>
                  <a:tcPr marL="101600" marR="1016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4F1"/>
                    </a:solidFill>
                  </a:tcPr>
                </a:tc>
                <a:tc>
                  <a:txBody>
                    <a:bodyPr/>
                    <a:lstStyle/>
                    <a:p>
                      <a:pPr indent="0" marL="0">
                        <a:buNone/>
                      </a:pPr>
                      <a:r>
                        <a:rPr lang="en-US" sz="1150" dirty="0">
                          <a:solidFill>
                            <a:srgbClr val="111827"/>
                          </a:solidFill>
                          <a:latin typeface="Calibri" pitchFamily="34" charset="0"/>
                          <a:ea typeface="Calibri" pitchFamily="34" charset="-122"/>
                          <a:cs typeface="Calibri" pitchFamily="34" charset="-120"/>
                        </a:rPr>
                        <a:t>Everything a patient has, for people who granted access</a:t>
                      </a:r>
                      <a:endParaRPr lang="en-US" sz="1150" dirty="0">
                        <a:latin typeface="Calibri" charset="0"/>
                        <a:ea typeface="Calibri" charset="0"/>
                        <a:cs typeface="Calibri" charset="0"/>
                      </a:endParaRPr>
                    </a:p>
                  </a:txBody>
                  <a:tcPr marL="101600" marR="1016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4F1"/>
                    </a:solidFill>
                  </a:tcPr>
                </a:tc>
              </a:tr>
              <a:tr h="393192">
                <a:tc>
                  <a:txBody>
                    <a:bodyPr/>
                    <a:lstStyle/>
                    <a:p>
                      <a:pPr indent="0" marL="0">
                        <a:buNone/>
                      </a:pPr>
                      <a:r>
                        <a:rPr lang="en-US" sz="1150" b="1" dirty="0">
                          <a:solidFill>
                            <a:srgbClr val="134E4A"/>
                          </a:solidFill>
                          <a:latin typeface="Calibri" pitchFamily="34" charset="0"/>
                          <a:ea typeface="Calibri" pitchFamily="34" charset="-122"/>
                          <a:cs typeface="Calibri" pitchFamily="34" charset="-120"/>
                        </a:rPr>
                        <a:t>Clinician</a:t>
                      </a:r>
                      <a:endParaRPr lang="en-US" sz="1150" dirty="0">
                        <a:latin typeface="Calibri" charset="0"/>
                        <a:ea typeface="Calibri" charset="0"/>
                        <a:cs typeface="Calibri" charset="0"/>
                      </a:endParaRPr>
                    </a:p>
                  </a:txBody>
                  <a:tcPr marL="101600" marR="1016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111827"/>
                          </a:solidFill>
                          <a:latin typeface="Calibri" pitchFamily="34" charset="0"/>
                          <a:ea typeface="Calibri" pitchFamily="34" charset="-122"/>
                          <a:cs typeface="Calibri" pitchFamily="34" charset="-120"/>
                        </a:rPr>
                        <a:t>Workspace</a:t>
                      </a:r>
                      <a:endParaRPr lang="en-US" sz="1150" dirty="0">
                        <a:latin typeface="Calibri" charset="0"/>
                        <a:ea typeface="Calibri" charset="0"/>
                        <a:cs typeface="Calibri" charset="0"/>
                      </a:endParaRPr>
                    </a:p>
                  </a:txBody>
                  <a:tcPr marL="101600" marR="1016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111827"/>
                          </a:solidFill>
                          <a:latin typeface="Calibri" pitchFamily="34" charset="0"/>
                          <a:ea typeface="Calibri" pitchFamily="34" charset="-122"/>
                          <a:cs typeface="Calibri" pitchFamily="34" charset="-120"/>
                        </a:rPr>
                        <a:t>Brief, review queue, consults, approvals, monitoring plans</a:t>
                      </a:r>
                      <a:endParaRPr lang="en-US" sz="1150" dirty="0">
                        <a:latin typeface="Calibri" charset="0"/>
                        <a:ea typeface="Calibri" charset="0"/>
                        <a:cs typeface="Calibri" charset="0"/>
                      </a:endParaRPr>
                    </a:p>
                  </a:txBody>
                  <a:tcPr marL="101600" marR="1016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393192">
                <a:tc>
                  <a:txBody>
                    <a:bodyPr/>
                    <a:lstStyle/>
                    <a:p>
                      <a:pPr indent="0" marL="0">
                        <a:buNone/>
                      </a:pPr>
                      <a:r>
                        <a:rPr lang="en-US" sz="1150" b="1" dirty="0">
                          <a:solidFill>
                            <a:srgbClr val="134E4A"/>
                          </a:solidFill>
                          <a:latin typeface="Calibri" pitchFamily="34" charset="0"/>
                          <a:ea typeface="Calibri" pitchFamily="34" charset="-122"/>
                          <a:cs typeface="Calibri" pitchFamily="34" charset="-120"/>
                        </a:rPr>
                        <a:t>Front desk</a:t>
                      </a:r>
                      <a:endParaRPr lang="en-US" sz="1150" dirty="0">
                        <a:latin typeface="Calibri" charset="0"/>
                        <a:ea typeface="Calibri" charset="0"/>
                        <a:cs typeface="Calibri" charset="0"/>
                      </a:endParaRPr>
                    </a:p>
                  </a:txBody>
                  <a:tcPr marL="101600" marR="1016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4F1"/>
                    </a:solidFill>
                  </a:tcPr>
                </a:tc>
                <a:tc>
                  <a:txBody>
                    <a:bodyPr/>
                    <a:lstStyle/>
                    <a:p>
                      <a:pPr indent="0" marL="0">
                        <a:buNone/>
                      </a:pPr>
                      <a:r>
                        <a:rPr lang="en-US" sz="1150" dirty="0">
                          <a:solidFill>
                            <a:srgbClr val="111827"/>
                          </a:solidFill>
                          <a:latin typeface="Calibri" pitchFamily="34" charset="0"/>
                          <a:ea typeface="Calibri" pitchFamily="34" charset="-122"/>
                          <a:cs typeface="Calibri" pitchFamily="34" charset="-120"/>
                        </a:rPr>
                        <a:t>Inbox</a:t>
                      </a:r>
                      <a:endParaRPr lang="en-US" sz="1150" dirty="0">
                        <a:latin typeface="Calibri" charset="0"/>
                        <a:ea typeface="Calibri" charset="0"/>
                        <a:cs typeface="Calibri" charset="0"/>
                      </a:endParaRPr>
                    </a:p>
                  </a:txBody>
                  <a:tcPr marL="101600" marR="1016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4F1"/>
                    </a:solidFill>
                  </a:tcPr>
                </a:tc>
                <a:tc>
                  <a:txBody>
                    <a:bodyPr/>
                    <a:lstStyle/>
                    <a:p>
                      <a:pPr indent="0" marL="0">
                        <a:buNone/>
                      </a:pPr>
                      <a:r>
                        <a:rPr lang="en-US" sz="1150" dirty="0">
                          <a:solidFill>
                            <a:srgbClr val="111827"/>
                          </a:solidFill>
                          <a:latin typeface="Calibri" pitchFamily="34" charset="0"/>
                          <a:ea typeface="Calibri" pitchFamily="34" charset="-122"/>
                          <a:cs typeface="Calibri" pitchFamily="34" charset="-120"/>
                        </a:rPr>
                        <a:t>Scheduling messages, clinic queue, eligibility, card check, claims</a:t>
                      </a:r>
                      <a:endParaRPr lang="en-US" sz="1150" dirty="0">
                        <a:latin typeface="Calibri" charset="0"/>
                        <a:ea typeface="Calibri" charset="0"/>
                        <a:cs typeface="Calibri" charset="0"/>
                      </a:endParaRPr>
                    </a:p>
                  </a:txBody>
                  <a:tcPr marL="101600" marR="1016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4F1"/>
                    </a:solidFill>
                  </a:tcPr>
                </a:tc>
              </a:tr>
              <a:tr h="393192">
                <a:tc>
                  <a:txBody>
                    <a:bodyPr/>
                    <a:lstStyle/>
                    <a:p>
                      <a:pPr indent="0" marL="0">
                        <a:buNone/>
                      </a:pPr>
                      <a:r>
                        <a:rPr lang="en-US" sz="1150" b="1" dirty="0">
                          <a:solidFill>
                            <a:srgbClr val="134E4A"/>
                          </a:solidFill>
                          <a:latin typeface="Calibri" pitchFamily="34" charset="0"/>
                          <a:ea typeface="Calibri" pitchFamily="34" charset="-122"/>
                          <a:cs typeface="Calibri" pitchFamily="34" charset="-120"/>
                        </a:rPr>
                        <a:t>Pharmacist</a:t>
                      </a:r>
                      <a:endParaRPr lang="en-US" sz="1150" dirty="0">
                        <a:latin typeface="Calibri" charset="0"/>
                        <a:ea typeface="Calibri" charset="0"/>
                        <a:cs typeface="Calibri" charset="0"/>
                      </a:endParaRPr>
                    </a:p>
                  </a:txBody>
                  <a:tcPr marL="101600" marR="1016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111827"/>
                          </a:solidFill>
                          <a:latin typeface="Calibri" pitchFamily="34" charset="0"/>
                          <a:ea typeface="Calibri" pitchFamily="34" charset="-122"/>
                          <a:cs typeface="Calibri" pitchFamily="34" charset="-120"/>
                        </a:rPr>
                        <a:t>Pharmacy orders</a:t>
                      </a:r>
                      <a:endParaRPr lang="en-US" sz="1150" dirty="0">
                        <a:latin typeface="Calibri" charset="0"/>
                        <a:ea typeface="Calibri" charset="0"/>
                        <a:cs typeface="Calibri" charset="0"/>
                      </a:endParaRPr>
                    </a:p>
                  </a:txBody>
                  <a:tcPr marL="101600" marR="1016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111827"/>
                          </a:solidFill>
                          <a:latin typeface="Calibri" pitchFamily="34" charset="0"/>
                          <a:ea typeface="Calibri" pitchFamily="34" charset="-122"/>
                          <a:cs typeface="Calibri" pitchFamily="34" charset="-120"/>
                        </a:rPr>
                        <a:t>Verify, pack, dispatch, deliver</a:t>
                      </a:r>
                      <a:endParaRPr lang="en-US" sz="1150" dirty="0">
                        <a:latin typeface="Calibri" charset="0"/>
                        <a:ea typeface="Calibri" charset="0"/>
                        <a:cs typeface="Calibri" charset="0"/>
                      </a:endParaRPr>
                    </a:p>
                  </a:txBody>
                  <a:tcPr marL="101600" marR="1016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393192">
                <a:tc>
                  <a:txBody>
                    <a:bodyPr/>
                    <a:lstStyle/>
                    <a:p>
                      <a:pPr indent="0" marL="0">
                        <a:buNone/>
                      </a:pPr>
                      <a:r>
                        <a:rPr lang="en-US" sz="1150" b="1" dirty="0">
                          <a:solidFill>
                            <a:srgbClr val="134E4A"/>
                          </a:solidFill>
                          <a:latin typeface="Calibri" pitchFamily="34" charset="0"/>
                          <a:ea typeface="Calibri" pitchFamily="34" charset="-122"/>
                          <a:cs typeface="Calibri" pitchFamily="34" charset="-120"/>
                        </a:rPr>
                        <a:t>Administrator</a:t>
                      </a:r>
                      <a:endParaRPr lang="en-US" sz="1150" dirty="0">
                        <a:latin typeface="Calibri" charset="0"/>
                        <a:ea typeface="Calibri" charset="0"/>
                        <a:cs typeface="Calibri" charset="0"/>
                      </a:endParaRPr>
                    </a:p>
                  </a:txBody>
                  <a:tcPr marL="101600" marR="1016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4F1"/>
                    </a:solidFill>
                  </a:tcPr>
                </a:tc>
                <a:tc>
                  <a:txBody>
                    <a:bodyPr/>
                    <a:lstStyle/>
                    <a:p>
                      <a:pPr indent="0" marL="0">
                        <a:buNone/>
                      </a:pPr>
                      <a:r>
                        <a:rPr lang="en-US" sz="1150" dirty="0">
                          <a:solidFill>
                            <a:srgbClr val="111827"/>
                          </a:solidFill>
                          <a:latin typeface="Calibri" pitchFamily="34" charset="0"/>
                          <a:ea typeface="Calibri" pitchFamily="34" charset="-122"/>
                          <a:cs typeface="Calibri" pitchFamily="34" charset="-120"/>
                        </a:rPr>
                        <a:t>Operations</a:t>
                      </a:r>
                      <a:endParaRPr lang="en-US" sz="1150" dirty="0">
                        <a:latin typeface="Calibri" charset="0"/>
                        <a:ea typeface="Calibri" charset="0"/>
                        <a:cs typeface="Calibri" charset="0"/>
                      </a:endParaRPr>
                    </a:p>
                  </a:txBody>
                  <a:tcPr marL="101600" marR="1016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4F1"/>
                    </a:solidFill>
                  </a:tcPr>
                </a:tc>
                <a:tc>
                  <a:txBody>
                    <a:bodyPr/>
                    <a:lstStyle/>
                    <a:p>
                      <a:pPr indent="0" marL="0">
                        <a:buNone/>
                      </a:pPr>
                      <a:r>
                        <a:rPr lang="en-US" sz="1150" dirty="0">
                          <a:solidFill>
                            <a:srgbClr val="111827"/>
                          </a:solidFill>
                          <a:latin typeface="Calibri" pitchFamily="34" charset="0"/>
                          <a:ea typeface="Calibri" pitchFamily="34" charset="-122"/>
                          <a:cs typeface="Calibri" pitchFamily="34" charset="-120"/>
                        </a:rPr>
                        <a:t>People &amp; sign-in, credentialing, payers, jobs, AI governance</a:t>
                      </a:r>
                      <a:endParaRPr lang="en-US" sz="1150" dirty="0">
                        <a:latin typeface="Calibri" charset="0"/>
                        <a:ea typeface="Calibri" charset="0"/>
                        <a:cs typeface="Calibri" charset="0"/>
                      </a:endParaRPr>
                    </a:p>
                  </a:txBody>
                  <a:tcPr marL="101600" marR="1016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4F1"/>
                    </a:solidFill>
                  </a:tcPr>
                </a:tc>
              </a:tr>
              <a:tr h="393192">
                <a:tc>
                  <a:txBody>
                    <a:bodyPr/>
                    <a:lstStyle/>
                    <a:p>
                      <a:pPr indent="0" marL="0">
                        <a:buNone/>
                      </a:pPr>
                      <a:r>
                        <a:rPr lang="en-US" sz="1150" b="1" dirty="0">
                          <a:solidFill>
                            <a:srgbClr val="134E4A"/>
                          </a:solidFill>
                          <a:latin typeface="Calibri" pitchFamily="34" charset="0"/>
                          <a:ea typeface="Calibri" pitchFamily="34" charset="-122"/>
                          <a:cs typeface="Calibri" pitchFamily="34" charset="-120"/>
                        </a:rPr>
                        <a:t>Medical student</a:t>
                      </a:r>
                      <a:endParaRPr lang="en-US" sz="1150" dirty="0">
                        <a:latin typeface="Calibri" charset="0"/>
                        <a:ea typeface="Calibri" charset="0"/>
                        <a:cs typeface="Calibri" charset="0"/>
                      </a:endParaRPr>
                    </a:p>
                  </a:txBody>
                  <a:tcPr marL="101600" marR="1016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111827"/>
                          </a:solidFill>
                          <a:latin typeface="Calibri" pitchFamily="34" charset="0"/>
                          <a:ea typeface="Calibri" pitchFamily="34" charset="-122"/>
                          <a:cs typeface="Calibri" pitchFamily="34" charset="-120"/>
                        </a:rPr>
                        <a:t>Case library</a:t>
                      </a:r>
                      <a:endParaRPr lang="en-US" sz="1150" dirty="0">
                        <a:latin typeface="Calibri" charset="0"/>
                        <a:ea typeface="Calibri" charset="0"/>
                        <a:cs typeface="Calibri" charset="0"/>
                      </a:endParaRPr>
                    </a:p>
                  </a:txBody>
                  <a:tcPr marL="101600" marR="1016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111827"/>
                          </a:solidFill>
                          <a:latin typeface="Calibri" pitchFamily="34" charset="0"/>
                          <a:ea typeface="Calibri" pitchFamily="34" charset="-122"/>
                          <a:cs typeface="Calibri" pitchFamily="34" charset="-120"/>
                        </a:rPr>
                        <a:t>De-identified cases, tutor, quizzes</a:t>
                      </a:r>
                      <a:endParaRPr lang="en-US" sz="1150" dirty="0">
                        <a:latin typeface="Calibri" charset="0"/>
                        <a:ea typeface="Calibri" charset="0"/>
                        <a:cs typeface="Calibri" charset="0"/>
                      </a:endParaRPr>
                    </a:p>
                  </a:txBody>
                  <a:tcPr marL="101600" marR="1016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8"/>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34E4A"/>
                </a:solidFill>
                <a:latin typeface="Calibri" pitchFamily="34" charset="0"/>
                <a:ea typeface="Calibri" pitchFamily="34" charset="-122"/>
                <a:cs typeface="Calibri" pitchFamily="34" charset="-120"/>
              </a:rPr>
              <a:t>Running it on Google Cloud</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Project bioverseone-509616 · us-central1 · all from Cloud Shell</a:t>
            </a:r>
            <a:endParaRPr lang="en-US" sz="1300" dirty="0"/>
          </a:p>
        </p:txBody>
      </p:sp>
      <p:sp>
        <p:nvSpPr>
          <p:cNvPr id="4" name="Shape 2"/>
          <p:cNvSpPr/>
          <p:nvPr/>
        </p:nvSpPr>
        <p:spPr>
          <a:xfrm>
            <a:off x="457200" y="1417320"/>
            <a:ext cx="1426464" cy="2331720"/>
          </a:xfrm>
          <a:prstGeom prst="roundRect">
            <a:avLst>
              <a:gd name="adj" fmla="val 7692"/>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5" name="Shape 3"/>
          <p:cNvSpPr/>
          <p:nvPr/>
        </p:nvSpPr>
        <p:spPr>
          <a:xfrm>
            <a:off x="585216" y="1563624"/>
            <a:ext cx="457200" cy="457200"/>
          </a:xfrm>
          <a:prstGeom prst="ellipse">
            <a:avLst/>
          </a:prstGeom>
          <a:solidFill>
            <a:srgbClr val="1B6B63"/>
          </a:solidFill>
          <a:ln w="12700">
            <a:solidFill>
              <a:srgbClr val="1B6B63"/>
            </a:solidFill>
            <a:prstDash val="solid"/>
          </a:ln>
        </p:spPr>
      </p:sp>
      <p:pic>
        <p:nvPicPr>
          <p:cNvPr id="6" name="Image 0" descr="preencoded.png">    </p:cNvPr>
          <p:cNvPicPr>
            <a:picLocks noChangeAspect="1"/>
          </p:cNvPicPr>
          <p:nvPr/>
        </p:nvPicPr>
        <p:blipFill>
          <a:blip r:embed="rId1"/>
          <a:stretch>
            <a:fillRect/>
          </a:stretch>
        </p:blipFill>
        <p:spPr>
          <a:xfrm>
            <a:off x="699516" y="1677924"/>
            <a:ext cx="228600" cy="228600"/>
          </a:xfrm>
          <a:prstGeom prst="rect">
            <a:avLst/>
          </a:prstGeom>
        </p:spPr>
      </p:pic>
      <p:sp>
        <p:nvSpPr>
          <p:cNvPr id="7" name="Text 4"/>
          <p:cNvSpPr txBox="1"/>
          <p:nvPr/>
        </p:nvSpPr>
        <p:spPr>
          <a:xfrm>
            <a:off x="1499616" y="1563624"/>
            <a:ext cx="274320" cy="274320"/>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1</a:t>
            </a:r>
            <a:endParaRPr lang="en-US" sz="1200" dirty="0"/>
          </a:p>
        </p:txBody>
      </p:sp>
      <p:sp>
        <p:nvSpPr>
          <p:cNvPr id="8" name="Text 5"/>
          <p:cNvSpPr txBox="1"/>
          <p:nvPr/>
        </p:nvSpPr>
        <p:spPr>
          <a:xfrm>
            <a:off x="585216" y="2112264"/>
            <a:ext cx="1243584" cy="45720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Set up</a:t>
            </a:r>
            <a:endParaRPr lang="en-US" sz="1300" dirty="0"/>
          </a:p>
        </p:txBody>
      </p:sp>
      <p:sp>
        <p:nvSpPr>
          <p:cNvPr id="9" name="Text 6"/>
          <p:cNvSpPr txBox="1"/>
          <p:nvPr/>
        </p:nvSpPr>
        <p:spPr>
          <a:xfrm>
            <a:off x="585216" y="2551176"/>
            <a:ext cx="1207008" cy="1106424"/>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setup.sh, once: Cloud SQL, secrets, accounts, scheduler</a:t>
            </a:r>
            <a:endParaRPr lang="en-US" sz="1050" dirty="0"/>
          </a:p>
        </p:txBody>
      </p:sp>
      <p:sp>
        <p:nvSpPr>
          <p:cNvPr id="10" name="Shape 7"/>
          <p:cNvSpPr/>
          <p:nvPr/>
        </p:nvSpPr>
        <p:spPr>
          <a:xfrm>
            <a:off x="1901952" y="2464308"/>
            <a:ext cx="237744" cy="237744"/>
          </a:xfrm>
          <a:prstGeom prst="rightArrow">
            <a:avLst/>
          </a:prstGeom>
          <a:solidFill>
            <a:srgbClr val="2A9D8F"/>
          </a:solidFill>
          <a:ln w="12700">
            <a:solidFill>
              <a:srgbClr val="2A9D8F"/>
            </a:solidFill>
            <a:prstDash val="solid"/>
          </a:ln>
        </p:spPr>
      </p:sp>
      <p:sp>
        <p:nvSpPr>
          <p:cNvPr id="11" name="Shape 8"/>
          <p:cNvSpPr/>
          <p:nvPr/>
        </p:nvSpPr>
        <p:spPr>
          <a:xfrm>
            <a:off x="2157984" y="1417320"/>
            <a:ext cx="1426464" cy="2331720"/>
          </a:xfrm>
          <a:prstGeom prst="roundRect">
            <a:avLst>
              <a:gd name="adj" fmla="val 7692"/>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2" name="Shape 9"/>
          <p:cNvSpPr/>
          <p:nvPr/>
        </p:nvSpPr>
        <p:spPr>
          <a:xfrm>
            <a:off x="2286000" y="1563624"/>
            <a:ext cx="457200" cy="457200"/>
          </a:xfrm>
          <a:prstGeom prst="ellipse">
            <a:avLst/>
          </a:prstGeom>
          <a:solidFill>
            <a:srgbClr val="1B6B63"/>
          </a:solidFill>
          <a:ln w="12700">
            <a:solidFill>
              <a:srgbClr val="1B6B63"/>
            </a:solidFill>
            <a:prstDash val="solid"/>
          </a:ln>
        </p:spPr>
      </p:sp>
      <p:pic>
        <p:nvPicPr>
          <p:cNvPr id="13" name="Image 1" descr="preencoded.png">    </p:cNvPr>
          <p:cNvPicPr>
            <a:picLocks noChangeAspect="1"/>
          </p:cNvPicPr>
          <p:nvPr/>
        </p:nvPicPr>
        <p:blipFill>
          <a:blip r:embed="rId2"/>
          <a:stretch>
            <a:fillRect/>
          </a:stretch>
        </p:blipFill>
        <p:spPr>
          <a:xfrm>
            <a:off x="2400300" y="1677924"/>
            <a:ext cx="228600" cy="228600"/>
          </a:xfrm>
          <a:prstGeom prst="rect">
            <a:avLst/>
          </a:prstGeom>
        </p:spPr>
      </p:pic>
      <p:sp>
        <p:nvSpPr>
          <p:cNvPr id="14" name="Text 10"/>
          <p:cNvSpPr txBox="1"/>
          <p:nvPr/>
        </p:nvSpPr>
        <p:spPr>
          <a:xfrm>
            <a:off x="3200400" y="1563624"/>
            <a:ext cx="274320" cy="274320"/>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2</a:t>
            </a:r>
            <a:endParaRPr lang="en-US" sz="1200" dirty="0"/>
          </a:p>
        </p:txBody>
      </p:sp>
      <p:sp>
        <p:nvSpPr>
          <p:cNvPr id="15" name="Text 11"/>
          <p:cNvSpPr txBox="1"/>
          <p:nvPr/>
        </p:nvSpPr>
        <p:spPr>
          <a:xfrm>
            <a:off x="2286000" y="2112264"/>
            <a:ext cx="1243584" cy="45720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Keys</a:t>
            </a:r>
            <a:endParaRPr lang="en-US" sz="1300" dirty="0"/>
          </a:p>
        </p:txBody>
      </p:sp>
      <p:sp>
        <p:nvSpPr>
          <p:cNvPr id="16" name="Text 12"/>
          <p:cNvSpPr txBox="1"/>
          <p:nvPr/>
        </p:nvSpPr>
        <p:spPr>
          <a:xfrm>
            <a:off x="2286000" y="2551176"/>
            <a:ext cx="1207008" cy="1106424"/>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import-acesales-keys.sh: Claude, Gmail, Twilio</a:t>
            </a:r>
            <a:endParaRPr lang="en-US" sz="1050" dirty="0"/>
          </a:p>
        </p:txBody>
      </p:sp>
      <p:sp>
        <p:nvSpPr>
          <p:cNvPr id="17" name="Shape 13"/>
          <p:cNvSpPr/>
          <p:nvPr/>
        </p:nvSpPr>
        <p:spPr>
          <a:xfrm>
            <a:off x="3602736" y="2464308"/>
            <a:ext cx="237744" cy="237744"/>
          </a:xfrm>
          <a:prstGeom prst="rightArrow">
            <a:avLst/>
          </a:prstGeom>
          <a:solidFill>
            <a:srgbClr val="2A9D8F"/>
          </a:solidFill>
          <a:ln w="12700">
            <a:solidFill>
              <a:srgbClr val="2A9D8F"/>
            </a:solidFill>
            <a:prstDash val="solid"/>
          </a:ln>
        </p:spPr>
      </p:sp>
      <p:sp>
        <p:nvSpPr>
          <p:cNvPr id="18" name="Shape 14"/>
          <p:cNvSpPr/>
          <p:nvPr/>
        </p:nvSpPr>
        <p:spPr>
          <a:xfrm>
            <a:off x="3858768" y="1417320"/>
            <a:ext cx="1426464" cy="2331720"/>
          </a:xfrm>
          <a:prstGeom prst="roundRect">
            <a:avLst>
              <a:gd name="adj" fmla="val 7692"/>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9" name="Shape 15"/>
          <p:cNvSpPr/>
          <p:nvPr/>
        </p:nvSpPr>
        <p:spPr>
          <a:xfrm>
            <a:off x="3986784" y="1563624"/>
            <a:ext cx="457200" cy="457200"/>
          </a:xfrm>
          <a:prstGeom prst="ellipse">
            <a:avLst/>
          </a:prstGeom>
          <a:solidFill>
            <a:srgbClr val="1B6B63"/>
          </a:solidFill>
          <a:ln w="12700">
            <a:solidFill>
              <a:srgbClr val="1B6B63"/>
            </a:solidFill>
            <a:prstDash val="solid"/>
          </a:ln>
        </p:spPr>
      </p:sp>
      <p:pic>
        <p:nvPicPr>
          <p:cNvPr id="20" name="Image 2" descr="preencoded.png">    </p:cNvPr>
          <p:cNvPicPr>
            <a:picLocks noChangeAspect="1"/>
          </p:cNvPicPr>
          <p:nvPr/>
        </p:nvPicPr>
        <p:blipFill>
          <a:blip r:embed="rId3"/>
          <a:stretch>
            <a:fillRect/>
          </a:stretch>
        </p:blipFill>
        <p:spPr>
          <a:xfrm>
            <a:off x="4101084" y="1677924"/>
            <a:ext cx="228600" cy="228600"/>
          </a:xfrm>
          <a:prstGeom prst="rect">
            <a:avLst/>
          </a:prstGeom>
        </p:spPr>
      </p:pic>
      <p:sp>
        <p:nvSpPr>
          <p:cNvPr id="21" name="Text 16"/>
          <p:cNvSpPr txBox="1"/>
          <p:nvPr/>
        </p:nvSpPr>
        <p:spPr>
          <a:xfrm>
            <a:off x="4901184" y="1563624"/>
            <a:ext cx="274320" cy="274320"/>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3</a:t>
            </a:r>
            <a:endParaRPr lang="en-US" sz="1200" dirty="0"/>
          </a:p>
        </p:txBody>
      </p:sp>
      <p:sp>
        <p:nvSpPr>
          <p:cNvPr id="22" name="Text 17"/>
          <p:cNvSpPr txBox="1"/>
          <p:nvPr/>
        </p:nvSpPr>
        <p:spPr>
          <a:xfrm>
            <a:off x="3986784" y="2112264"/>
            <a:ext cx="1243584" cy="45720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MedGemma</a:t>
            </a:r>
            <a:endParaRPr lang="en-US" sz="1300" dirty="0"/>
          </a:p>
        </p:txBody>
      </p:sp>
      <p:sp>
        <p:nvSpPr>
          <p:cNvPr id="23" name="Text 18"/>
          <p:cNvSpPr txBox="1"/>
          <p:nvPr/>
        </p:nvSpPr>
        <p:spPr>
          <a:xfrm>
            <a:off x="3986784" y="2551176"/>
            <a:ext cx="1207008" cy="1106424"/>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medgemma.sh: deploy on a GPU endpoint</a:t>
            </a:r>
            <a:endParaRPr lang="en-US" sz="1050" dirty="0"/>
          </a:p>
        </p:txBody>
      </p:sp>
      <p:sp>
        <p:nvSpPr>
          <p:cNvPr id="24" name="Shape 19"/>
          <p:cNvSpPr/>
          <p:nvPr/>
        </p:nvSpPr>
        <p:spPr>
          <a:xfrm>
            <a:off x="5303520" y="2464308"/>
            <a:ext cx="237744" cy="237744"/>
          </a:xfrm>
          <a:prstGeom prst="rightArrow">
            <a:avLst/>
          </a:prstGeom>
          <a:solidFill>
            <a:srgbClr val="2A9D8F"/>
          </a:solidFill>
          <a:ln w="12700">
            <a:solidFill>
              <a:srgbClr val="2A9D8F"/>
            </a:solidFill>
            <a:prstDash val="solid"/>
          </a:ln>
        </p:spPr>
      </p:sp>
      <p:sp>
        <p:nvSpPr>
          <p:cNvPr id="25" name="Shape 20"/>
          <p:cNvSpPr/>
          <p:nvPr/>
        </p:nvSpPr>
        <p:spPr>
          <a:xfrm>
            <a:off x="5559552" y="1417320"/>
            <a:ext cx="1426464" cy="2331720"/>
          </a:xfrm>
          <a:prstGeom prst="roundRect">
            <a:avLst>
              <a:gd name="adj" fmla="val 7692"/>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26" name="Shape 21"/>
          <p:cNvSpPr/>
          <p:nvPr/>
        </p:nvSpPr>
        <p:spPr>
          <a:xfrm>
            <a:off x="5687568" y="1563624"/>
            <a:ext cx="457200" cy="457200"/>
          </a:xfrm>
          <a:prstGeom prst="ellipse">
            <a:avLst/>
          </a:prstGeom>
          <a:solidFill>
            <a:srgbClr val="1B6B63"/>
          </a:solidFill>
          <a:ln w="12700">
            <a:solidFill>
              <a:srgbClr val="1B6B63"/>
            </a:solidFill>
            <a:prstDash val="solid"/>
          </a:ln>
        </p:spPr>
      </p:sp>
      <p:pic>
        <p:nvPicPr>
          <p:cNvPr id="27" name="Image 3" descr="preencoded.png">    </p:cNvPr>
          <p:cNvPicPr>
            <a:picLocks noChangeAspect="1"/>
          </p:cNvPicPr>
          <p:nvPr/>
        </p:nvPicPr>
        <p:blipFill>
          <a:blip r:embed="rId4"/>
          <a:stretch>
            <a:fillRect/>
          </a:stretch>
        </p:blipFill>
        <p:spPr>
          <a:xfrm>
            <a:off x="5801868" y="1677924"/>
            <a:ext cx="228600" cy="228600"/>
          </a:xfrm>
          <a:prstGeom prst="rect">
            <a:avLst/>
          </a:prstGeom>
        </p:spPr>
      </p:pic>
      <p:sp>
        <p:nvSpPr>
          <p:cNvPr id="28" name="Text 22"/>
          <p:cNvSpPr txBox="1"/>
          <p:nvPr/>
        </p:nvSpPr>
        <p:spPr>
          <a:xfrm>
            <a:off x="6601968" y="1563624"/>
            <a:ext cx="274320" cy="274320"/>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4</a:t>
            </a:r>
            <a:endParaRPr lang="en-US" sz="1200" dirty="0"/>
          </a:p>
        </p:txBody>
      </p:sp>
      <p:sp>
        <p:nvSpPr>
          <p:cNvPr id="29" name="Text 23"/>
          <p:cNvSpPr txBox="1"/>
          <p:nvPr/>
        </p:nvSpPr>
        <p:spPr>
          <a:xfrm>
            <a:off x="5687568" y="2112264"/>
            <a:ext cx="1243584" cy="45720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Sign-in</a:t>
            </a:r>
            <a:endParaRPr lang="en-US" sz="1300" dirty="0"/>
          </a:p>
        </p:txBody>
      </p:sp>
      <p:sp>
        <p:nvSpPr>
          <p:cNvPr id="30" name="Text 24"/>
          <p:cNvSpPr txBox="1"/>
          <p:nvPr/>
        </p:nvSpPr>
        <p:spPr>
          <a:xfrm>
            <a:off x="5687568" y="2551176"/>
            <a:ext cx="1207008" cy="1106424"/>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sso-secret.sh: Entra, Okta, Google secrets</a:t>
            </a:r>
            <a:endParaRPr lang="en-US" sz="1050" dirty="0"/>
          </a:p>
        </p:txBody>
      </p:sp>
      <p:sp>
        <p:nvSpPr>
          <p:cNvPr id="31" name="Shape 25"/>
          <p:cNvSpPr/>
          <p:nvPr/>
        </p:nvSpPr>
        <p:spPr>
          <a:xfrm>
            <a:off x="7004304" y="2464308"/>
            <a:ext cx="237744" cy="237744"/>
          </a:xfrm>
          <a:prstGeom prst="rightArrow">
            <a:avLst/>
          </a:prstGeom>
          <a:solidFill>
            <a:srgbClr val="2A9D8F"/>
          </a:solidFill>
          <a:ln w="12700">
            <a:solidFill>
              <a:srgbClr val="2A9D8F"/>
            </a:solidFill>
            <a:prstDash val="solid"/>
          </a:ln>
        </p:spPr>
      </p:sp>
      <p:sp>
        <p:nvSpPr>
          <p:cNvPr id="32" name="Shape 26"/>
          <p:cNvSpPr/>
          <p:nvPr/>
        </p:nvSpPr>
        <p:spPr>
          <a:xfrm>
            <a:off x="7260336" y="1417320"/>
            <a:ext cx="1426464" cy="2331720"/>
          </a:xfrm>
          <a:prstGeom prst="roundRect">
            <a:avLst>
              <a:gd name="adj" fmla="val 7692"/>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33" name="Shape 27"/>
          <p:cNvSpPr/>
          <p:nvPr/>
        </p:nvSpPr>
        <p:spPr>
          <a:xfrm>
            <a:off x="7388352" y="1563624"/>
            <a:ext cx="457200" cy="457200"/>
          </a:xfrm>
          <a:prstGeom prst="ellipse">
            <a:avLst/>
          </a:prstGeom>
          <a:solidFill>
            <a:srgbClr val="1B6B63"/>
          </a:solidFill>
          <a:ln w="12700">
            <a:solidFill>
              <a:srgbClr val="1B6B63"/>
            </a:solidFill>
            <a:prstDash val="solid"/>
          </a:ln>
        </p:spPr>
      </p:sp>
      <p:pic>
        <p:nvPicPr>
          <p:cNvPr id="34" name="Image 4" descr="preencoded.png">    </p:cNvPr>
          <p:cNvPicPr>
            <a:picLocks noChangeAspect="1"/>
          </p:cNvPicPr>
          <p:nvPr/>
        </p:nvPicPr>
        <p:blipFill>
          <a:blip r:embed="rId5"/>
          <a:stretch>
            <a:fillRect/>
          </a:stretch>
        </p:blipFill>
        <p:spPr>
          <a:xfrm>
            <a:off x="7502652" y="1677924"/>
            <a:ext cx="228600" cy="228600"/>
          </a:xfrm>
          <a:prstGeom prst="rect">
            <a:avLst/>
          </a:prstGeom>
        </p:spPr>
      </p:pic>
      <p:sp>
        <p:nvSpPr>
          <p:cNvPr id="35" name="Text 28"/>
          <p:cNvSpPr txBox="1"/>
          <p:nvPr/>
        </p:nvSpPr>
        <p:spPr>
          <a:xfrm>
            <a:off x="8302752" y="1563624"/>
            <a:ext cx="274320" cy="274320"/>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5</a:t>
            </a:r>
            <a:endParaRPr lang="en-US" sz="1200" dirty="0"/>
          </a:p>
        </p:txBody>
      </p:sp>
      <p:sp>
        <p:nvSpPr>
          <p:cNvPr id="36" name="Text 29"/>
          <p:cNvSpPr txBox="1"/>
          <p:nvPr/>
        </p:nvSpPr>
        <p:spPr>
          <a:xfrm>
            <a:off x="7388352" y="2112264"/>
            <a:ext cx="1243584" cy="45720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Deploy</a:t>
            </a:r>
            <a:endParaRPr lang="en-US" sz="1300" dirty="0"/>
          </a:p>
        </p:txBody>
      </p:sp>
      <p:sp>
        <p:nvSpPr>
          <p:cNvPr id="37" name="Text 30"/>
          <p:cNvSpPr txBox="1"/>
          <p:nvPr/>
        </p:nvSpPr>
        <p:spPr>
          <a:xfrm>
            <a:off x="7388352" y="2551176"/>
            <a:ext cx="1207008" cy="1106424"/>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deploy.sh: build, migrate, seed, deploy, jobs</a:t>
            </a:r>
            <a:endParaRPr lang="en-US" sz="1050" dirty="0"/>
          </a:p>
        </p:txBody>
      </p:sp>
      <p:sp>
        <p:nvSpPr>
          <p:cNvPr id="38" name="Shape 31"/>
          <p:cNvSpPr/>
          <p:nvPr/>
        </p:nvSpPr>
        <p:spPr>
          <a:xfrm>
            <a:off x="457200" y="3931920"/>
            <a:ext cx="8229600" cy="731520"/>
          </a:xfrm>
          <a:prstGeom prst="roundRect">
            <a:avLst>
              <a:gd name="adj" fmla="val 1500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39" name="Text 32"/>
          <p:cNvSpPr txBox="1"/>
          <p:nvPr/>
        </p:nvSpPr>
        <p:spPr>
          <a:xfrm>
            <a:off x="640080" y="3986784"/>
            <a:ext cx="7863840" cy="621792"/>
          </a:xfrm>
          <a:prstGeom prst="rect">
            <a:avLst/>
          </a:prstGeom>
          <a:noFill/>
          <a:ln/>
        </p:spPr>
        <p:txBody>
          <a:bodyPr wrap="square" lIns="0" tIns="0" rIns="0" bIns="0" rtlCol="0" anchor="ctr"/>
          <a:lstStyle/>
          <a:p>
            <a:pPr indent="0" marL="0">
              <a:buNone/>
            </a:pPr>
            <a:r>
              <a:rPr lang="en-US" sz="1150" b="1" dirty="0">
                <a:solidFill>
                  <a:srgbClr val="134E4A"/>
                </a:solidFill>
                <a:latin typeface="Calibri" pitchFamily="34" charset="0"/>
                <a:ea typeface="Calibri" pitchFamily="34" charset="-122"/>
                <a:cs typeface="Calibri" pitchFamily="34" charset="-120"/>
              </a:rPr>
              <a:t>Live: </a:t>
            </a:r>
            <a:pPr indent="0" marL="0">
              <a:buNone/>
            </a:pPr>
            <a:r>
              <a:rPr lang="en-US" sz="1150" dirty="0">
                <a:solidFill>
                  <a:srgbClr val="1B6B63"/>
                </a:solidFill>
                <a:latin typeface="Calibri" pitchFamily="34" charset="0"/>
                <a:ea typeface="Calibri" pitchFamily="34" charset="-122"/>
                <a:cs typeface="Calibri" pitchFamily="34" charset="-120"/>
              </a:rPr>
              <a:t>https://bioverse-1057658446982.us-central1.run.app</a:t>
            </a:r>
            <a:pPr indent="0" marL="0">
              <a:buNone/>
            </a:pPr>
            <a:r>
              <a:rPr lang="en-US" sz="1150" dirty="0">
                <a:solidFill>
                  <a:srgbClr val="4B5563"/>
                </a:solidFill>
                <a:latin typeface="Calibri" pitchFamily="34" charset="0"/>
                <a:ea typeface="Calibri" pitchFamily="34" charset="-122"/>
                <a:cs typeface="Calibri" pitchFamily="34" charset="-120"/>
              </a:rPr>
              <a:t>   ·   Before real patient data: single sign-on only, Google BAA, private network, review of safety controls.</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3F3C"/>
        </a:solidFill>
      </p:bgPr>
    </p:bg>
    <p:spTree>
      <p:nvGrpSpPr>
        <p:cNvPr id="1" name=""/>
        <p:cNvGrpSpPr/>
        <p:nvPr/>
      </p:nvGrpSpPr>
      <p:grpSpPr>
        <a:xfrm>
          <a:off x="0" y="0"/>
          <a:ext cx="0" cy="0"/>
          <a:chOff x="0" y="0"/>
          <a:chExt cx="0" cy="0"/>
        </a:xfrm>
      </p:grpSpPr>
      <p:sp>
        <p:nvSpPr>
          <p:cNvPr id="2" name="Shape 0"/>
          <p:cNvSpPr/>
          <p:nvPr/>
        </p:nvSpPr>
        <p:spPr>
          <a:xfrm>
            <a:off x="457200" y="594360"/>
            <a:ext cx="731520" cy="731520"/>
          </a:xfrm>
          <a:prstGeom prst="ellipse">
            <a:avLst/>
          </a:prstGeom>
          <a:solidFill>
            <a:srgbClr val="2A9D8F"/>
          </a:solidFill>
          <a:ln w="12700">
            <a:solidFill>
              <a:srgbClr val="2A9D8F"/>
            </a:solidFill>
            <a:prstDash val="solid"/>
          </a:ln>
        </p:spPr>
      </p:sp>
      <p:pic>
        <p:nvPicPr>
          <p:cNvPr id="3" name="Image 0" descr="preencoded.png">    </p:cNvPr>
          <p:cNvPicPr>
            <a:picLocks noChangeAspect="1"/>
          </p:cNvPicPr>
          <p:nvPr/>
        </p:nvPicPr>
        <p:blipFill>
          <a:blip r:embed="rId1"/>
          <a:stretch>
            <a:fillRect/>
          </a:stretch>
        </p:blipFill>
        <p:spPr>
          <a:xfrm>
            <a:off x="640080" y="777240"/>
            <a:ext cx="365760" cy="365760"/>
          </a:xfrm>
          <a:prstGeom prst="rect">
            <a:avLst/>
          </a:prstGeom>
        </p:spPr>
      </p:pic>
      <p:sp>
        <p:nvSpPr>
          <p:cNvPr id="4" name="Text 1"/>
          <p:cNvSpPr txBox="1"/>
          <p:nvPr/>
        </p:nvSpPr>
        <p:spPr>
          <a:xfrm>
            <a:off x="457200" y="1554480"/>
            <a:ext cx="8229600" cy="64008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One place for your healthcare</a:t>
            </a:r>
            <a:endParaRPr lang="en-US" sz="3600" dirty="0"/>
          </a:p>
        </p:txBody>
      </p:sp>
      <p:sp>
        <p:nvSpPr>
          <p:cNvPr id="5" name="Text 2"/>
          <p:cNvSpPr txBox="1"/>
          <p:nvPr/>
        </p:nvSpPr>
        <p:spPr>
          <a:xfrm>
            <a:off x="457200" y="2423160"/>
            <a:ext cx="8229600" cy="365760"/>
          </a:xfrm>
          <a:prstGeom prst="rect">
            <a:avLst/>
          </a:prstGeom>
          <a:noFill/>
          <a:ln/>
        </p:spPr>
        <p:txBody>
          <a:bodyPr wrap="square" lIns="0" tIns="0" rIns="0" bIns="0" rtlCol="0" anchor="t"/>
          <a:lstStyle/>
          <a:p>
            <a:pPr indent="0" marL="0">
              <a:buNone/>
            </a:pPr>
            <a:r>
              <a:rPr lang="en-US" sz="1600" b="1" dirty="0">
                <a:solidFill>
                  <a:srgbClr val="CFEAE3"/>
                </a:solidFill>
                <a:latin typeface="Calibri" pitchFamily="34" charset="0"/>
                <a:ea typeface="Calibri" pitchFamily="34" charset="-122"/>
                <a:cs typeface="Calibri" pitchFamily="34" charset="-120"/>
              </a:rPr>
              <a:t>Next steps</a:t>
            </a:r>
            <a:endParaRPr lang="en-US" sz="1600" dirty="0"/>
          </a:p>
        </p:txBody>
      </p:sp>
      <p:sp>
        <p:nvSpPr>
          <p:cNvPr id="6" name="Text 3"/>
          <p:cNvSpPr txBox="1"/>
          <p:nvPr/>
        </p:nvSpPr>
        <p:spPr>
          <a:xfrm>
            <a:off x="457200" y="2834640"/>
            <a:ext cx="822960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Register Bioverse One with Entra, Okta and Google; set AUTH_MODE=sso</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Deploy MedGemma and confirm the AI pill shows MedGemma</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Load demo data and walk each role end to end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Complete the checklist before any real patient data</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Bioverse One: end-to-end flow</dc:title>
  <dc:subject>PptxGenJS Presentation</dc:subject>
  <dc:creator>Bioverse One</dc:creator>
  <cp:lastModifiedBy>Bioverse One</cp:lastModifiedBy>
  <cp:revision>1</cp:revision>
  <dcterms:created xsi:type="dcterms:W3CDTF">2026-09-25T09:27:12Z</dcterms:created>
  <dcterms:modified xsi:type="dcterms:W3CDTF">2026-09-25T09:27:12Z</dcterms:modified>
</cp:coreProperties>
</file>